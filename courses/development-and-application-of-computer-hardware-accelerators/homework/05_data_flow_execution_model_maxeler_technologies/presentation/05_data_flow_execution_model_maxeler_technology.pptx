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7" r:id="rId4"/>
    <p:sldId id="269" r:id="rId5"/>
    <p:sldId id="270" r:id="rId6"/>
    <p:sldId id="271" r:id="rId7"/>
    <p:sldId id="272" r:id="rId8"/>
    <p:sldId id="273" r:id="rId9"/>
    <p:sldId id="275" r:id="rId10"/>
    <p:sldId id="278" r:id="rId11"/>
    <p:sldId id="276" r:id="rId12"/>
    <p:sldId id="277" r:id="rId13"/>
    <p:sldId id="280" r:id="rId14"/>
    <p:sldId id="274" r:id="rId15"/>
    <p:sldId id="265" r:id="rId16"/>
    <p:sldId id="266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5E3B7B-2BF8-D31B-FF69-1CD110DA8C37}" v="1416" dt="2026-05-22T07:46:05.589"/>
    <p1510:client id="{9F19F642-E1A7-8127-89CA-972508CC7460}" v="392" dt="2026-05-22T10:25:23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C382D-3878-48DB-90A3-A21B3898E5EA}" type="datetimeFigureOut"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EC119-86D4-419D-A1D4-5F1C40B2E8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1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klasičnih</a:t>
            </a:r>
            <a:r>
              <a:rPr lang="en-US" dirty="0"/>
              <a:t> </a:t>
            </a:r>
            <a:r>
              <a:rPr lang="en-US" dirty="0" err="1"/>
              <a:t>procesora</a:t>
            </a:r>
            <a:r>
              <a:rPr lang="en-US" dirty="0"/>
              <a:t> </a:t>
            </a:r>
            <a:r>
              <a:rPr lang="en-US" dirty="0" err="1"/>
              <a:t>dominantan</a:t>
            </a:r>
            <a:r>
              <a:rPr lang="en-US" dirty="0"/>
              <a:t> je </a:t>
            </a:r>
            <a:r>
              <a:rPr lang="en-US" dirty="0" err="1"/>
              <a:t>takozvani</a:t>
            </a:r>
            <a:r>
              <a:rPr lang="en-US" dirty="0"/>
              <a:t> Control Flow model.</a:t>
            </a:r>
          </a:p>
          <a:p>
            <a:br>
              <a:rPr lang="en-US" dirty="0">
                <a:cs typeface="+mn-lt"/>
              </a:rPr>
            </a:br>
            <a:r>
              <a:rPr lang="en-US" dirty="0"/>
              <a:t>To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procesor</a:t>
            </a:r>
            <a:r>
              <a:rPr lang="en-US" dirty="0"/>
              <a:t> </a:t>
            </a:r>
            <a:r>
              <a:rPr lang="en-US" dirty="0" err="1"/>
              <a:t>prati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instrukcija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izvršavaju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za </a:t>
            </a:r>
            <a:r>
              <a:rPr lang="en-US" dirty="0" err="1"/>
              <a:t>drugom</a:t>
            </a:r>
            <a:r>
              <a:rPr lang="en-US" dirty="0"/>
              <a:t>. Programski </a:t>
            </a:r>
            <a:r>
              <a:rPr lang="en-US" dirty="0" err="1"/>
              <a:t>brojač</a:t>
            </a:r>
            <a:r>
              <a:rPr lang="en-US" dirty="0"/>
              <a:t> </a:t>
            </a:r>
            <a:r>
              <a:rPr lang="en-US" dirty="0" err="1"/>
              <a:t>određuje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instrukcija</a:t>
            </a:r>
            <a:r>
              <a:rPr lang="en-US" dirty="0"/>
              <a:t> </a:t>
            </a:r>
            <a:r>
              <a:rPr lang="en-US" dirty="0" err="1"/>
              <a:t>sledeća</a:t>
            </a:r>
            <a:r>
              <a:rPr lang="en-US" dirty="0"/>
              <a:t> </a:t>
            </a:r>
            <a:r>
              <a:rPr lang="en-US" dirty="0" err="1"/>
              <a:t>dolazi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izvršavanje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Takav </a:t>
            </a:r>
            <a:r>
              <a:rPr lang="en-US" dirty="0" err="1"/>
              <a:t>pristup</a:t>
            </a:r>
            <a:r>
              <a:rPr lang="en-US" dirty="0"/>
              <a:t> je </a:t>
            </a:r>
            <a:r>
              <a:rPr lang="en-US" dirty="0" err="1"/>
              <a:t>veoma</a:t>
            </a:r>
            <a:r>
              <a:rPr lang="en-US" dirty="0"/>
              <a:t> </a:t>
            </a:r>
            <a:r>
              <a:rPr lang="en-US" dirty="0" err="1"/>
              <a:t>fleksibilan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ograničenja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obraditi</a:t>
            </a:r>
            <a:r>
              <a:rPr lang="en-US" dirty="0"/>
              <a:t> </a:t>
            </a:r>
            <a:r>
              <a:rPr lang="en-US" dirty="0" err="1"/>
              <a:t>ogromnu</a:t>
            </a:r>
            <a:r>
              <a:rPr lang="en-US" dirty="0"/>
              <a:t> </a:t>
            </a:r>
            <a:r>
              <a:rPr lang="en-US" dirty="0" err="1"/>
              <a:t>količinu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velikom</a:t>
            </a:r>
            <a:r>
              <a:rPr lang="en-US" dirty="0"/>
              <a:t> </a:t>
            </a:r>
            <a:r>
              <a:rPr lang="en-US" dirty="0" err="1"/>
              <a:t>brzinom</a:t>
            </a:r>
            <a:r>
              <a:rPr lang="en-US" dirty="0"/>
              <a:t>. </a:t>
            </a:r>
            <a:r>
              <a:rPr lang="en-US" dirty="0" err="1"/>
              <a:t>Procesor</a:t>
            </a:r>
            <a:r>
              <a:rPr lang="en-US" dirty="0"/>
              <a:t> </a:t>
            </a:r>
            <a:r>
              <a:rPr lang="en-US" dirty="0" err="1"/>
              <a:t>stalno</a:t>
            </a:r>
            <a:r>
              <a:rPr lang="en-US" dirty="0"/>
              <a:t> </a:t>
            </a:r>
            <a:r>
              <a:rPr lang="en-US" dirty="0" err="1"/>
              <a:t>prebacuje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memorije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izvršnih</a:t>
            </a:r>
            <a:r>
              <a:rPr lang="en-US" dirty="0"/>
              <a:t> </a:t>
            </a:r>
            <a:r>
              <a:rPr lang="en-US" dirty="0" err="1"/>
              <a:t>jedinica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 </a:t>
            </a:r>
            <a:r>
              <a:rPr lang="en-US" dirty="0" err="1"/>
              <a:t>usko</a:t>
            </a:r>
            <a:r>
              <a:rPr lang="en-US" dirty="0"/>
              <a:t> </a:t>
            </a:r>
            <a:r>
              <a:rPr lang="en-US" dirty="0" err="1"/>
              <a:t>grlo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Sa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, Data Flow </a:t>
            </a:r>
            <a:r>
              <a:rPr lang="en-US" dirty="0" err="1"/>
              <a:t>pristup</a:t>
            </a:r>
            <a:r>
              <a:rPr lang="en-US" dirty="0"/>
              <a:t> se ne </a:t>
            </a:r>
            <a:r>
              <a:rPr lang="en-US" dirty="0" err="1"/>
              <a:t>fokusira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redosled</a:t>
            </a:r>
            <a:r>
              <a:rPr lang="en-US" dirty="0"/>
              <a:t> </a:t>
            </a:r>
            <a:r>
              <a:rPr lang="en-US" dirty="0" err="1"/>
              <a:t>instrukcija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kretanje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hardver</a:t>
            </a:r>
            <a:r>
              <a:rPr lang="en-US" dirty="0"/>
              <a:t>. </a:t>
            </a:r>
            <a:r>
              <a:rPr lang="en-US" dirty="0" err="1"/>
              <a:t>Operacija</a:t>
            </a:r>
            <a:r>
              <a:rPr lang="en-US" dirty="0"/>
              <a:t> se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čim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njeni</a:t>
            </a:r>
            <a:r>
              <a:rPr lang="en-US" dirty="0"/>
              <a:t> </a:t>
            </a:r>
            <a:r>
              <a:rPr lang="en-US" dirty="0" err="1"/>
              <a:t>ulazni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dostupni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To </a:t>
            </a:r>
            <a:r>
              <a:rPr lang="en-US" dirty="0" err="1"/>
              <a:t>omogućava</a:t>
            </a:r>
            <a:r>
              <a:rPr lang="en-US" dirty="0"/>
              <a:t> da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paralelno</a:t>
            </a:r>
            <a:r>
              <a:rPr lang="en-US" dirty="0"/>
              <a:t> u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vreme</a:t>
            </a:r>
            <a:r>
              <a:rPr lang="en-US" dirty="0"/>
              <a:t>, bez </a:t>
            </a:r>
            <a:r>
              <a:rPr lang="en-US" dirty="0" err="1"/>
              <a:t>potrebe</a:t>
            </a:r>
            <a:r>
              <a:rPr lang="en-US" dirty="0"/>
              <a:t> za </a:t>
            </a:r>
            <a:r>
              <a:rPr lang="en-US" dirty="0" err="1"/>
              <a:t>klasičnim</a:t>
            </a:r>
            <a:r>
              <a:rPr lang="en-US" dirty="0"/>
              <a:t> </a:t>
            </a:r>
            <a:r>
              <a:rPr lang="en-US" dirty="0" err="1"/>
              <a:t>sekvencijalnim</a:t>
            </a:r>
            <a:r>
              <a:rPr lang="en-US" dirty="0"/>
              <a:t> </a:t>
            </a:r>
            <a:r>
              <a:rPr lang="en-US" dirty="0" err="1"/>
              <a:t>izvršavanjem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Maxeler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</a:t>
            </a:r>
            <a:r>
              <a:rPr lang="en-US" dirty="0" err="1"/>
              <a:t>upravo</a:t>
            </a:r>
            <a:r>
              <a:rPr lang="en-US" dirty="0"/>
              <a:t> </a:t>
            </a:r>
            <a:r>
              <a:rPr lang="en-US" dirty="0" err="1"/>
              <a:t>ovu</a:t>
            </a:r>
            <a:r>
              <a:rPr lang="en-US" dirty="0"/>
              <a:t> Data Flow </a:t>
            </a:r>
            <a:r>
              <a:rPr lang="en-US" dirty="0" err="1"/>
              <a:t>arhitekturu</a:t>
            </a:r>
            <a:r>
              <a:rPr lang="en-US" dirty="0"/>
              <a:t>. </a:t>
            </a:r>
            <a:r>
              <a:rPr lang="en-US" dirty="0" err="1"/>
              <a:t>Umesto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 </a:t>
            </a:r>
            <a:r>
              <a:rPr lang="en-US" dirty="0" err="1"/>
              <a:t>instrukcija</a:t>
            </a:r>
            <a:r>
              <a:rPr lang="en-US" dirty="0"/>
              <a:t> </a:t>
            </a:r>
            <a:r>
              <a:rPr lang="en-US" dirty="0" err="1"/>
              <a:t>korak</a:t>
            </a:r>
            <a:r>
              <a:rPr lang="en-US" dirty="0"/>
              <a:t> po </a:t>
            </a:r>
            <a:r>
              <a:rPr lang="en-US" dirty="0" err="1"/>
              <a:t>korak</a:t>
            </a:r>
            <a:r>
              <a:rPr lang="en-US" dirty="0"/>
              <a:t>, </a:t>
            </a:r>
            <a:r>
              <a:rPr lang="en-US" dirty="0" err="1"/>
              <a:t>kreira</a:t>
            </a:r>
            <a:r>
              <a:rPr lang="en-US" dirty="0"/>
              <a:t> se </a:t>
            </a:r>
            <a:r>
              <a:rPr lang="en-US" dirty="0" err="1"/>
              <a:t>hardverski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optimizovan</a:t>
            </a:r>
            <a:r>
              <a:rPr lang="en-US" dirty="0"/>
              <a:t> za </a:t>
            </a:r>
            <a:r>
              <a:rPr lang="en-US" dirty="0" err="1"/>
              <a:t>konkretan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značajno</a:t>
            </a:r>
            <a:r>
              <a:rPr lang="en-US" dirty="0"/>
              <a:t> </a:t>
            </a:r>
            <a:r>
              <a:rPr lang="en-US" dirty="0" err="1"/>
              <a:t>ubrzanje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numeričkih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množenje</a:t>
            </a:r>
            <a:r>
              <a:rPr lang="en-US" dirty="0"/>
              <a:t> </a:t>
            </a:r>
            <a:r>
              <a:rPr lang="en-US" dirty="0" err="1"/>
              <a:t>matrica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20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1F831-1FC9-BD9F-95D7-35160E48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534FE-94D8-F7B5-0FA9-1177249EC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08E21-1F62-9D8D-DE3C-E83E91703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146CE-F7DF-4C22-03CD-A4A7F25F6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6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0C778-5E5A-088F-F39A-9019267F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E3DCD-9828-94D3-5B61-F78CCB0F2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E4A0C-A567-19FF-2235-B6B11BB47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87275-4604-4546-74A7-258D18B75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58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B316-5AC1-A424-EF0D-6F91F4CC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824F2-1F12-12D8-A2E7-5298A317D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36704-FE93-31F1-9A9E-CAED2520A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klasičnom</a:t>
            </a:r>
            <a:r>
              <a:rPr lang="en-US" dirty="0"/>
              <a:t> </a:t>
            </a:r>
            <a:r>
              <a:rPr lang="en-US" dirty="0" err="1"/>
              <a:t>procesoru</a:t>
            </a:r>
            <a:r>
              <a:rPr lang="en-US" dirty="0"/>
              <a:t> </a:t>
            </a:r>
            <a:r>
              <a:rPr lang="en-US" dirty="0" err="1"/>
              <a:t>množenje</a:t>
            </a:r>
            <a:r>
              <a:rPr lang="en-US" dirty="0"/>
              <a:t> </a:t>
            </a:r>
            <a:r>
              <a:rPr lang="en-US" dirty="0" err="1"/>
              <a:t>matrica</a:t>
            </a:r>
            <a:r>
              <a:rPr lang="en-US" dirty="0"/>
              <a:t> se </a:t>
            </a:r>
            <a:r>
              <a:rPr lang="en-US" dirty="0" err="1"/>
              <a:t>uglavnom</a:t>
            </a:r>
            <a:r>
              <a:rPr lang="en-US" dirty="0"/>
              <a:t> </a:t>
            </a:r>
            <a:r>
              <a:rPr lang="en-US" dirty="0" err="1"/>
              <a:t>implementira</a:t>
            </a:r>
            <a:r>
              <a:rPr lang="en-US" dirty="0"/>
              <a:t> </a:t>
            </a:r>
            <a:r>
              <a:rPr lang="en-US" dirty="0" err="1"/>
              <a:t>pomoću</a:t>
            </a:r>
            <a:r>
              <a:rPr lang="en-US" dirty="0"/>
              <a:t> </a:t>
            </a:r>
            <a:r>
              <a:rPr lang="en-US" dirty="0" err="1"/>
              <a:t>ugnježdenih</a:t>
            </a:r>
            <a:r>
              <a:rPr lang="en-US" dirty="0"/>
              <a:t> </a:t>
            </a:r>
            <a:r>
              <a:rPr lang="en-US" dirty="0" err="1"/>
              <a:t>petlji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Procesor</a:t>
            </a:r>
            <a:r>
              <a:rPr lang="en-US" dirty="0"/>
              <a:t> </a:t>
            </a:r>
            <a:r>
              <a:rPr lang="en-US" dirty="0" err="1"/>
              <a:t>prolazi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redove</a:t>
            </a:r>
            <a:r>
              <a:rPr lang="en-US" dirty="0"/>
              <a:t> </a:t>
            </a:r>
            <a:r>
              <a:rPr lang="en-US" dirty="0" err="1"/>
              <a:t>prve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za </a:t>
            </a:r>
            <a:r>
              <a:rPr lang="en-US" dirty="0" err="1"/>
              <a:t>svaki</a:t>
            </a:r>
            <a:r>
              <a:rPr lang="en-US" dirty="0"/>
              <a:t> element </a:t>
            </a:r>
            <a:r>
              <a:rPr lang="en-US" dirty="0" err="1"/>
              <a:t>računa</a:t>
            </a:r>
            <a:r>
              <a:rPr lang="en-US" dirty="0"/>
              <a:t> </a:t>
            </a:r>
            <a:r>
              <a:rPr lang="en-US" dirty="0" err="1"/>
              <a:t>zbir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moderni</a:t>
            </a:r>
            <a:r>
              <a:rPr lang="en-US" dirty="0"/>
              <a:t> CPU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jezgara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vektorske</a:t>
            </a:r>
            <a:r>
              <a:rPr lang="en-US" dirty="0"/>
              <a:t> </a:t>
            </a:r>
            <a:r>
              <a:rPr lang="en-US" dirty="0" err="1"/>
              <a:t>instrukcije</a:t>
            </a:r>
            <a:r>
              <a:rPr lang="en-US" dirty="0"/>
              <a:t>, </a:t>
            </a:r>
            <a:r>
              <a:rPr lang="en-US" dirty="0" err="1"/>
              <a:t>izvršavanje</a:t>
            </a:r>
            <a:r>
              <a:rPr lang="en-US" dirty="0"/>
              <a:t> je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zasnovano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sekvencijalnom</a:t>
            </a:r>
            <a:r>
              <a:rPr lang="en-US" dirty="0"/>
              <a:t> </a:t>
            </a:r>
            <a:r>
              <a:rPr lang="en-US" dirty="0" err="1"/>
              <a:t>toku</a:t>
            </a:r>
            <a:r>
              <a:rPr lang="en-US" dirty="0"/>
              <a:t> </a:t>
            </a:r>
            <a:r>
              <a:rPr lang="en-US" dirty="0" err="1"/>
              <a:t>instrukcija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Keš</a:t>
            </a:r>
            <a:r>
              <a:rPr lang="en-US" dirty="0"/>
              <a:t> </a:t>
            </a:r>
            <a:r>
              <a:rPr lang="en-US" dirty="0" err="1"/>
              <a:t>memorija</a:t>
            </a:r>
            <a:r>
              <a:rPr lang="en-US" dirty="0"/>
              <a:t> </a:t>
            </a:r>
            <a:r>
              <a:rPr lang="en-US" dirty="0" err="1"/>
              <a:t>pokušava</a:t>
            </a:r>
            <a:r>
              <a:rPr lang="en-US" dirty="0"/>
              <a:t> da </a:t>
            </a:r>
            <a:r>
              <a:rPr lang="en-US" dirty="0" err="1"/>
              <a:t>smanji</a:t>
            </a:r>
            <a:r>
              <a:rPr lang="en-US" dirty="0"/>
              <a:t> </a:t>
            </a:r>
            <a:r>
              <a:rPr lang="en-US" dirty="0" err="1"/>
              <a:t>vreme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velikih</a:t>
            </a:r>
            <a:r>
              <a:rPr lang="en-US" dirty="0"/>
              <a:t> </a:t>
            </a:r>
            <a:r>
              <a:rPr lang="en-US" dirty="0" err="1"/>
              <a:t>matrica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dolazi</a:t>
            </a:r>
            <a:r>
              <a:rPr lang="en-US" dirty="0"/>
              <a:t> do </a:t>
            </a:r>
            <a:r>
              <a:rPr lang="en-US" dirty="0" err="1"/>
              <a:t>promašaja</a:t>
            </a:r>
            <a:r>
              <a:rPr lang="en-US" dirty="0"/>
              <a:t> </a:t>
            </a:r>
            <a:r>
              <a:rPr lang="en-US" dirty="0" err="1"/>
              <a:t>keša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dodatnih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glavnoj</a:t>
            </a:r>
            <a:r>
              <a:rPr lang="en-US" dirty="0"/>
              <a:t> </a:t>
            </a:r>
            <a:r>
              <a:rPr lang="en-US" dirty="0" err="1"/>
              <a:t>memoriji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Zbog</a:t>
            </a:r>
            <a:r>
              <a:rPr lang="en-US" dirty="0"/>
              <a:t> toga </a:t>
            </a:r>
            <a:r>
              <a:rPr lang="en-US" dirty="0" err="1"/>
              <a:t>paralelizam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je </a:t>
            </a:r>
            <a:r>
              <a:rPr lang="en-US" dirty="0" err="1"/>
              <a:t>ograničen</a:t>
            </a:r>
            <a:r>
              <a:rPr lang="en-US" dirty="0"/>
              <a:t> </a:t>
            </a:r>
            <a:r>
              <a:rPr lang="en-US" dirty="0" err="1"/>
              <a:t>arhitekturom</a:t>
            </a:r>
            <a:r>
              <a:rPr lang="en-US" dirty="0"/>
              <a:t> </a:t>
            </a:r>
            <a:r>
              <a:rPr lang="en-US" dirty="0" err="1"/>
              <a:t>procesora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memorijskim</a:t>
            </a:r>
            <a:r>
              <a:rPr lang="en-US" dirty="0"/>
              <a:t> </a:t>
            </a:r>
            <a:r>
              <a:rPr lang="en-US" dirty="0" err="1"/>
              <a:t>protokom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Kako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postaju</a:t>
            </a:r>
            <a:r>
              <a:rPr lang="en-US" dirty="0"/>
              <a:t> </a:t>
            </a:r>
            <a:r>
              <a:rPr lang="en-US" dirty="0" err="1"/>
              <a:t>veće</a:t>
            </a:r>
            <a:r>
              <a:rPr lang="en-US" dirty="0"/>
              <a:t>, </a:t>
            </a:r>
            <a:r>
              <a:rPr lang="en-US" dirty="0" err="1"/>
              <a:t>efikasnost</a:t>
            </a:r>
            <a:r>
              <a:rPr lang="en-US" dirty="0"/>
              <a:t> CPU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opada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54FE5-360B-03D2-3BD7-C3856BD43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50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B316-5AC1-A424-EF0D-6F91F4CC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824F2-1F12-12D8-A2E7-5298A317D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36704-FE93-31F1-9A9E-CAED2520A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Kod</a:t>
            </a:r>
            <a:r>
              <a:rPr lang="en-US" dirty="0"/>
              <a:t> Maxeler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se </a:t>
            </a:r>
            <a:r>
              <a:rPr lang="en-US" dirty="0" err="1"/>
              <a:t>pretvara</a:t>
            </a:r>
            <a:r>
              <a:rPr lang="en-US" dirty="0"/>
              <a:t> u </a:t>
            </a:r>
            <a:r>
              <a:rPr lang="en-US" dirty="0" err="1"/>
              <a:t>hardverski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Umesto</a:t>
            </a:r>
            <a:r>
              <a:rPr lang="en-US" dirty="0"/>
              <a:t> da </a:t>
            </a:r>
            <a:r>
              <a:rPr lang="en-US" dirty="0" err="1"/>
              <a:t>procesor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instrukcije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po </a:t>
            </a:r>
            <a:r>
              <a:rPr lang="en-US" dirty="0" err="1"/>
              <a:t>jednu</a:t>
            </a:r>
            <a:r>
              <a:rPr lang="en-US" dirty="0"/>
              <a:t>,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prolaze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pipeline </a:t>
            </a:r>
            <a:r>
              <a:rPr lang="en-US" dirty="0" err="1"/>
              <a:t>sastavljen</a:t>
            </a:r>
            <a:r>
              <a:rPr lang="en-US" dirty="0"/>
              <a:t> od </a:t>
            </a:r>
            <a:r>
              <a:rPr lang="en-US" dirty="0" err="1"/>
              <a:t>hardverskih</a:t>
            </a:r>
            <a:r>
              <a:rPr lang="en-US" dirty="0"/>
              <a:t> </a:t>
            </a:r>
            <a:r>
              <a:rPr lang="en-US" dirty="0" err="1"/>
              <a:t>jedinica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jedinica</a:t>
            </a:r>
            <a:r>
              <a:rPr lang="en-US" dirty="0"/>
              <a:t> </a:t>
            </a:r>
            <a:r>
              <a:rPr lang="en-US" dirty="0" err="1"/>
              <a:t>obavlja</a:t>
            </a:r>
            <a:r>
              <a:rPr lang="en-US" dirty="0"/>
              <a:t> </a:t>
            </a:r>
            <a:r>
              <a:rPr lang="en-US" dirty="0" err="1"/>
              <a:t>određenu</a:t>
            </a:r>
            <a:r>
              <a:rPr lang="en-US" dirty="0"/>
              <a:t> </a:t>
            </a:r>
            <a:r>
              <a:rPr lang="en-US" dirty="0" err="1"/>
              <a:t>operaciju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prosleđuje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sledećoj</a:t>
            </a:r>
            <a:r>
              <a:rPr lang="en-US" dirty="0"/>
              <a:t> </a:t>
            </a:r>
            <a:r>
              <a:rPr lang="en-US" dirty="0" err="1"/>
              <a:t>fazi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Na taj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paralelno</a:t>
            </a:r>
            <a:r>
              <a:rPr lang="en-US" dirty="0"/>
              <a:t> u </a:t>
            </a:r>
            <a:r>
              <a:rPr lang="en-US" dirty="0" err="1"/>
              <a:t>istom</a:t>
            </a:r>
            <a:r>
              <a:rPr lang="en-US" dirty="0"/>
              <a:t> </a:t>
            </a:r>
            <a:r>
              <a:rPr lang="en-US" dirty="0" err="1"/>
              <a:t>trenutku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praktično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klasičnog</a:t>
            </a:r>
            <a:r>
              <a:rPr lang="en-US" dirty="0"/>
              <a:t> </a:t>
            </a:r>
            <a:r>
              <a:rPr lang="en-US" dirty="0" err="1"/>
              <a:t>programskog</a:t>
            </a:r>
            <a:r>
              <a:rPr lang="en-US" dirty="0"/>
              <a:t> </a:t>
            </a:r>
            <a:r>
              <a:rPr lang="en-US" dirty="0" err="1"/>
              <a:t>toka</a:t>
            </a:r>
            <a:r>
              <a:rPr lang="en-US" dirty="0"/>
              <a:t> </a:t>
            </a:r>
            <a:r>
              <a:rPr lang="en-US" dirty="0" err="1"/>
              <a:t>instrukcija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CPU </a:t>
            </a:r>
            <a:r>
              <a:rPr lang="en-US" dirty="0" err="1"/>
              <a:t>arhitekture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Paralelizam</a:t>
            </a:r>
            <a:r>
              <a:rPr lang="en-US" dirty="0"/>
              <a:t> je </a:t>
            </a:r>
            <a:r>
              <a:rPr lang="en-US" dirty="0" err="1"/>
              <a:t>implementiran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u </a:t>
            </a:r>
            <a:r>
              <a:rPr lang="en-US" dirty="0" err="1"/>
              <a:t>hardveru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veoma</a:t>
            </a:r>
            <a:r>
              <a:rPr lang="en-US" dirty="0"/>
              <a:t> </a:t>
            </a:r>
            <a:r>
              <a:rPr lang="en-US" dirty="0" err="1"/>
              <a:t>veliki</a:t>
            </a:r>
            <a:r>
              <a:rPr lang="en-US" dirty="0"/>
              <a:t> throughput.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Takav </a:t>
            </a:r>
            <a:r>
              <a:rPr lang="en-US" dirty="0" err="1"/>
              <a:t>pristup</a:t>
            </a:r>
            <a:r>
              <a:rPr lang="en-US" dirty="0"/>
              <a:t> je 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efikasan</a:t>
            </a:r>
            <a:r>
              <a:rPr lang="en-US" dirty="0"/>
              <a:t> za </a:t>
            </a:r>
            <a:r>
              <a:rPr lang="en-US" dirty="0" err="1"/>
              <a:t>algoritme</a:t>
            </a:r>
            <a:r>
              <a:rPr lang="en-US" dirty="0"/>
              <a:t> koji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stabilan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predvidiv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množenje</a:t>
            </a:r>
            <a:r>
              <a:rPr lang="en-US" dirty="0"/>
              <a:t> </a:t>
            </a:r>
            <a:r>
              <a:rPr lang="en-US" dirty="0" err="1"/>
              <a:t>matrica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54FE5-360B-03D2-3BD7-C3856BD43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50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69CC-46DA-7BC1-439C-9ECF8E2D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309C5-3B9E-AD77-6B95-BE3F15321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7B7A8-834E-1E8D-E984-993646850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Jedna</a:t>
            </a:r>
            <a:r>
              <a:rPr lang="en-US" dirty="0"/>
              <a:t> od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ideja</a:t>
            </a:r>
            <a:r>
              <a:rPr lang="en-US" dirty="0"/>
              <a:t> Data Flow </a:t>
            </a:r>
            <a:r>
              <a:rPr lang="en-US" dirty="0" err="1"/>
              <a:t>pristupa</a:t>
            </a:r>
            <a:r>
              <a:rPr lang="en-US" dirty="0"/>
              <a:t> je pipeline </a:t>
            </a:r>
            <a:r>
              <a:rPr lang="en-US" dirty="0" err="1"/>
              <a:t>obrada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matrica</a:t>
            </a:r>
            <a:r>
              <a:rPr lang="en-US" dirty="0"/>
              <a:t> </a:t>
            </a:r>
            <a:r>
              <a:rPr lang="en-US" dirty="0" err="1"/>
              <a:t>ulaze</a:t>
            </a:r>
            <a:r>
              <a:rPr lang="en-US" dirty="0"/>
              <a:t> u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kontinuirani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Računanje</a:t>
            </a:r>
            <a:r>
              <a:rPr lang="en-US" dirty="0"/>
              <a:t> je </a:t>
            </a:r>
            <a:r>
              <a:rPr lang="en-US" dirty="0" err="1"/>
              <a:t>podeljeno</a:t>
            </a:r>
            <a:r>
              <a:rPr lang="en-US" dirty="0"/>
              <a:t> u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faza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faza</a:t>
            </a:r>
            <a:r>
              <a:rPr lang="en-US" dirty="0"/>
              <a:t> </a:t>
            </a:r>
            <a:r>
              <a:rPr lang="en-US" dirty="0" err="1"/>
              <a:t>obavlja</a:t>
            </a:r>
            <a:r>
              <a:rPr lang="en-US" dirty="0"/>
              <a:t> deo </a:t>
            </a:r>
            <a:r>
              <a:rPr lang="en-US" dirty="0" err="1"/>
              <a:t>posla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Dok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faza</a:t>
            </a:r>
            <a:r>
              <a:rPr lang="en-US" dirty="0"/>
              <a:t>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trenutne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, </a:t>
            </a:r>
            <a:r>
              <a:rPr lang="en-US" dirty="0" err="1"/>
              <a:t>sledeća</a:t>
            </a:r>
            <a:r>
              <a:rPr lang="en-US" dirty="0"/>
              <a:t> </a:t>
            </a:r>
            <a:r>
              <a:rPr lang="en-US" dirty="0" err="1"/>
              <a:t>faza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prethodne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To </a:t>
            </a:r>
            <a:r>
              <a:rPr lang="en-US" dirty="0" err="1"/>
              <a:t>znači</a:t>
            </a:r>
            <a:r>
              <a:rPr lang="en-US" dirty="0"/>
              <a:t> da novi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da </a:t>
            </a:r>
            <a:r>
              <a:rPr lang="en-US" dirty="0" err="1"/>
              <a:t>ulaze</a:t>
            </a:r>
            <a:r>
              <a:rPr lang="en-US" dirty="0"/>
              <a:t> u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praktično</a:t>
            </a:r>
            <a:r>
              <a:rPr lang="en-US" dirty="0"/>
              <a:t> </a:t>
            </a:r>
            <a:r>
              <a:rPr lang="en-US" dirty="0" err="1"/>
              <a:t>svakog</a:t>
            </a:r>
            <a:r>
              <a:rPr lang="en-US" dirty="0"/>
              <a:t> </a:t>
            </a:r>
            <a:r>
              <a:rPr lang="en-US" dirty="0" err="1"/>
              <a:t>takta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Rezultati </a:t>
            </a:r>
            <a:r>
              <a:rPr lang="en-US" dirty="0" err="1"/>
              <a:t>počinju</a:t>
            </a:r>
            <a:r>
              <a:rPr lang="en-US" dirty="0"/>
              <a:t> da </a:t>
            </a:r>
            <a:r>
              <a:rPr lang="en-US" dirty="0" err="1"/>
              <a:t>izlaze</a:t>
            </a:r>
            <a:r>
              <a:rPr lang="en-US" dirty="0"/>
              <a:t> </a:t>
            </a:r>
            <a:r>
              <a:rPr lang="en-US" dirty="0" err="1"/>
              <a:t>veoma</a:t>
            </a:r>
            <a:r>
              <a:rPr lang="en-US" dirty="0"/>
              <a:t> </a:t>
            </a:r>
            <a:r>
              <a:rPr lang="en-US" dirty="0" err="1"/>
              <a:t>brzo</a:t>
            </a:r>
            <a:r>
              <a:rPr lang="en-US" dirty="0"/>
              <a:t>, bez </a:t>
            </a:r>
            <a:r>
              <a:rPr lang="en-US" dirty="0" err="1"/>
              <a:t>potrebe</a:t>
            </a:r>
            <a:r>
              <a:rPr lang="en-US" dirty="0"/>
              <a:t> da se </a:t>
            </a:r>
            <a:r>
              <a:rPr lang="en-US" dirty="0" err="1"/>
              <a:t>čeka</a:t>
            </a:r>
            <a:r>
              <a:rPr lang="en-US" dirty="0"/>
              <a:t> </a:t>
            </a:r>
            <a:r>
              <a:rPr lang="en-US" dirty="0" err="1"/>
              <a:t>završetak</a:t>
            </a:r>
            <a:r>
              <a:rPr lang="en-US" dirty="0"/>
              <a:t> </a:t>
            </a:r>
            <a:r>
              <a:rPr lang="en-US" dirty="0" err="1"/>
              <a:t>kompletne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/>
          </a:p>
          <a:p>
            <a:r>
              <a:rPr lang="en-US" dirty="0"/>
              <a:t>Na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hardver</a:t>
            </a:r>
            <a:r>
              <a:rPr lang="en-US" dirty="0"/>
              <a:t> je </a:t>
            </a:r>
            <a:r>
              <a:rPr lang="en-US" dirty="0" err="1"/>
              <a:t>konstantno</a:t>
            </a:r>
            <a:r>
              <a:rPr lang="en-US" dirty="0"/>
              <a:t> </a:t>
            </a:r>
            <a:r>
              <a:rPr lang="en-US" dirty="0" err="1"/>
              <a:t>aktivan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maksimalno</a:t>
            </a:r>
            <a:r>
              <a:rPr lang="en-US" dirty="0"/>
              <a:t> </a:t>
            </a:r>
            <a:r>
              <a:rPr lang="en-US" dirty="0" err="1"/>
              <a:t>iskorišćen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2086C-AE13-1EBA-2150-6DECECC6C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51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1EC29-B9A1-0DC7-1B1A-FB31D478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0A321-0919-AFAE-4A7C-19751D978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BC77B-EE41-8F22-5356-9DE2AA988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73CBD-DCF2-9C07-6233-DDFEBA28E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59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D8405-2560-83F9-9D1C-E3B83457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19D74-4107-D04C-8A7B-DEC297F8C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15420-15DA-532E-A647-96E5A3185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Maxeler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sastoji</a:t>
            </a:r>
            <a:r>
              <a:rPr lang="en-US" dirty="0"/>
              <a:t> se </a:t>
            </a:r>
            <a:r>
              <a:rPr lang="en-US" dirty="0" err="1"/>
              <a:t>iz</a:t>
            </a:r>
            <a:r>
              <a:rPr lang="en-US" dirty="0"/>
              <a:t> tri </a:t>
            </a:r>
            <a:r>
              <a:rPr lang="en-US" dirty="0" err="1"/>
              <a:t>glavna</a:t>
            </a:r>
            <a:r>
              <a:rPr lang="en-US" dirty="0"/>
              <a:t> dela: CPU </a:t>
            </a:r>
            <a:r>
              <a:rPr lang="en-US" dirty="0" err="1"/>
              <a:t>koda</a:t>
            </a:r>
            <a:r>
              <a:rPr lang="en-US" dirty="0"/>
              <a:t>, kernel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manager </a:t>
            </a:r>
            <a:r>
              <a:rPr lang="en-US" dirty="0" err="1"/>
              <a:t>koda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CPU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klasičan</a:t>
            </a:r>
            <a:r>
              <a:rPr lang="en-US" dirty="0"/>
              <a:t> C program koji se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procesoru</a:t>
            </a:r>
            <a:r>
              <a:rPr lang="en-US" dirty="0"/>
              <a:t>. </a:t>
            </a:r>
            <a:r>
              <a:rPr lang="en-US" dirty="0" err="1"/>
              <a:t>Njegova</a:t>
            </a:r>
            <a:r>
              <a:rPr lang="en-US" dirty="0"/>
              <a:t> </a:t>
            </a:r>
            <a:r>
              <a:rPr lang="en-US" dirty="0" err="1"/>
              <a:t>uloga</a:t>
            </a:r>
            <a:r>
              <a:rPr lang="en-US" dirty="0"/>
              <a:t> je </a:t>
            </a:r>
            <a:r>
              <a:rPr lang="en-US" dirty="0" err="1"/>
              <a:t>priprema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pokretanje</a:t>
            </a:r>
            <a:r>
              <a:rPr lang="en-US" dirty="0"/>
              <a:t> DFE </a:t>
            </a:r>
            <a:r>
              <a:rPr lang="en-US" dirty="0" err="1"/>
              <a:t>izvršavanja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verifikacija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Kernel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definiše</a:t>
            </a:r>
            <a:r>
              <a:rPr lang="en-US" dirty="0"/>
              <a:t> </a:t>
            </a:r>
            <a:r>
              <a:rPr lang="en-US" dirty="0" err="1"/>
              <a:t>samu</a:t>
            </a:r>
            <a:r>
              <a:rPr lang="en-US" dirty="0"/>
              <a:t> Data Flow </a:t>
            </a:r>
            <a:r>
              <a:rPr lang="en-US" dirty="0" err="1"/>
              <a:t>logiku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implementirana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FPGA-u. Tu se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prolaze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pipeline,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 se </a:t>
            </a:r>
            <a:r>
              <a:rPr lang="en-US" dirty="0" err="1"/>
              <a:t>izvršavaju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dirty="0" err="1"/>
              <a:t>paralelizam</a:t>
            </a:r>
            <a:r>
              <a:rPr lang="en-US" dirty="0"/>
              <a:t> u </a:t>
            </a:r>
            <a:r>
              <a:rPr lang="en-US" dirty="0" err="1"/>
              <a:t>hardveru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Manager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CPU dela </a:t>
            </a:r>
            <a:r>
              <a:rPr lang="en-US" dirty="0" err="1"/>
              <a:t>i</a:t>
            </a:r>
            <a:r>
              <a:rPr lang="en-US" dirty="0"/>
              <a:t> FPGA dela </a:t>
            </a:r>
            <a:r>
              <a:rPr lang="en-US" dirty="0" err="1"/>
              <a:t>sistema</a:t>
            </a:r>
            <a:r>
              <a:rPr lang="en-US" dirty="0"/>
              <a:t>. On </a:t>
            </a:r>
            <a:r>
              <a:rPr lang="en-US" dirty="0" err="1"/>
              <a:t>instancira</a:t>
            </a:r>
            <a:r>
              <a:rPr lang="en-US" dirty="0"/>
              <a:t> kernel, </a:t>
            </a:r>
            <a:r>
              <a:rPr lang="en-US" dirty="0" err="1"/>
              <a:t>podešava</a:t>
            </a:r>
            <a:r>
              <a:rPr lang="en-US" dirty="0"/>
              <a:t>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PCIe </a:t>
            </a:r>
            <a:r>
              <a:rPr lang="en-US" dirty="0" err="1"/>
              <a:t>interfejsa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generiše</a:t>
            </a:r>
            <a:r>
              <a:rPr lang="en-US" dirty="0"/>
              <a:t> </a:t>
            </a:r>
            <a:r>
              <a:rPr lang="en-US" dirty="0" err="1"/>
              <a:t>SLiC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SLiC</a:t>
            </a:r>
            <a:r>
              <a:rPr lang="en-US" dirty="0"/>
              <a:t> </a:t>
            </a:r>
            <a:r>
              <a:rPr lang="en-US" dirty="0" err="1"/>
              <a:t>automatski</a:t>
            </a:r>
            <a:r>
              <a:rPr lang="en-US" dirty="0"/>
              <a:t> </a:t>
            </a:r>
            <a:r>
              <a:rPr lang="en-US" dirty="0" err="1"/>
              <a:t>generiše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CPU </a:t>
            </a:r>
            <a:r>
              <a:rPr lang="en-US" dirty="0" err="1"/>
              <a:t>koristi</a:t>
            </a:r>
            <a:r>
              <a:rPr lang="en-US" dirty="0"/>
              <a:t> za </a:t>
            </a:r>
            <a:r>
              <a:rPr lang="en-US" dirty="0" err="1"/>
              <a:t>slanje</a:t>
            </a:r>
            <a:r>
              <a:rPr lang="en-US" dirty="0"/>
              <a:t> stream-ova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pokretanje</a:t>
            </a:r>
            <a:r>
              <a:rPr lang="en-US" dirty="0"/>
              <a:t> FPGA </a:t>
            </a:r>
            <a:r>
              <a:rPr lang="en-US" dirty="0" err="1"/>
              <a:t>akceleratora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Na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Maxeler </a:t>
            </a:r>
            <a:r>
              <a:rPr lang="en-US" dirty="0" err="1"/>
              <a:t>odvaja</a:t>
            </a:r>
            <a:r>
              <a:rPr lang="en-US" dirty="0"/>
              <a:t> </a:t>
            </a:r>
            <a:r>
              <a:rPr lang="en-US" dirty="0" err="1"/>
              <a:t>kontrolni</a:t>
            </a:r>
            <a:r>
              <a:rPr lang="en-US" dirty="0"/>
              <a:t> deo </a:t>
            </a:r>
            <a:r>
              <a:rPr lang="en-US" dirty="0" err="1"/>
              <a:t>aplikacije</a:t>
            </a:r>
            <a:r>
              <a:rPr lang="en-US" dirty="0"/>
              <a:t> od same </a:t>
            </a:r>
            <a:r>
              <a:rPr lang="en-US" dirty="0" err="1"/>
              <a:t>hardverske</a:t>
            </a:r>
            <a:r>
              <a:rPr lang="en-US" dirty="0"/>
              <a:t> Data Flow </a:t>
            </a:r>
            <a:r>
              <a:rPr lang="en-US" dirty="0" err="1"/>
              <a:t>implementacije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BEC7A-AE33-54A0-C12C-602C2E1FC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71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3E217-F41A-76FE-7740-8F153AA6E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51B61-03EC-DEA4-39C0-17CF9D884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C8F8C-4949-7A88-9801-23F52E13B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8870-6676-F696-1D14-B815BCEBD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95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5D08-3EAB-DACF-1176-DA7A678C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FC1DA-25C7-90B1-7E29-E3D9ACFA5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6507E-21DA-CB30-FDBE-BD8094A59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Implementacija</a:t>
            </a:r>
            <a:r>
              <a:rPr lang="en-US" dirty="0"/>
              <a:t> je </a:t>
            </a:r>
            <a:r>
              <a:rPr lang="en-US" dirty="0" err="1"/>
              <a:t>podeljena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CPU dela </a:t>
            </a:r>
            <a:r>
              <a:rPr lang="en-US" dirty="0" err="1"/>
              <a:t>i</a:t>
            </a:r>
            <a:r>
              <a:rPr lang="en-US" dirty="0"/>
              <a:t> DFE dela.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CPU je </a:t>
            </a:r>
            <a:r>
              <a:rPr lang="en-US" dirty="0" err="1"/>
              <a:t>zadužen</a:t>
            </a:r>
            <a:r>
              <a:rPr lang="en-US" dirty="0"/>
              <a:t> za </a:t>
            </a:r>
            <a:r>
              <a:rPr lang="en-US" dirty="0" err="1"/>
              <a:t>alokaciju</a:t>
            </a:r>
            <a:r>
              <a:rPr lang="en-US" dirty="0"/>
              <a:t> </a:t>
            </a:r>
            <a:r>
              <a:rPr lang="en-US" dirty="0" err="1"/>
              <a:t>memorije</a:t>
            </a:r>
            <a:r>
              <a:rPr lang="en-US" dirty="0"/>
              <a:t>, </a:t>
            </a:r>
            <a:r>
              <a:rPr lang="en-US" dirty="0" err="1"/>
              <a:t>inicijalizaciju</a:t>
            </a:r>
            <a:r>
              <a:rPr lang="en-US" dirty="0"/>
              <a:t> </a:t>
            </a:r>
            <a:r>
              <a:rPr lang="en-US" dirty="0" err="1"/>
              <a:t>matrica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proveru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Matrica</a:t>
            </a:r>
            <a:r>
              <a:rPr lang="en-US" dirty="0"/>
              <a:t> B se </a:t>
            </a:r>
            <a:r>
              <a:rPr lang="en-US" dirty="0" err="1"/>
              <a:t>unapred</a:t>
            </a:r>
            <a:r>
              <a:rPr lang="en-US" dirty="0"/>
              <a:t> </a:t>
            </a:r>
            <a:r>
              <a:rPr lang="en-US" dirty="0" err="1"/>
              <a:t>učitava</a:t>
            </a:r>
            <a:r>
              <a:rPr lang="en-US" dirty="0"/>
              <a:t> u </a:t>
            </a:r>
            <a:r>
              <a:rPr lang="en-US" dirty="0" err="1"/>
              <a:t>internu</a:t>
            </a:r>
            <a:r>
              <a:rPr lang="en-US" dirty="0"/>
              <a:t> FPGA </a:t>
            </a:r>
            <a:r>
              <a:rPr lang="en-US" dirty="0" err="1"/>
              <a:t>memoriju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FMem</a:t>
            </a:r>
            <a:r>
              <a:rPr lang="en-US" dirty="0"/>
              <a:t> </a:t>
            </a:r>
            <a:r>
              <a:rPr lang="en-US" dirty="0" err="1"/>
              <a:t>memoriju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Sa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, </a:t>
            </a:r>
            <a:r>
              <a:rPr lang="en-US" dirty="0" err="1"/>
              <a:t>matrica</a:t>
            </a:r>
            <a:r>
              <a:rPr lang="en-US" dirty="0"/>
              <a:t> A se ne </a:t>
            </a:r>
            <a:r>
              <a:rPr lang="en-US" dirty="0" err="1"/>
              <a:t>čuva</a:t>
            </a:r>
            <a:r>
              <a:rPr lang="en-US" dirty="0"/>
              <a:t> </a:t>
            </a:r>
            <a:r>
              <a:rPr lang="en-US" dirty="0" err="1"/>
              <a:t>kompletno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FPGA-u, </a:t>
            </a:r>
            <a:r>
              <a:rPr lang="en-US" dirty="0" err="1"/>
              <a:t>već</a:t>
            </a:r>
            <a:r>
              <a:rPr lang="en-US" dirty="0"/>
              <a:t> se </a:t>
            </a:r>
            <a:r>
              <a:rPr lang="en-US" dirty="0" err="1"/>
              <a:t>šalje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kontinuirani</a:t>
            </a:r>
            <a:r>
              <a:rPr lang="en-US" dirty="0"/>
              <a:t> stream </a:t>
            </a:r>
            <a:r>
              <a:rPr lang="en-US" dirty="0" err="1"/>
              <a:t>podataka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DFE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pipeline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računa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rezultujuće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završetka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, </a:t>
            </a:r>
            <a:r>
              <a:rPr lang="en-US" dirty="0" err="1"/>
              <a:t>rezultati</a:t>
            </a:r>
            <a:r>
              <a:rPr lang="en-US" dirty="0"/>
              <a:t> se </a:t>
            </a:r>
            <a:r>
              <a:rPr lang="en-US" dirty="0" err="1"/>
              <a:t>vraćaju</a:t>
            </a:r>
            <a:r>
              <a:rPr lang="en-US" dirty="0"/>
              <a:t> </a:t>
            </a:r>
            <a:r>
              <a:rPr lang="en-US" dirty="0" err="1"/>
              <a:t>nazad</a:t>
            </a:r>
            <a:r>
              <a:rPr lang="en-US" dirty="0"/>
              <a:t> CPU-u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porede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referentnom</a:t>
            </a:r>
            <a:r>
              <a:rPr lang="en-US" dirty="0"/>
              <a:t> CPU </a:t>
            </a:r>
            <a:r>
              <a:rPr lang="en-US" dirty="0" err="1"/>
              <a:t>implementacijom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provere</a:t>
            </a:r>
            <a:r>
              <a:rPr lang="en-US" dirty="0"/>
              <a:t> </a:t>
            </a:r>
            <a:r>
              <a:rPr lang="en-US" dirty="0" err="1"/>
              <a:t>tačnosti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43E0F-C8F0-C5BC-06B1-9368EBC4F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60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F59EF-0F2C-3569-C6DD-923084745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99E41-F1A8-AA3C-0F4C-35514F259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C5501-C4E3-C43C-A73A-D14F7C1B2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Jedan od </a:t>
            </a:r>
            <a:r>
              <a:rPr lang="en-US" dirty="0" err="1"/>
              <a:t>važnih</a:t>
            </a:r>
            <a:r>
              <a:rPr lang="en-US" dirty="0"/>
              <a:t> </a:t>
            </a:r>
            <a:r>
              <a:rPr lang="en-US" dirty="0" err="1"/>
              <a:t>delova</a:t>
            </a:r>
            <a:r>
              <a:rPr lang="en-US" dirty="0"/>
              <a:t> </a:t>
            </a:r>
            <a:r>
              <a:rPr lang="en-US" dirty="0" err="1"/>
              <a:t>implementacije</a:t>
            </a:r>
            <a:r>
              <a:rPr lang="en-US" dirty="0"/>
              <a:t> je </a:t>
            </a:r>
            <a:r>
              <a:rPr lang="en-US" dirty="0" err="1"/>
              <a:t>organizacija</a:t>
            </a:r>
            <a:r>
              <a:rPr lang="en-US" dirty="0"/>
              <a:t> </a:t>
            </a:r>
            <a:r>
              <a:rPr lang="en-US" dirty="0" err="1"/>
              <a:t>ulaznog</a:t>
            </a:r>
            <a:r>
              <a:rPr lang="en-US" dirty="0"/>
              <a:t> stream-a.</a:t>
            </a:r>
          </a:p>
          <a:p>
            <a:endParaRPr lang="en-US" dirty="0"/>
          </a:p>
          <a:p>
            <a:r>
              <a:rPr lang="en-US" dirty="0" err="1"/>
              <a:t>Matrica</a:t>
            </a:r>
            <a:r>
              <a:rPr lang="en-US" dirty="0"/>
              <a:t> A se ne </a:t>
            </a:r>
            <a:r>
              <a:rPr lang="en-US" dirty="0" err="1"/>
              <a:t>šalje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red po red, </a:t>
            </a:r>
            <a:r>
              <a:rPr lang="en-US" dirty="0" err="1"/>
              <a:t>već</a:t>
            </a:r>
            <a:r>
              <a:rPr lang="en-US" dirty="0"/>
              <a:t> se </a:t>
            </a:r>
            <a:r>
              <a:rPr lang="en-US" dirty="0" err="1"/>
              <a:t>svaki</a:t>
            </a:r>
            <a:r>
              <a:rPr lang="en-US" dirty="0"/>
              <a:t> element A </a:t>
            </a:r>
            <a:r>
              <a:rPr lang="en-US" dirty="0" err="1"/>
              <a:t>i</a:t>
            </a:r>
            <a:r>
              <a:rPr lang="en-US" dirty="0"/>
              <a:t> k </a:t>
            </a:r>
            <a:r>
              <a:rPr lang="en-US" dirty="0" err="1"/>
              <a:t>ponavlja</a:t>
            </a:r>
            <a:r>
              <a:rPr lang="en-US" dirty="0"/>
              <a:t> N puta.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Razlog</a:t>
            </a:r>
            <a:r>
              <a:rPr lang="en-US" dirty="0"/>
              <a:t> za to je </a:t>
            </a:r>
            <a:r>
              <a:rPr lang="en-US" dirty="0" err="1"/>
              <a:t>što</a:t>
            </a:r>
            <a:r>
              <a:rPr lang="en-US" dirty="0"/>
              <a:t> se </a:t>
            </a:r>
            <a:r>
              <a:rPr lang="en-US" dirty="0" err="1"/>
              <a:t>isti</a:t>
            </a:r>
            <a:r>
              <a:rPr lang="en-US" dirty="0"/>
              <a:t> element </a:t>
            </a:r>
            <a:r>
              <a:rPr lang="en-US" dirty="0" err="1"/>
              <a:t>koristi</a:t>
            </a:r>
            <a:r>
              <a:rPr lang="en-US" dirty="0"/>
              <a:t> za </a:t>
            </a:r>
            <a:r>
              <a:rPr lang="en-US" dirty="0" err="1"/>
              <a:t>množenje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kolonama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B.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Na taj </a:t>
            </a:r>
            <a:r>
              <a:rPr lang="en-US" dirty="0" err="1"/>
              <a:t>način</a:t>
            </a:r>
            <a:r>
              <a:rPr lang="en-US" dirty="0"/>
              <a:t> pipeline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kontinuirano</a:t>
            </a:r>
            <a:r>
              <a:rPr lang="en-US" dirty="0"/>
              <a:t> da </a:t>
            </a:r>
            <a:r>
              <a:rPr lang="en-US" dirty="0" err="1"/>
              <a:t>računa</a:t>
            </a:r>
            <a:r>
              <a:rPr lang="en-US" dirty="0"/>
              <a:t> </a:t>
            </a:r>
            <a:r>
              <a:rPr lang="en-US" dirty="0" err="1"/>
              <a:t>proizvode</a:t>
            </a:r>
            <a:r>
              <a:rPr lang="en-US" dirty="0"/>
              <a:t> za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izlazne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elemenata</a:t>
            </a:r>
            <a:r>
              <a:rPr lang="en-US" dirty="0"/>
              <a:t> u stream-u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iznosi</a:t>
            </a:r>
            <a:r>
              <a:rPr lang="en-US" dirty="0"/>
              <a:t> N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treći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Ovakva</a:t>
            </a:r>
            <a:r>
              <a:rPr lang="en-US" dirty="0"/>
              <a:t> </a:t>
            </a:r>
            <a:r>
              <a:rPr lang="en-US" dirty="0" err="1"/>
              <a:t>organizacija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stabilan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neprekidan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Data Flow </a:t>
            </a:r>
            <a:r>
              <a:rPr lang="en-US" dirty="0" err="1"/>
              <a:t>arhitekturu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Za </a:t>
            </a:r>
            <a:r>
              <a:rPr lang="en-US" dirty="0" err="1"/>
              <a:t>matricu</a:t>
            </a:r>
            <a:r>
              <a:rPr lang="en-US" dirty="0"/>
              <a:t> B </a:t>
            </a:r>
            <a:r>
              <a:rPr lang="en-US" dirty="0" err="1"/>
              <a:t>koristi</a:t>
            </a:r>
            <a:r>
              <a:rPr lang="en-US" dirty="0"/>
              <a:t> se interna FPGA </a:t>
            </a:r>
            <a:r>
              <a:rPr lang="en-US" dirty="0" err="1"/>
              <a:t>memorija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FMem</a:t>
            </a:r>
            <a:r>
              <a:rPr lang="en-US" dirty="0"/>
              <a:t>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CPU pre </a:t>
            </a:r>
            <a:r>
              <a:rPr lang="en-US" dirty="0" err="1"/>
              <a:t>pokretanja</a:t>
            </a:r>
            <a:r>
              <a:rPr lang="en-US" dirty="0"/>
              <a:t> </a:t>
            </a:r>
            <a:r>
              <a:rPr lang="en-US" dirty="0" err="1"/>
              <a:t>kernela</a:t>
            </a:r>
            <a:r>
              <a:rPr lang="en-US" dirty="0"/>
              <a:t> </a:t>
            </a:r>
            <a:r>
              <a:rPr lang="en-US" dirty="0" err="1"/>
              <a:t>učitava</a:t>
            </a:r>
            <a:r>
              <a:rPr lang="en-US" dirty="0"/>
              <a:t> </a:t>
            </a:r>
            <a:r>
              <a:rPr lang="en-US" dirty="0" err="1"/>
              <a:t>kompletnu</a:t>
            </a:r>
            <a:r>
              <a:rPr lang="en-US" dirty="0"/>
              <a:t> </a:t>
            </a:r>
            <a:r>
              <a:rPr lang="en-US" dirty="0" err="1"/>
              <a:t>matricu</a:t>
            </a:r>
            <a:r>
              <a:rPr lang="en-US" dirty="0"/>
              <a:t> B u </a:t>
            </a:r>
            <a:r>
              <a:rPr lang="en-US" dirty="0" err="1"/>
              <a:t>ovu</a:t>
            </a:r>
            <a:r>
              <a:rPr lang="en-US" dirty="0"/>
              <a:t> </a:t>
            </a:r>
            <a:r>
              <a:rPr lang="en-US" dirty="0" err="1"/>
              <a:t>memoriju</a:t>
            </a:r>
            <a:r>
              <a:rPr lang="en-US" dirty="0"/>
              <a:t>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 kernel </a:t>
            </a:r>
            <a:r>
              <a:rPr lang="en-US" dirty="0" err="1"/>
              <a:t>računa</a:t>
            </a:r>
            <a:r>
              <a:rPr lang="en-US" dirty="0"/>
              <a:t> </a:t>
            </a:r>
            <a:r>
              <a:rPr lang="en-US" dirty="0" err="1"/>
              <a:t>adresu</a:t>
            </a:r>
            <a:r>
              <a:rPr lang="en-US" dirty="0"/>
              <a:t> </a:t>
            </a:r>
            <a:r>
              <a:rPr lang="en-US" dirty="0" err="1"/>
              <a:t>elementa</a:t>
            </a:r>
            <a:r>
              <a:rPr lang="en-US" dirty="0"/>
              <a:t> koji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pročita</a:t>
            </a:r>
            <a:r>
              <a:rPr lang="en-US" dirty="0"/>
              <a:t>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Adresa se </a:t>
            </a:r>
            <a:r>
              <a:rPr lang="en-US" dirty="0" err="1"/>
              <a:t>formira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k puta N plus j,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odgovara</a:t>
            </a:r>
            <a:r>
              <a:rPr lang="en-US" dirty="0"/>
              <a:t> </a:t>
            </a:r>
            <a:r>
              <a:rPr lang="en-US" dirty="0" err="1"/>
              <a:t>pristupu</a:t>
            </a:r>
            <a:r>
              <a:rPr lang="en-US" dirty="0"/>
              <a:t> </a:t>
            </a:r>
            <a:r>
              <a:rPr lang="en-US" dirty="0" err="1"/>
              <a:t>elementu</a:t>
            </a:r>
            <a:r>
              <a:rPr lang="en-US" dirty="0"/>
              <a:t> B k j.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r>
              <a:rPr lang="en-US" dirty="0" err="1"/>
              <a:t>Pošto</a:t>
            </a:r>
            <a:r>
              <a:rPr lang="en-US" dirty="0"/>
              <a:t> se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nalaze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FPGA-u, </a:t>
            </a:r>
            <a:r>
              <a:rPr lang="en-US" dirty="0" err="1"/>
              <a:t>pristup</a:t>
            </a:r>
            <a:r>
              <a:rPr lang="en-US" dirty="0"/>
              <a:t> je </a:t>
            </a:r>
            <a:r>
              <a:rPr lang="en-US" dirty="0" err="1"/>
              <a:t>veoma</a:t>
            </a:r>
            <a:r>
              <a:rPr lang="en-US" dirty="0"/>
              <a:t> </a:t>
            </a:r>
            <a:r>
              <a:rPr lang="en-US" dirty="0" err="1"/>
              <a:t>brz</a:t>
            </a:r>
            <a:r>
              <a:rPr lang="en-US" dirty="0"/>
              <a:t>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Na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se </a:t>
            </a:r>
            <a:r>
              <a:rPr lang="en-US" dirty="0" err="1"/>
              <a:t>izbegava</a:t>
            </a:r>
            <a:r>
              <a:rPr lang="en-US" dirty="0"/>
              <a:t> </a:t>
            </a: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sporih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spoljašnjoj</a:t>
            </a:r>
            <a:r>
              <a:rPr lang="en-US" dirty="0"/>
              <a:t> </a:t>
            </a:r>
            <a:r>
              <a:rPr lang="en-US" dirty="0" err="1"/>
              <a:t>memoriji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značajno</a:t>
            </a:r>
            <a:r>
              <a:rPr lang="en-US" dirty="0"/>
              <a:t> </a:t>
            </a:r>
            <a:r>
              <a:rPr lang="en-US" dirty="0" err="1"/>
              <a:t>poboljšava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.</a:t>
            </a:r>
            <a:endParaRPr lang="en-US" dirty="0">
              <a:solidFill>
                <a:srgbClr val="444444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CA0A1-E7F4-9896-17D9-45DE85CD4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57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8B55-2B10-6F4D-54F1-7B0A21E1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BE892-BA7A-A243-7E0D-57B4F5A68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C8DFC-C41D-982C-FD15-06B49B5A1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Kernel </a:t>
            </a:r>
            <a:r>
              <a:rPr lang="en-US" dirty="0" err="1">
                <a:solidFill>
                  <a:srgbClr val="000000"/>
                </a:solidFill>
              </a:rPr>
              <a:t>implementira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standardno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množenje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matrica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kroz</a:t>
            </a:r>
            <a:r>
              <a:rPr lang="en-US" dirty="0">
                <a:solidFill>
                  <a:srgbClr val="000000"/>
                </a:solidFill>
              </a:rPr>
              <a:t> dot product.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Za </a:t>
            </a:r>
            <a:r>
              <a:rPr lang="en-US" dirty="0" err="1">
                <a:solidFill>
                  <a:srgbClr val="000000"/>
                </a:solidFill>
              </a:rPr>
              <a:t>svaki</a:t>
            </a:r>
            <a:r>
              <a:rPr lang="en-US" dirty="0">
                <a:solidFill>
                  <a:srgbClr val="000000"/>
                </a:solidFill>
              </a:rPr>
              <a:t> element </a:t>
            </a:r>
            <a:r>
              <a:rPr lang="en-US" dirty="0" err="1">
                <a:solidFill>
                  <a:srgbClr val="000000"/>
                </a:solidFill>
              </a:rPr>
              <a:t>matrice</a:t>
            </a:r>
            <a:r>
              <a:rPr lang="en-US" dirty="0">
                <a:solidFill>
                  <a:srgbClr val="000000"/>
                </a:solidFill>
              </a:rPr>
              <a:t> C </a:t>
            </a:r>
            <a:r>
              <a:rPr lang="en-US" dirty="0" err="1">
                <a:solidFill>
                  <a:srgbClr val="000000"/>
                </a:solidFill>
              </a:rPr>
              <a:t>računa</a:t>
            </a:r>
            <a:r>
              <a:rPr lang="en-US" dirty="0">
                <a:solidFill>
                  <a:srgbClr val="000000"/>
                </a:solidFill>
              </a:rPr>
              <a:t> se </a:t>
            </a:r>
            <a:r>
              <a:rPr lang="en-US" dirty="0" err="1">
                <a:solidFill>
                  <a:srgbClr val="000000"/>
                </a:solidFill>
              </a:rPr>
              <a:t>skalarni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proizvod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odgovarajućeg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reda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matrice</a:t>
            </a:r>
            <a:r>
              <a:rPr lang="en-US" dirty="0">
                <a:solidFill>
                  <a:srgbClr val="000000"/>
                </a:solidFill>
              </a:rPr>
              <a:t> A </a:t>
            </a: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kolone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matrice</a:t>
            </a:r>
            <a:r>
              <a:rPr lang="en-US" dirty="0">
                <a:solidFill>
                  <a:srgbClr val="000000"/>
                </a:solidFill>
              </a:rPr>
              <a:t> B.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Indeks</a:t>
            </a:r>
            <a:r>
              <a:rPr lang="en-US" dirty="0">
                <a:solidFill>
                  <a:srgbClr val="000000"/>
                </a:solidFill>
              </a:rPr>
              <a:t> k ide </a:t>
            </a:r>
            <a:r>
              <a:rPr lang="en-US" dirty="0" err="1">
                <a:solidFill>
                  <a:srgbClr val="000000"/>
                </a:solidFill>
              </a:rPr>
              <a:t>kroz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zajedničku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dimenziju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kontroliše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koje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elemente</a:t>
            </a:r>
            <a:r>
              <a:rPr lang="en-US" dirty="0">
                <a:solidFill>
                  <a:srgbClr val="000000"/>
                </a:solidFill>
              </a:rPr>
              <a:t> A </a:t>
            </a: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B </a:t>
            </a:r>
            <a:r>
              <a:rPr lang="en-US" dirty="0" err="1">
                <a:solidFill>
                  <a:srgbClr val="000000"/>
                </a:solidFill>
              </a:rPr>
              <a:t>trenutno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množimo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Indeks</a:t>
            </a:r>
            <a:r>
              <a:rPr lang="en-US" dirty="0">
                <a:solidFill>
                  <a:srgbClr val="000000"/>
                </a:solidFill>
              </a:rPr>
              <a:t> j </a:t>
            </a:r>
            <a:r>
              <a:rPr lang="en-US" dirty="0" err="1">
                <a:solidFill>
                  <a:srgbClr val="000000"/>
                </a:solidFill>
              </a:rPr>
              <a:t>bira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kolonu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matrice</a:t>
            </a:r>
            <a:r>
              <a:rPr lang="en-US" dirty="0">
                <a:solidFill>
                  <a:srgbClr val="000000"/>
                </a:solidFill>
              </a:rPr>
              <a:t> B, </a:t>
            </a:r>
            <a:r>
              <a:rPr lang="en-US" dirty="0" err="1">
                <a:solidFill>
                  <a:srgbClr val="000000"/>
                </a:solidFill>
              </a:rPr>
              <a:t>odnosno</a:t>
            </a:r>
            <a:r>
              <a:rPr lang="en-US" dirty="0">
                <a:solidFill>
                  <a:srgbClr val="000000"/>
                </a:solidFill>
              </a:rPr>
              <a:t> koji element </a:t>
            </a:r>
            <a:r>
              <a:rPr lang="en-US" dirty="0" err="1">
                <a:solidFill>
                  <a:srgbClr val="000000"/>
                </a:solidFill>
              </a:rPr>
              <a:t>rezultujuće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matrice</a:t>
            </a:r>
            <a:r>
              <a:rPr lang="en-US" dirty="0">
                <a:solidFill>
                  <a:srgbClr val="000000"/>
                </a:solidFill>
              </a:rPr>
              <a:t> C se </a:t>
            </a:r>
            <a:r>
              <a:rPr lang="en-US" dirty="0" err="1">
                <a:solidFill>
                  <a:srgbClr val="000000"/>
                </a:solidFill>
              </a:rPr>
              <a:t>trenutno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računa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Matrica</a:t>
            </a:r>
            <a:r>
              <a:rPr lang="en-US" dirty="0">
                <a:solidFill>
                  <a:srgbClr val="000000"/>
                </a:solidFill>
              </a:rPr>
              <a:t> B se </a:t>
            </a:r>
            <a:r>
              <a:rPr lang="en-US" dirty="0" err="1">
                <a:solidFill>
                  <a:srgbClr val="000000"/>
                </a:solidFill>
              </a:rPr>
              <a:t>čita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direktno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iz</a:t>
            </a:r>
            <a:r>
              <a:rPr lang="en-US" dirty="0">
                <a:solidFill>
                  <a:srgbClr val="000000"/>
                </a:solidFill>
              </a:rPr>
              <a:t> FPGA </a:t>
            </a:r>
            <a:r>
              <a:rPr lang="en-US" dirty="0" err="1">
                <a:solidFill>
                  <a:srgbClr val="000000"/>
                </a:solidFill>
              </a:rPr>
              <a:t>memorije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dok</a:t>
            </a:r>
            <a:r>
              <a:rPr lang="en-US" dirty="0">
                <a:solidFill>
                  <a:srgbClr val="000000"/>
                </a:solidFill>
              </a:rPr>
              <a:t> se </a:t>
            </a:r>
            <a:r>
              <a:rPr lang="en-US" dirty="0" err="1">
                <a:solidFill>
                  <a:srgbClr val="000000"/>
                </a:solidFill>
              </a:rPr>
              <a:t>matrica</a:t>
            </a:r>
            <a:r>
              <a:rPr lang="en-US" dirty="0">
                <a:solidFill>
                  <a:srgbClr val="000000"/>
                </a:solidFill>
              </a:rPr>
              <a:t> A </a:t>
            </a:r>
            <a:r>
              <a:rPr lang="en-US" dirty="0" err="1">
                <a:solidFill>
                  <a:srgbClr val="000000"/>
                </a:solidFill>
              </a:rPr>
              <a:t>dovodi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kao</a:t>
            </a:r>
            <a:r>
              <a:rPr lang="en-US" dirty="0">
                <a:solidFill>
                  <a:srgbClr val="000000"/>
                </a:solidFill>
              </a:rPr>
              <a:t> stream </a:t>
            </a:r>
            <a:r>
              <a:rPr lang="en-US" dirty="0" err="1">
                <a:solidFill>
                  <a:srgbClr val="000000"/>
                </a:solidFill>
              </a:rPr>
              <a:t>podataka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U </a:t>
            </a:r>
            <a:r>
              <a:rPr lang="en-US" dirty="0" err="1">
                <a:solidFill>
                  <a:srgbClr val="000000"/>
                </a:solidFill>
              </a:rPr>
              <a:t>svakom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taktu</a:t>
            </a:r>
            <a:r>
              <a:rPr lang="en-US" dirty="0">
                <a:solidFill>
                  <a:srgbClr val="000000"/>
                </a:solidFill>
              </a:rPr>
              <a:t> kernel </a:t>
            </a:r>
            <a:r>
              <a:rPr lang="en-US" dirty="0" err="1">
                <a:solidFill>
                  <a:srgbClr val="000000"/>
                </a:solidFill>
              </a:rPr>
              <a:t>izvršava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jednu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operaciju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množenja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dodaje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rezultat</a:t>
            </a:r>
            <a:r>
              <a:rPr lang="en-US" dirty="0">
                <a:solidFill>
                  <a:srgbClr val="000000"/>
                </a:solidFill>
              </a:rPr>
              <a:t> u </a:t>
            </a:r>
            <a:r>
              <a:rPr lang="en-US" dirty="0" err="1">
                <a:solidFill>
                  <a:srgbClr val="000000"/>
                </a:solidFill>
              </a:rPr>
              <a:t>parcijalnu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sumu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Jedan </a:t>
            </a:r>
            <a:r>
              <a:rPr lang="en-US" dirty="0" err="1">
                <a:solidFill>
                  <a:srgbClr val="000000"/>
                </a:solidFill>
              </a:rPr>
              <a:t>kompletan</a:t>
            </a:r>
            <a:r>
              <a:rPr lang="en-US" dirty="0">
                <a:solidFill>
                  <a:srgbClr val="000000"/>
                </a:solidFill>
              </a:rPr>
              <a:t> element </a:t>
            </a:r>
            <a:r>
              <a:rPr lang="en-US" dirty="0" err="1">
                <a:solidFill>
                  <a:srgbClr val="000000"/>
                </a:solidFill>
              </a:rPr>
              <a:t>matrice</a:t>
            </a:r>
            <a:r>
              <a:rPr lang="en-US" dirty="0">
                <a:solidFill>
                  <a:srgbClr val="000000"/>
                </a:solidFill>
              </a:rPr>
              <a:t> C </a:t>
            </a:r>
            <a:r>
              <a:rPr lang="en-US" dirty="0" err="1">
                <a:solidFill>
                  <a:srgbClr val="000000"/>
                </a:solidFill>
              </a:rPr>
              <a:t>nastaje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tek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nakon</a:t>
            </a:r>
            <a:r>
              <a:rPr lang="en-US" dirty="0">
                <a:solidFill>
                  <a:srgbClr val="000000"/>
                </a:solidFill>
              </a:rPr>
              <a:t> N </a:t>
            </a:r>
            <a:r>
              <a:rPr lang="en-US" dirty="0" err="1">
                <a:solidFill>
                  <a:srgbClr val="000000"/>
                </a:solidFill>
              </a:rPr>
              <a:t>takta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------------------------------------------------------------------------------------------------</a:t>
            </a:r>
            <a:endParaRPr lang="en-US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Suština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implementacije</a:t>
            </a:r>
            <a:r>
              <a:rPr lang="en-US" dirty="0">
                <a:solidFill>
                  <a:srgbClr val="000000"/>
                </a:solidFill>
              </a:rPr>
              <a:t> je pipeline </a:t>
            </a:r>
            <a:r>
              <a:rPr lang="en-US" dirty="0" err="1">
                <a:solidFill>
                  <a:srgbClr val="000000"/>
                </a:solidFill>
              </a:rPr>
              <a:t>sa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akumulacijom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U </a:t>
            </a:r>
            <a:r>
              <a:rPr lang="en-US" dirty="0" err="1">
                <a:solidFill>
                  <a:srgbClr val="000000"/>
                </a:solidFill>
              </a:rPr>
              <a:t>svakom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taktu</a:t>
            </a:r>
            <a:r>
              <a:rPr lang="en-US" dirty="0">
                <a:solidFill>
                  <a:srgbClr val="000000"/>
                </a:solidFill>
              </a:rPr>
              <a:t> se </a:t>
            </a:r>
            <a:r>
              <a:rPr lang="en-US" dirty="0" err="1">
                <a:solidFill>
                  <a:srgbClr val="000000"/>
                </a:solidFill>
              </a:rPr>
              <a:t>izvršava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jedna</a:t>
            </a:r>
            <a:r>
              <a:rPr lang="en-US" dirty="0">
                <a:solidFill>
                  <a:srgbClr val="000000"/>
                </a:solidFill>
              </a:rPr>
              <a:t> multiply-accumulate </a:t>
            </a:r>
            <a:r>
              <a:rPr lang="en-US" dirty="0" err="1">
                <a:solidFill>
                  <a:srgbClr val="000000"/>
                </a:solidFill>
              </a:rPr>
              <a:t>operacija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Rezultat</a:t>
            </a:r>
            <a:r>
              <a:rPr lang="en-US" dirty="0">
                <a:solidFill>
                  <a:srgbClr val="000000"/>
                </a:solidFill>
              </a:rPr>
              <a:t> se ne </a:t>
            </a:r>
            <a:r>
              <a:rPr lang="en-US" dirty="0" err="1">
                <a:solidFill>
                  <a:srgbClr val="000000"/>
                </a:solidFill>
              </a:rPr>
              <a:t>dobija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odmah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već</a:t>
            </a:r>
            <a:r>
              <a:rPr lang="en-US" dirty="0">
                <a:solidFill>
                  <a:srgbClr val="000000"/>
                </a:solidFill>
              </a:rPr>
              <a:t> se </a:t>
            </a:r>
            <a:r>
              <a:rPr lang="en-US" dirty="0" err="1">
                <a:solidFill>
                  <a:srgbClr val="000000"/>
                </a:solidFill>
              </a:rPr>
              <a:t>gradi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kroz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više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taktova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kao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parcijalna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suma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Funkcija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stream.offset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omogućava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povratnu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vezu</a:t>
            </a:r>
            <a:r>
              <a:rPr lang="en-US" dirty="0">
                <a:solidFill>
                  <a:srgbClr val="000000"/>
                </a:solidFill>
              </a:rPr>
              <a:t> u pipeline-u, </a:t>
            </a:r>
            <a:r>
              <a:rPr lang="en-US" dirty="0" err="1">
                <a:solidFill>
                  <a:srgbClr val="000000"/>
                </a:solidFill>
              </a:rPr>
              <a:t>odnosno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korišćenje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prethodno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izračunate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vrednosti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akumulatora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Kada je k </a:t>
            </a:r>
            <a:r>
              <a:rPr lang="en-US" dirty="0" err="1">
                <a:solidFill>
                  <a:srgbClr val="000000"/>
                </a:solidFill>
              </a:rPr>
              <a:t>jednako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nula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započinje</a:t>
            </a:r>
            <a:r>
              <a:rPr lang="en-US" dirty="0">
                <a:solidFill>
                  <a:srgbClr val="000000"/>
                </a:solidFill>
              </a:rPr>
              <a:t> se novi dot product </a:t>
            </a: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suma</a:t>
            </a:r>
            <a:r>
              <a:rPr lang="en-US" dirty="0">
                <a:solidFill>
                  <a:srgbClr val="000000"/>
                </a:solidFill>
              </a:rPr>
              <a:t> se </a:t>
            </a:r>
            <a:r>
              <a:rPr lang="en-US" dirty="0" err="1">
                <a:solidFill>
                  <a:srgbClr val="000000"/>
                </a:solidFill>
              </a:rPr>
              <a:t>resetuje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Tokom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narednih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taktova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vrednosti</a:t>
            </a:r>
            <a:r>
              <a:rPr lang="en-US" dirty="0">
                <a:solidFill>
                  <a:srgbClr val="000000"/>
                </a:solidFill>
              </a:rPr>
              <a:t> se </a:t>
            </a:r>
            <a:r>
              <a:rPr lang="en-US" dirty="0" err="1">
                <a:solidFill>
                  <a:srgbClr val="000000"/>
                </a:solidFill>
              </a:rPr>
              <a:t>akumuliraju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Kada k </a:t>
            </a:r>
            <a:r>
              <a:rPr lang="en-US" dirty="0" err="1">
                <a:solidFill>
                  <a:srgbClr val="000000"/>
                </a:solidFill>
              </a:rPr>
              <a:t>dostigne</a:t>
            </a:r>
            <a:r>
              <a:rPr lang="en-US" dirty="0">
                <a:solidFill>
                  <a:srgbClr val="000000"/>
                </a:solidFill>
              </a:rPr>
              <a:t> N minus </a:t>
            </a:r>
            <a:r>
              <a:rPr lang="en-US" dirty="0" err="1">
                <a:solidFill>
                  <a:srgbClr val="000000"/>
                </a:solidFill>
              </a:rPr>
              <a:t>jedan</a:t>
            </a:r>
            <a:r>
              <a:rPr lang="en-US" dirty="0">
                <a:solidFill>
                  <a:srgbClr val="000000"/>
                </a:solidFill>
              </a:rPr>
              <a:t>, dot product je </a:t>
            </a:r>
            <a:r>
              <a:rPr lang="en-US" dirty="0" err="1">
                <a:solidFill>
                  <a:srgbClr val="000000"/>
                </a:solidFill>
              </a:rPr>
              <a:t>završen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formiran</a:t>
            </a:r>
            <a:r>
              <a:rPr lang="en-US" dirty="0">
                <a:solidFill>
                  <a:srgbClr val="000000"/>
                </a:solidFill>
              </a:rPr>
              <a:t> je </a:t>
            </a:r>
            <a:r>
              <a:rPr lang="en-US" dirty="0" err="1">
                <a:solidFill>
                  <a:srgbClr val="000000"/>
                </a:solidFill>
              </a:rPr>
              <a:t>jedan</a:t>
            </a:r>
            <a:r>
              <a:rPr lang="en-US" dirty="0">
                <a:solidFill>
                  <a:srgbClr val="000000"/>
                </a:solidFill>
              </a:rPr>
              <a:t> element </a:t>
            </a:r>
            <a:r>
              <a:rPr lang="en-US" dirty="0" err="1">
                <a:solidFill>
                  <a:srgbClr val="000000"/>
                </a:solidFill>
              </a:rPr>
              <a:t>matrice</a:t>
            </a:r>
            <a:r>
              <a:rPr lang="en-US" dirty="0">
                <a:solidFill>
                  <a:srgbClr val="000000"/>
                </a:solidFill>
              </a:rPr>
              <a:t> C.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Nakon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inicijalnog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popunjavanja</a:t>
            </a:r>
            <a:r>
              <a:rPr lang="en-US" dirty="0">
                <a:solidFill>
                  <a:srgbClr val="000000"/>
                </a:solidFill>
              </a:rPr>
              <a:t> pipeline-a, </a:t>
            </a:r>
            <a:r>
              <a:rPr lang="en-US" dirty="0" err="1">
                <a:solidFill>
                  <a:srgbClr val="000000"/>
                </a:solidFill>
              </a:rPr>
              <a:t>sistem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radi</a:t>
            </a:r>
            <a:r>
              <a:rPr lang="en-US" dirty="0">
                <a:solidFill>
                  <a:srgbClr val="000000"/>
                </a:solidFill>
              </a:rPr>
              <a:t> u </a:t>
            </a:r>
            <a:r>
              <a:rPr lang="en-US" dirty="0" err="1">
                <a:solidFill>
                  <a:srgbClr val="000000"/>
                </a:solidFill>
              </a:rPr>
              <a:t>stabilnom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režimu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gde</a:t>
            </a:r>
            <a:r>
              <a:rPr lang="en-US" dirty="0">
                <a:solidFill>
                  <a:srgbClr val="000000"/>
                </a:solidFill>
              </a:rPr>
              <a:t> se </a:t>
            </a:r>
            <a:r>
              <a:rPr lang="en-US" dirty="0" err="1">
                <a:solidFill>
                  <a:srgbClr val="000000"/>
                </a:solidFill>
              </a:rPr>
              <a:t>svakog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takta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izvršava</a:t>
            </a:r>
            <a:r>
              <a:rPr lang="en-US" dirty="0">
                <a:solidFill>
                  <a:srgbClr val="000000"/>
                </a:solidFill>
              </a:rPr>
              <a:t> nova MAC </a:t>
            </a:r>
            <a:r>
              <a:rPr lang="en-US" dirty="0" err="1">
                <a:solidFill>
                  <a:srgbClr val="000000"/>
                </a:solidFill>
              </a:rPr>
              <a:t>operacija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091E8-5FF6-949B-9025-39D4CBBAC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45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7DCFA-31BF-8432-FE8B-5A4CBE7AD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15BA5-9F86-056C-8A20-BDD1CEADD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9794B-E072-F63C-60AB-0E3B14C8A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Iako</a:t>
            </a:r>
            <a:r>
              <a:rPr lang="en-US" dirty="0"/>
              <a:t> Data Flow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donosi</a:t>
            </a:r>
            <a:r>
              <a:rPr lang="en-US" dirty="0"/>
              <a:t> </a:t>
            </a:r>
            <a:r>
              <a:rPr lang="en-US" dirty="0" err="1"/>
              <a:t>velika</a:t>
            </a:r>
            <a:r>
              <a:rPr lang="en-US" dirty="0"/>
              <a:t> </a:t>
            </a:r>
            <a:r>
              <a:rPr lang="en-US" dirty="0" err="1"/>
              <a:t>ubrzanja</a:t>
            </a:r>
            <a:r>
              <a:rPr lang="en-US" dirty="0"/>
              <a:t>,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određena</a:t>
            </a:r>
            <a:r>
              <a:rPr lang="en-US" dirty="0"/>
              <a:t> </a:t>
            </a:r>
            <a:r>
              <a:rPr lang="en-US" dirty="0" err="1"/>
              <a:t>ograničenja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Pre </a:t>
            </a:r>
            <a:r>
              <a:rPr lang="en-US" dirty="0" err="1"/>
              <a:t>svega</a:t>
            </a:r>
            <a:r>
              <a:rPr lang="en-US" dirty="0"/>
              <a:t>,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pogodni</a:t>
            </a:r>
            <a:r>
              <a:rPr lang="en-US" dirty="0"/>
              <a:t> za </a:t>
            </a:r>
            <a:r>
              <a:rPr lang="en-US" dirty="0" err="1"/>
              <a:t>ovakav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Najbolje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daju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stabilnim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predvidivim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Dizajn</a:t>
            </a:r>
            <a:r>
              <a:rPr lang="en-US" dirty="0"/>
              <a:t> </a:t>
            </a:r>
            <a:r>
              <a:rPr lang="en-US" dirty="0" err="1"/>
              <a:t>hardverskog</a:t>
            </a:r>
            <a:r>
              <a:rPr lang="en-US" dirty="0"/>
              <a:t> pipeline-a je </a:t>
            </a:r>
            <a:r>
              <a:rPr lang="en-US" dirty="0" err="1"/>
              <a:t>znatno</a:t>
            </a:r>
            <a:r>
              <a:rPr lang="en-US" dirty="0"/>
              <a:t> </a:t>
            </a:r>
            <a:r>
              <a:rPr lang="en-US" dirty="0" err="1"/>
              <a:t>kompleksniji</a:t>
            </a:r>
            <a:r>
              <a:rPr lang="en-US" dirty="0"/>
              <a:t> od </a:t>
            </a:r>
            <a:r>
              <a:rPr lang="en-US" dirty="0" err="1"/>
              <a:t>klasičnog</a:t>
            </a:r>
            <a:r>
              <a:rPr lang="en-US" dirty="0"/>
              <a:t> </a:t>
            </a:r>
            <a:r>
              <a:rPr lang="en-US" dirty="0" err="1"/>
              <a:t>programiranja</a:t>
            </a:r>
            <a:r>
              <a:rPr lang="en-US" dirty="0"/>
              <a:t> za CPU.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pažljivo</a:t>
            </a:r>
            <a:r>
              <a:rPr lang="en-US" dirty="0"/>
              <a:t> </a:t>
            </a:r>
            <a:r>
              <a:rPr lang="en-US" dirty="0" err="1"/>
              <a:t>optimizovati</a:t>
            </a:r>
            <a:r>
              <a:rPr lang="en-US" dirty="0"/>
              <a:t> </a:t>
            </a:r>
            <a:r>
              <a:rPr lang="en-US" dirty="0" err="1"/>
              <a:t>protok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raspodelu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Takođe</a:t>
            </a:r>
            <a:r>
              <a:rPr lang="en-US" dirty="0"/>
              <a:t>, </a:t>
            </a:r>
            <a:r>
              <a:rPr lang="en-US" dirty="0" err="1"/>
              <a:t>fleksibilnost</a:t>
            </a:r>
            <a:r>
              <a:rPr lang="en-US" dirty="0"/>
              <a:t> je </a:t>
            </a:r>
            <a:r>
              <a:rPr lang="en-US" dirty="0" err="1"/>
              <a:t>manja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je </a:t>
            </a:r>
            <a:r>
              <a:rPr lang="en-US" dirty="0" err="1"/>
              <a:t>hardver</a:t>
            </a:r>
            <a:r>
              <a:rPr lang="en-US" dirty="0"/>
              <a:t> </a:t>
            </a:r>
            <a:r>
              <a:rPr lang="en-US" dirty="0" err="1"/>
              <a:t>prilagođen</a:t>
            </a:r>
            <a:r>
              <a:rPr lang="en-US" dirty="0"/>
              <a:t> </a:t>
            </a:r>
            <a:r>
              <a:rPr lang="en-US" dirty="0" err="1"/>
              <a:t>konkretnom</a:t>
            </a:r>
            <a:r>
              <a:rPr lang="en-US" dirty="0"/>
              <a:t> </a:t>
            </a:r>
            <a:r>
              <a:rPr lang="en-US" dirty="0" err="1"/>
              <a:t>problemu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Debugging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zahtevniji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standardnog</a:t>
            </a:r>
            <a:r>
              <a:rPr lang="en-US" dirty="0"/>
              <a:t> </a:t>
            </a:r>
            <a:r>
              <a:rPr lang="en-US" dirty="0" err="1"/>
              <a:t>softverskog</a:t>
            </a:r>
            <a:r>
              <a:rPr lang="en-US" dirty="0"/>
              <a:t> </a:t>
            </a:r>
            <a:r>
              <a:rPr lang="en-US" dirty="0" err="1"/>
              <a:t>razvoja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09D1C-2E9E-6C56-557B-10ABA20A2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9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FF85F5-1184-4151-8EF8-91EBDE176C9C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42D4E8-6DB7-4E40-A888-500F322235B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18C9E7-A05E-4BAD-A3EA-2D652C146E5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378632-1E9D-4799-A65A-C2C990E3337D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1FE3DE-923D-41EB-951A-75A1871CB8B2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06C18A-7F89-4A55-B577-3DE9C15240B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07D907-D7C1-4973-A3B7-D3C1F849AEE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E0A8AF-BC10-4AFA-B17A-58D586609A39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722356-84BA-4E17-AF7E-958162FAE11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DED8CE-04C9-443A-8252-266CDD03F485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C2B280-1C84-4BE3-93CA-AB404CF5D627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E285B2-B07D-4F0B-B0AC-395D8322C4D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1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64AA4E-F027-4996-88B7-C92773AF70D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n253109m@student.etf.bg.ac.rs" TargetMode="External"/><Relationship Id="rId2" Type="http://schemas.openxmlformats.org/officeDocument/2006/relationships/hyperlink" Target="mailto:sp253068m@student.etf.bg.ac.rs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00000" y="492840"/>
            <a:ext cx="1079964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r>
              <a:rPr lang="en-US" sz="4650" b="0" u="none" strike="noStrike" dirty="0">
                <a:effectLst/>
                <a:uFillTx/>
                <a:latin typeface="Aptos Display"/>
              </a:rPr>
              <a:t>Множење </a:t>
            </a:r>
            <a:r>
              <a:rPr lang="en-US" sz="4650" b="0" u="none" strike="noStrike" dirty="0" err="1">
                <a:effectLst/>
                <a:uFillTx/>
                <a:latin typeface="Aptos Display"/>
              </a:rPr>
              <a:t>матрица</a:t>
            </a:r>
            <a:r>
              <a:rPr lang="en-US" sz="4650" b="0" u="none" strike="noStrike" dirty="0">
                <a:effectLst/>
                <a:uFillTx/>
                <a:latin typeface="Aptos Display"/>
              </a:rPr>
              <a:t> – </a:t>
            </a:r>
            <a:r>
              <a:rPr lang="en-US" sz="4650" dirty="0"/>
              <a:t>Data Flow </a:t>
            </a:r>
            <a:r>
              <a:rPr lang="en-US" sz="4650" b="0" u="none" strike="noStrike" dirty="0">
                <a:effectLst/>
                <a:uFillTx/>
                <a:latin typeface="Aptos Display"/>
              </a:rPr>
              <a:t>парадигма, </a:t>
            </a:r>
            <a:r>
              <a:rPr lang="en-US" sz="4650" dirty="0"/>
              <a:t>Maxeler </a:t>
            </a:r>
            <a:r>
              <a:rPr lang="en-US" sz="4650" b="0" u="none" strike="noStrike" dirty="0" err="1">
                <a:effectLst/>
                <a:uFillTx/>
                <a:latin typeface="Aptos Display"/>
              </a:rPr>
              <a:t>технологија</a:t>
            </a:r>
            <a:endParaRPr lang="en-US" sz="4650" b="0" u="none" strike="noStrike" dirty="0">
              <a:effectLst/>
              <a:uFillTx/>
              <a:latin typeface="Aptos Display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080000" y="4500000"/>
            <a:ext cx="9899640" cy="16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2"/>
          <a:stretch/>
        </p:blipFill>
        <p:spPr>
          <a:xfrm>
            <a:off x="5400000" y="2880000"/>
            <a:ext cx="1425960" cy="175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Rectangle 74"/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A4C668DB-1700-445D-910E-A346D4DDE69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/>
              <a:t>Control Flow vs Data Flow</a:t>
            </a:r>
            <a:endParaRPr lang="en-US" sz="4400" b="0" u="none" strike="noStrike">
              <a:effectLst/>
              <a:uFillTx/>
              <a:latin typeface="Aptos Display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Класични </a:t>
            </a:r>
            <a:r>
              <a:rPr lang="en-US" sz="2800" dirty="0" err="1">
                <a:latin typeface="Aptos"/>
              </a:rPr>
              <a:t>процесори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користе</a:t>
            </a:r>
            <a:r>
              <a:rPr lang="en-US" sz="2800" dirty="0">
                <a:latin typeface="Aptos"/>
              </a:rPr>
              <a:t> Control Flow </a:t>
            </a:r>
            <a:r>
              <a:rPr lang="en-US" sz="2800" dirty="0" err="1">
                <a:latin typeface="Aptos"/>
              </a:rPr>
              <a:t>модел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Инструкције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извршавају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секвенцијално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Data Flow </a:t>
            </a:r>
            <a:r>
              <a:rPr lang="en-US" sz="2800" dirty="0" err="1">
                <a:latin typeface="Aptos"/>
              </a:rPr>
              <a:t>извршава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операције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када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подаци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спремни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Паралелизам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остварује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природно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кроз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ток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података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Maxeler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користи</a:t>
            </a:r>
            <a:r>
              <a:rPr lang="en-US" sz="2800" dirty="0">
                <a:latin typeface="Aptos"/>
              </a:rPr>
              <a:t> Data Flow </a:t>
            </a:r>
            <a:r>
              <a:rPr lang="en-US" sz="2800" dirty="0" err="1">
                <a:latin typeface="Aptos"/>
              </a:rPr>
              <a:t>архитектуру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за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убрзање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634A-4689-49B4-14B4-DE1F6E22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39B2FA28-C447-CED5-5F1D-BA2D3882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/>
              <a:t>Control Flow</a:t>
            </a:r>
            <a:endParaRPr lang="en-US" sz="4400" b="0" u="none" strike="noStrike">
              <a:effectLst/>
              <a:uFillTx/>
              <a:latin typeface="Aptos Display"/>
            </a:endParaRPr>
          </a:p>
        </p:txBody>
      </p:sp>
      <p:pic>
        <p:nvPicPr>
          <p:cNvPr id="2" name="Content Placeholder 1" descr="A diagram of a computer hardware process&#10;&#10;AI-generated content may be incorrect.">
            <a:extLst>
              <a:ext uri="{FF2B5EF4-FFF2-40B4-BE49-F238E27FC236}">
                <a16:creationId xmlns:a16="http://schemas.microsoft.com/office/drawing/2014/main" id="{34665704-A077-6459-6F30-81E2725F4CEF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rcRect l="128" r="-406" b="-1974"/>
          <a:stretch>
            <a:fillRect/>
          </a:stretch>
        </p:blipFill>
        <p:spPr>
          <a:xfrm>
            <a:off x="2084283" y="1825560"/>
            <a:ext cx="8065436" cy="443649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7F2FCD9A-9350-B447-A518-2DA2E2DE9350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878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FE218-3526-5EFD-A638-43F88317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05B1DEB6-ADAA-006C-FE7B-BD745E867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/>
              <a:t>Data Flow</a:t>
            </a:r>
            <a:endParaRPr lang="en-US" sz="4400" b="0" u="none" strike="noStrike">
              <a:effectLst/>
              <a:uFillTx/>
              <a:latin typeface="Aptos Display"/>
            </a:endParaRPr>
          </a:p>
        </p:txBody>
      </p:sp>
      <p:pic>
        <p:nvPicPr>
          <p:cNvPr id="2" name="Content Placeholder 1" descr="A diagram of a diagram&#10;&#10;AI-generated content may be incorrect.">
            <a:extLst>
              <a:ext uri="{FF2B5EF4-FFF2-40B4-BE49-F238E27FC236}">
                <a16:creationId xmlns:a16="http://schemas.microsoft.com/office/drawing/2014/main" id="{4A3F1E0D-665C-EF5F-CB43-7B0652279E81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rcRect t="-177" r="-81" b="-89"/>
          <a:stretch>
            <a:fillRect/>
          </a:stretch>
        </p:blipFill>
        <p:spPr>
          <a:xfrm>
            <a:off x="4638013" y="1691695"/>
            <a:ext cx="2923323" cy="423596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095BAB66-EBAA-1C36-4AEC-E817C3C2CF13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994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5992-88CC-C782-1508-31D477EA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6E7658EE-3669-D887-DEB5-C16F40F5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Множење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 CPU</a:t>
            </a:r>
            <a:endParaRPr lang="en-US" sz="4400" b="0" u="none" strike="noStrike" dirty="0">
              <a:effectLst/>
              <a:uFillTx/>
              <a:latin typeface="Aptos Display"/>
            </a:endParaRP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8594E23E-32AC-37F5-4318-6DEB16FC591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Петље </a:t>
            </a:r>
            <a:r>
              <a:rPr lang="en-US" sz="2800" dirty="0" err="1">
                <a:latin typeface="Aptos"/>
              </a:rPr>
              <a:t>пролазе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кроз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редове</a:t>
            </a:r>
            <a:r>
              <a:rPr lang="en-US" sz="2800" dirty="0">
                <a:latin typeface="Aptos"/>
              </a:rPr>
              <a:t> и </a:t>
            </a:r>
            <a:r>
              <a:rPr lang="en-US" sz="2800" dirty="0" err="1">
                <a:latin typeface="Aptos"/>
              </a:rPr>
              <a:t>колоне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Инструкције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извршавају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секвенцијално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Кеш </a:t>
            </a:r>
            <a:r>
              <a:rPr lang="en-US" sz="2800" dirty="0" err="1">
                <a:latin typeface="Aptos"/>
              </a:rPr>
              <a:t>меморија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покушава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да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убрза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приступ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Ограничен </a:t>
            </a:r>
            <a:r>
              <a:rPr lang="en-US" sz="2800" dirty="0" err="1">
                <a:latin typeface="Aptos"/>
              </a:rPr>
              <a:t>ниво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паралелизма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Повећање </a:t>
            </a:r>
            <a:r>
              <a:rPr lang="en-US" sz="2800" dirty="0" err="1">
                <a:latin typeface="Aptos"/>
              </a:rPr>
              <a:t>димензија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брзо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смањује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ефикасност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4DC3F14-5229-81DA-AEC8-AA91A47A59AE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928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5992-88CC-C782-1508-31D477EA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6E7658EE-3669-D887-DEB5-C16F40F5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Data Flow </a:t>
            </a:r>
            <a:r>
              <a:rPr lang="en-US" dirty="0" err="1"/>
              <a:t>приступ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 Maxeler-а</a:t>
            </a:r>
            <a:endParaRPr lang="en-US" sz="4400" b="0" u="none" strike="noStrike" dirty="0">
              <a:effectLst/>
              <a:uFillTx/>
              <a:latin typeface="Aptos Display"/>
            </a:endParaRP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8594E23E-32AC-37F5-4318-6DEB16FC591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Подаци </a:t>
            </a:r>
            <a:r>
              <a:rPr lang="en-US" sz="2800" dirty="0" err="1">
                <a:latin typeface="Aptos"/>
              </a:rPr>
              <a:t>пролазе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кроз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хардверски</a:t>
            </a:r>
            <a:r>
              <a:rPr lang="en-US" sz="2800" dirty="0">
                <a:latin typeface="Aptos"/>
              </a:rPr>
              <a:t> </a:t>
            </a:r>
            <a:r>
              <a:rPr lang="en-US" sz="2800" i="1" dirty="0">
                <a:latin typeface="Aptos"/>
              </a:rPr>
              <a:t>pipeline</a:t>
            </a:r>
            <a:r>
              <a:rPr lang="en-US" sz="2800" dirty="0">
                <a:latin typeface="Aptos"/>
              </a:rPr>
              <a:t> 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Нема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класичног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извршавања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инструкција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Паралелизам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директно</a:t>
            </a:r>
            <a:r>
              <a:rPr lang="en-US" sz="2800" dirty="0">
                <a:latin typeface="Aptos"/>
              </a:rPr>
              <a:t> у </a:t>
            </a:r>
            <a:r>
              <a:rPr lang="en-US" sz="2800" dirty="0" err="1">
                <a:latin typeface="Aptos"/>
              </a:rPr>
              <a:t>хардверу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Обезбеђује </a:t>
            </a:r>
            <a:r>
              <a:rPr lang="en-US" sz="2800" dirty="0" err="1">
                <a:latin typeface="Aptos"/>
              </a:rPr>
              <a:t>велику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пропусност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за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нумеричке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алгоритме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4DC3F14-5229-81DA-AEC8-AA91A47A59AE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3298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2979-7D2C-4CDD-E049-F33A9C2F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84767AA6-31C6-25DD-0CEC-53C4F37F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i="1" dirty="0"/>
              <a:t>Pipeline </a:t>
            </a:r>
            <a:r>
              <a:rPr lang="en-US" dirty="0" err="1"/>
              <a:t>обрада</a:t>
            </a:r>
            <a:r>
              <a:rPr lang="en-US" dirty="0"/>
              <a:t> </a:t>
            </a:r>
            <a:r>
              <a:rPr lang="en-US" dirty="0" err="1"/>
              <a:t>множења</a:t>
            </a:r>
            <a:r>
              <a:rPr lang="en-US" dirty="0"/>
              <a:t> </a:t>
            </a:r>
            <a:r>
              <a:rPr lang="en-US" dirty="0" err="1"/>
              <a:t>матрица</a:t>
            </a:r>
            <a:endParaRPr lang="en-US" sz="4400" b="0" u="none" strike="noStrike" dirty="0" err="1">
              <a:effectLst/>
              <a:uFillTx/>
              <a:latin typeface="Aptos Display"/>
            </a:endParaRP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3B4C5065-622D-1E75-7E79-CA8069DE318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Елементи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матрица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улазе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као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континуирани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ток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Операције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извршавају</a:t>
            </a:r>
            <a:r>
              <a:rPr lang="en-US" sz="2800" dirty="0">
                <a:latin typeface="Aptos"/>
              </a:rPr>
              <a:t> у </a:t>
            </a:r>
            <a:r>
              <a:rPr lang="en-US" sz="2800" dirty="0" err="1">
                <a:latin typeface="Aptos"/>
              </a:rPr>
              <a:t>фазама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Нови </a:t>
            </a:r>
            <a:r>
              <a:rPr lang="en-US" sz="2800" dirty="0" err="1">
                <a:latin typeface="Aptos"/>
              </a:rPr>
              <a:t>подаци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стижу</a:t>
            </a:r>
            <a:r>
              <a:rPr lang="en-US" sz="2800" dirty="0">
                <a:latin typeface="Aptos"/>
              </a:rPr>
              <a:t> у </a:t>
            </a:r>
            <a:r>
              <a:rPr lang="en-US" sz="2800" dirty="0" err="1">
                <a:latin typeface="Aptos"/>
              </a:rPr>
              <a:t>сваком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такту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Резултати </a:t>
            </a:r>
            <a:r>
              <a:rPr lang="en-US" sz="2800" dirty="0" err="1">
                <a:latin typeface="Aptos"/>
              </a:rPr>
              <a:t>излазе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без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чекања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завршетка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комплетне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обраде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Хардвер </a:t>
            </a:r>
            <a:r>
              <a:rPr lang="en-US" sz="2800" dirty="0" err="1">
                <a:latin typeface="Aptos"/>
              </a:rPr>
              <a:t>константно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активан</a:t>
            </a:r>
            <a:r>
              <a:rPr lang="en-US" sz="2800" dirty="0">
                <a:latin typeface="Aptos"/>
              </a:rPr>
              <a:t> - </a:t>
            </a:r>
            <a:r>
              <a:rPr lang="en-US" sz="2800" dirty="0" err="1">
                <a:latin typeface="Aptos"/>
              </a:rPr>
              <a:t>максимално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искоришћење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319F11B-EFFE-96CC-AD55-D61E4A776DE8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530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42599-33C7-951E-5192-29092334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04A67E22-142F-9538-C5B4-AC2D4C196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i="1" dirty="0"/>
              <a:t>Pipeline</a:t>
            </a:r>
            <a:r>
              <a:rPr lang="en-US" dirty="0"/>
              <a:t> </a:t>
            </a:r>
            <a:r>
              <a:rPr lang="en-US" dirty="0" err="1"/>
              <a:t>обрада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endParaRPr lang="en-US" sz="4400" b="0" u="none" strike="noStrike">
              <a:effectLst/>
              <a:uFillTx/>
              <a:latin typeface="Aptos Display"/>
            </a:endParaRP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7F716EB0-4E08-D54A-9120-B2F5807C690C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898495" y="1526939"/>
            <a:ext cx="6394049" cy="473159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CDE10241-74E7-0212-55C5-90F806366E52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66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64764-8178-EE9E-2572-255C69C3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B2D61790-D7EC-268E-CCBF-53C6F7B6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Структура</a:t>
            </a:r>
            <a:r>
              <a:rPr lang="en-US" dirty="0"/>
              <a:t> Maxeler </a:t>
            </a:r>
            <a:r>
              <a:rPr lang="en-US" dirty="0" err="1"/>
              <a:t>апликације</a:t>
            </a:r>
            <a:endParaRPr lang="en-US" sz="4400" b="0" u="none" strike="noStrike" dirty="0" err="1">
              <a:effectLst/>
              <a:uFillTx/>
              <a:latin typeface="Aptos Display"/>
            </a:endParaRP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BFAF7E70-E9D5-72F3-2388-B727DD8C6A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CPU </a:t>
            </a:r>
            <a:r>
              <a:rPr lang="en-US" sz="2800" dirty="0" err="1">
                <a:latin typeface="Aptos"/>
              </a:rPr>
              <a:t>код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управља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извршавањем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i="1" dirty="0">
                <a:latin typeface="Aptos"/>
              </a:rPr>
              <a:t>Kernel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дефинише</a:t>
            </a:r>
            <a:r>
              <a:rPr lang="en-US" sz="2800" dirty="0">
                <a:latin typeface="Aptos"/>
              </a:rPr>
              <a:t> Data Flow </a:t>
            </a:r>
            <a:r>
              <a:rPr lang="en-US" sz="2800" dirty="0" err="1">
                <a:latin typeface="Aptos"/>
              </a:rPr>
              <a:t>логику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i="1" dirty="0">
                <a:latin typeface="Aptos"/>
              </a:rPr>
              <a:t>Manager </a:t>
            </a:r>
            <a:r>
              <a:rPr lang="en-US" sz="2800" dirty="0" err="1">
                <a:latin typeface="Aptos"/>
              </a:rPr>
              <a:t>повезује</a:t>
            </a:r>
            <a:r>
              <a:rPr lang="en-US" sz="2800" dirty="0">
                <a:latin typeface="Aptos"/>
              </a:rPr>
              <a:t> CPU и DFE (</a:t>
            </a:r>
            <a:r>
              <a:rPr lang="en-US" sz="2800" i="1" dirty="0">
                <a:latin typeface="Aptos"/>
              </a:rPr>
              <a:t>Data Flow Engine</a:t>
            </a:r>
            <a:r>
              <a:rPr lang="en-US" sz="2800" dirty="0">
                <a:latin typeface="Aptos"/>
              </a:rPr>
              <a:t>)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SLiC</a:t>
            </a:r>
            <a:r>
              <a:rPr lang="en-US" sz="2800" dirty="0">
                <a:latin typeface="Aptos"/>
              </a:rPr>
              <a:t> (</a:t>
            </a:r>
            <a:r>
              <a:rPr lang="en-US" sz="2800" i="1" dirty="0">
                <a:latin typeface="Aptos"/>
              </a:rPr>
              <a:t>Simple Live CPU Interface</a:t>
            </a:r>
            <a:r>
              <a:rPr lang="en-US" sz="2800" dirty="0">
                <a:latin typeface="Aptos"/>
              </a:rPr>
              <a:t>) </a:t>
            </a:r>
            <a:r>
              <a:rPr lang="en-US" sz="2800" dirty="0" err="1">
                <a:latin typeface="Aptos"/>
              </a:rPr>
              <a:t>генерише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комуникациони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интерфејс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9522DD3-8CEB-9911-DFA4-8CCB6CC65C75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611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334E6-EEC9-BA7F-799A-AFB0130D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C88F275C-1456-9FC7-2022-F93EB664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Структура</a:t>
            </a:r>
            <a:r>
              <a:rPr lang="en-US" dirty="0"/>
              <a:t> Maxeler </a:t>
            </a:r>
            <a:r>
              <a:rPr lang="en-US" dirty="0" err="1"/>
              <a:t>апликације</a:t>
            </a:r>
            <a:endParaRPr lang="en-US" sz="4400" b="0" u="none" strike="noStrike" dirty="0" err="1">
              <a:effectLst/>
              <a:uFillTx/>
              <a:latin typeface="Aptos Display"/>
            </a:endParaRPr>
          </a:p>
        </p:txBody>
      </p:sp>
      <p:pic>
        <p:nvPicPr>
          <p:cNvPr id="2" name="Content Placeholder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A59DCD4-B44B-A2D9-6265-E2FDB2B27FBD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1806697" y="1814614"/>
            <a:ext cx="8577647" cy="321919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388203C7-2AA9-CA2A-7BDD-2AC9453691D8}"/>
              </a:ext>
            </a:extLst>
          </p:cNvPr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972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0F49-7A56-E681-DE97-465262BC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697A5C04-4CAD-1AB5-8834-1AF75535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имплементације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DBA5F1D0-B2D9-5C13-C5E7-9C13F9FF067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CPU </a:t>
            </a:r>
            <a:r>
              <a:rPr lang="en-US" sz="2800" dirty="0" err="1">
                <a:latin typeface="Aptos"/>
              </a:rPr>
              <a:t>припрема</a:t>
            </a:r>
            <a:r>
              <a:rPr lang="en-US" sz="2800" dirty="0">
                <a:latin typeface="Aptos"/>
              </a:rPr>
              <a:t> и </a:t>
            </a:r>
            <a:r>
              <a:rPr lang="en-US" sz="2800" dirty="0" err="1">
                <a:latin typeface="Aptos"/>
              </a:rPr>
              <a:t>верификује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податке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Матрица</a:t>
            </a:r>
            <a:r>
              <a:rPr lang="en-US" sz="2800" dirty="0">
                <a:latin typeface="Aptos"/>
              </a:rPr>
              <a:t> B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смешта</a:t>
            </a:r>
            <a:r>
              <a:rPr lang="en-US" sz="2800" dirty="0">
                <a:latin typeface="Aptos"/>
              </a:rPr>
              <a:t> у FPGA </a:t>
            </a:r>
            <a:r>
              <a:rPr lang="en-US" sz="2800" dirty="0" err="1">
                <a:latin typeface="Aptos"/>
              </a:rPr>
              <a:t>меморију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Матрица</a:t>
            </a:r>
            <a:r>
              <a:rPr lang="en-US" sz="2800" dirty="0">
                <a:latin typeface="Aptos"/>
              </a:rPr>
              <a:t> A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шаље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као</a:t>
            </a:r>
            <a:r>
              <a:rPr lang="en-US" sz="2800" dirty="0">
                <a:latin typeface="Aptos"/>
              </a:rPr>
              <a:t> </a:t>
            </a:r>
            <a:r>
              <a:rPr lang="en-US" sz="2800" i="1" dirty="0">
                <a:latin typeface="Aptos"/>
              </a:rPr>
              <a:t>stream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DFE </a:t>
            </a:r>
            <a:r>
              <a:rPr lang="en-US" sz="2800" dirty="0" err="1">
                <a:latin typeface="Aptos"/>
              </a:rPr>
              <a:t>извршава</a:t>
            </a:r>
            <a:r>
              <a:rPr lang="en-US" sz="2800" dirty="0">
                <a:latin typeface="Aptos"/>
              </a:rPr>
              <a:t> </a:t>
            </a:r>
            <a:r>
              <a:rPr lang="en-US" sz="2800" i="1" dirty="0">
                <a:latin typeface="Aptos"/>
              </a:rPr>
              <a:t>pipeline </a:t>
            </a:r>
            <a:r>
              <a:rPr lang="en-US" sz="2800" dirty="0" err="1">
                <a:latin typeface="Aptos"/>
              </a:rPr>
              <a:t>обраду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Резултати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враћају</a:t>
            </a:r>
            <a:r>
              <a:rPr lang="en-US" sz="2800" dirty="0">
                <a:latin typeface="Aptos"/>
              </a:rPr>
              <a:t> CPU-у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822F6C7-1B92-2AE1-8BC4-62DCDB0BE5BD}"/>
              </a:ext>
            </a:extLst>
          </p:cNvPr>
          <p:cNvSpPr/>
          <p:nvPr/>
        </p:nvSpPr>
        <p:spPr>
          <a:xfrm>
            <a:off x="10152000" y="6053040"/>
            <a:ext cx="870857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249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5A26-4602-C21F-2B95-36569D20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E0A2F6B-AE50-D233-B88D-A3A9D830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Меморијска</a:t>
            </a:r>
            <a:r>
              <a:rPr lang="en-US" dirty="0"/>
              <a:t> </a:t>
            </a:r>
            <a:r>
              <a:rPr lang="en-US" dirty="0" err="1"/>
              <a:t>организација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 A и B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84444347-493A-A254-02A0-50950AC690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Матрица</a:t>
            </a:r>
            <a:r>
              <a:rPr lang="en-US" sz="2800" dirty="0">
                <a:latin typeface="Aptos"/>
              </a:rPr>
              <a:t> A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шаље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као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улазни</a:t>
            </a:r>
            <a:r>
              <a:rPr lang="en-US" sz="2800" dirty="0">
                <a:latin typeface="Aptos"/>
              </a:rPr>
              <a:t> </a:t>
            </a:r>
            <a:r>
              <a:rPr lang="en-US" sz="2800" i="1" dirty="0">
                <a:latin typeface="Aptos"/>
              </a:rPr>
              <a:t>stream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Сваки </a:t>
            </a:r>
            <a:r>
              <a:rPr lang="en-US" sz="2800" dirty="0" err="1">
                <a:latin typeface="Aptos"/>
              </a:rPr>
              <a:t>елемент</a:t>
            </a:r>
            <a:r>
              <a:rPr lang="en-US" sz="2800" dirty="0">
                <a:latin typeface="Aptos"/>
              </a:rPr>
              <a:t> A[</a:t>
            </a:r>
            <a:r>
              <a:rPr lang="en-US" sz="2800" dirty="0" err="1">
                <a:latin typeface="Aptos"/>
              </a:rPr>
              <a:t>i</a:t>
            </a:r>
            <a:r>
              <a:rPr lang="en-US" sz="2800" dirty="0">
                <a:latin typeface="Aptos"/>
              </a:rPr>
              <a:t>][k]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понавља</a:t>
            </a:r>
            <a:r>
              <a:rPr lang="en-US" sz="2800" dirty="0">
                <a:latin typeface="Aptos"/>
              </a:rPr>
              <a:t> N </a:t>
            </a:r>
            <a:r>
              <a:rPr lang="en-US" sz="2800" dirty="0" err="1">
                <a:latin typeface="Aptos"/>
              </a:rPr>
              <a:t>пута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Укупно</a:t>
            </a:r>
            <a:r>
              <a:rPr lang="en-US" sz="2800" dirty="0">
                <a:latin typeface="Aptos"/>
              </a:rPr>
              <a:t> N</a:t>
            </a:r>
            <a:r>
              <a:rPr lang="en-US" sz="2800" baseline="30000" dirty="0">
                <a:latin typeface="Aptos"/>
              </a:rPr>
              <a:t>3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елемената</a:t>
            </a:r>
            <a:r>
              <a:rPr lang="en-US" sz="2800" dirty="0">
                <a:latin typeface="Aptos"/>
              </a:rPr>
              <a:t> у </a:t>
            </a:r>
            <a:r>
              <a:rPr lang="en-US" sz="2800" i="1" dirty="0">
                <a:latin typeface="Aptos"/>
              </a:rPr>
              <a:t>stream</a:t>
            </a:r>
            <a:r>
              <a:rPr lang="en-US" sz="2800" dirty="0">
                <a:latin typeface="Aptos"/>
              </a:rPr>
              <a:t>-у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Континуиран </a:t>
            </a:r>
            <a:r>
              <a:rPr lang="en-US" sz="2800" dirty="0" err="1">
                <a:latin typeface="Aptos"/>
              </a:rPr>
              <a:t>ток</a:t>
            </a:r>
            <a:r>
              <a:rPr lang="en-US" sz="2800" dirty="0">
                <a:latin typeface="Aptos"/>
              </a:rPr>
              <a:t> податaка </a:t>
            </a:r>
            <a:r>
              <a:rPr lang="en-US" sz="2800" dirty="0" err="1">
                <a:latin typeface="Aptos"/>
              </a:rPr>
              <a:t>кроз</a:t>
            </a:r>
            <a:r>
              <a:rPr lang="en-US" sz="2800" dirty="0">
                <a:latin typeface="Aptos"/>
              </a:rPr>
              <a:t> FPGA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Матрица</a:t>
            </a:r>
            <a:r>
              <a:rPr lang="en-US" sz="2800" dirty="0">
                <a:latin typeface="Aptos"/>
              </a:rPr>
              <a:t> B </a:t>
            </a:r>
            <a:r>
              <a:rPr lang="en-US" sz="2800" dirty="0" err="1">
                <a:latin typeface="Aptos"/>
              </a:rPr>
              <a:t>се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смешта</a:t>
            </a:r>
            <a:r>
              <a:rPr lang="en-US" sz="2800" dirty="0">
                <a:latin typeface="Aptos"/>
              </a:rPr>
              <a:t> у </a:t>
            </a:r>
            <a:r>
              <a:rPr lang="en-US" sz="2800" dirty="0" err="1">
                <a:latin typeface="Aptos"/>
              </a:rPr>
              <a:t>интерну</a:t>
            </a:r>
            <a:r>
              <a:rPr lang="en-US" sz="2800" dirty="0">
                <a:latin typeface="Aptos"/>
              </a:rPr>
              <a:t> FPGA </a:t>
            </a:r>
            <a:r>
              <a:rPr lang="en-US" sz="2800" dirty="0" err="1">
                <a:latin typeface="Aptos"/>
              </a:rPr>
              <a:t>меморију</a:t>
            </a:r>
            <a:endParaRPr lang="en-US" sz="2800">
              <a:latin typeface="Apto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8D54A2B-0B0B-7E25-4588-AB6CEB02D303}"/>
              </a:ext>
            </a:extLst>
          </p:cNvPr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2903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9194-CB3B-E149-F5A6-F6976366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35012C48-C88F-18F5-2584-1276AC742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Maxeler </a:t>
            </a:r>
            <a:r>
              <a:rPr lang="en-US" dirty="0" err="1"/>
              <a:t>кернел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94995EFC-40A3-CF45-AD45-E575E4E623B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Једна</a:t>
            </a:r>
            <a:r>
              <a:rPr lang="en-US" sz="2800" dirty="0">
                <a:latin typeface="Aptos"/>
              </a:rPr>
              <a:t> MAC (</a:t>
            </a:r>
            <a:r>
              <a:rPr lang="en-US" sz="2800" i="1" dirty="0">
                <a:latin typeface="Aptos"/>
              </a:rPr>
              <a:t>Multiply-Accumulate</a:t>
            </a:r>
            <a:r>
              <a:rPr lang="en-US" sz="2800" dirty="0">
                <a:latin typeface="Aptos"/>
              </a:rPr>
              <a:t>) </a:t>
            </a:r>
            <a:r>
              <a:rPr lang="en-US" sz="2800" dirty="0" err="1">
                <a:latin typeface="Aptos"/>
              </a:rPr>
              <a:t>операција</a:t>
            </a:r>
            <a:r>
              <a:rPr lang="en-US" sz="2800" dirty="0">
                <a:latin typeface="Aptos"/>
              </a:rPr>
              <a:t> у </a:t>
            </a:r>
            <a:r>
              <a:rPr lang="en-US" sz="2800" dirty="0" err="1">
                <a:latin typeface="Aptos"/>
              </a:rPr>
              <a:t>сваком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такту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Резултат</a:t>
            </a:r>
            <a:r>
              <a:rPr lang="en-US" sz="2800" dirty="0">
                <a:latin typeface="Aptos"/>
              </a:rPr>
              <a:t> C[</a:t>
            </a:r>
            <a:r>
              <a:rPr lang="en-US" sz="2800" dirty="0" err="1">
                <a:latin typeface="Aptos"/>
              </a:rPr>
              <a:t>i</a:t>
            </a:r>
            <a:r>
              <a:rPr lang="en-US" sz="2800" dirty="0">
                <a:latin typeface="Aptos"/>
              </a:rPr>
              <a:t>][j] </a:t>
            </a:r>
            <a:r>
              <a:rPr lang="en-US" sz="2800" dirty="0" err="1">
                <a:latin typeface="Aptos"/>
              </a:rPr>
              <a:t>настаје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кроз</a:t>
            </a:r>
            <a:r>
              <a:rPr lang="en-US" sz="2800" dirty="0">
                <a:latin typeface="Aptos"/>
              </a:rPr>
              <a:t> N </a:t>
            </a:r>
            <a:r>
              <a:rPr lang="en-US" sz="2800" dirty="0" err="1">
                <a:latin typeface="Aptos"/>
              </a:rPr>
              <a:t>тактова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Акумулатор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сабира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парцијалне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резултате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Функција</a:t>
            </a:r>
            <a:r>
              <a:rPr lang="en-US" sz="2800" dirty="0">
                <a:latin typeface="Aptos"/>
              </a:rPr>
              <a:t> </a:t>
            </a:r>
            <a:r>
              <a:rPr lang="en-US" sz="2800" i="1" dirty="0" err="1">
                <a:latin typeface="Aptos"/>
              </a:rPr>
              <a:t>stream.offset</a:t>
            </a:r>
            <a:r>
              <a:rPr lang="en-US" sz="2800" i="1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омогућава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коришћење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претходне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вредности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из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акумулатора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Након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пуњења</a:t>
            </a:r>
            <a:r>
              <a:rPr lang="en-US" sz="2800" dirty="0">
                <a:latin typeface="Aptos"/>
              </a:rPr>
              <a:t> </a:t>
            </a:r>
            <a:r>
              <a:rPr lang="en-US" sz="2800" i="1" dirty="0">
                <a:latin typeface="Aptos"/>
              </a:rPr>
              <a:t>pipeline</a:t>
            </a:r>
            <a:r>
              <a:rPr lang="en-US" sz="2800" dirty="0">
                <a:latin typeface="Aptos"/>
              </a:rPr>
              <a:t>-а </a:t>
            </a:r>
            <a:r>
              <a:rPr lang="en-US" sz="2800" dirty="0" err="1">
                <a:latin typeface="Aptos"/>
              </a:rPr>
              <a:t>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константан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проток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података</a:t>
            </a:r>
            <a:endParaRPr lang="en-US" sz="2800">
              <a:latin typeface="Apto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83A5224-42B6-397E-5034-0D876B9AB18F}"/>
              </a:ext>
            </a:extLst>
          </p:cNvPr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379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F3C69-8267-D3DF-9363-F69F1C79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18989BAD-4B46-1DB0-F490-5E43D24CA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Ограничења</a:t>
            </a:r>
            <a:r>
              <a:rPr lang="en-US" dirty="0"/>
              <a:t> Data Flow </a:t>
            </a:r>
            <a:r>
              <a:rPr lang="en-US" dirty="0" err="1"/>
              <a:t>парадигме</a:t>
            </a:r>
            <a:endParaRPr lang="en-US" sz="4400" b="0" u="none" strike="noStrike" dirty="0" err="1">
              <a:effectLst/>
              <a:uFillTx/>
              <a:latin typeface="Aptos Display"/>
            </a:endParaRP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637609F8-4666-D1D7-7E00-DFE8CB5A2F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Није </a:t>
            </a:r>
            <a:r>
              <a:rPr lang="en-US" sz="2800" dirty="0" err="1">
                <a:latin typeface="Aptos"/>
              </a:rPr>
              <a:t>сваки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алгоритам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погодан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за</a:t>
            </a:r>
            <a:r>
              <a:rPr lang="en-US" sz="2800" dirty="0">
                <a:latin typeface="Aptos"/>
              </a:rPr>
              <a:t> Data Flow </a:t>
            </a:r>
            <a:r>
              <a:rPr lang="en-US" sz="2800" dirty="0" err="1">
                <a:latin typeface="Aptos"/>
              </a:rPr>
              <a:t>парадигму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Дизајн </a:t>
            </a:r>
            <a:r>
              <a:rPr lang="en-US" sz="2800" dirty="0" err="1">
                <a:latin typeface="Aptos"/>
              </a:rPr>
              <a:t>хардвера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је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комплекснији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Мања </a:t>
            </a:r>
            <a:r>
              <a:rPr lang="en-US" sz="2800" dirty="0" err="1">
                <a:latin typeface="Aptos"/>
              </a:rPr>
              <a:t>флексибилност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од</a:t>
            </a:r>
            <a:r>
              <a:rPr lang="en-US" sz="2800" dirty="0">
                <a:latin typeface="Aptos"/>
              </a:rPr>
              <a:t> CPU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Дебаговање</a:t>
            </a:r>
            <a:r>
              <a:rPr lang="en-US" sz="2800" dirty="0">
                <a:latin typeface="Aptos"/>
              </a:rPr>
              <a:t> и </a:t>
            </a:r>
            <a:r>
              <a:rPr lang="en-US" sz="2800" dirty="0" err="1">
                <a:latin typeface="Aptos"/>
              </a:rPr>
              <a:t>развој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захтевнији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856D6DF-D21A-814E-7673-A97B4D5CC315}"/>
              </a:ext>
            </a:extLst>
          </p:cNvPr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8640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5" name="Picture 8" descr="A person in a red sweater and tie&#10;&#10;AI-generated content may be incorrect."/>
          <p:cNvPicPr/>
          <p:nvPr/>
        </p:nvPicPr>
        <p:blipFill>
          <a:blip r:embed="rId2"/>
          <a:srcRect t="19711" b="19711"/>
          <a:stretch/>
        </p:blipFill>
        <p:spPr>
          <a:xfrm>
            <a:off x="2522520" y="0"/>
            <a:ext cx="966888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66080" cy="68572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72200" y="2160000"/>
            <a:ext cx="3907440" cy="26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algn="l"/>
            <a:r>
              <a:rPr lang="en-US" sz="2800" i="1" dirty="0"/>
              <a:t>"With the end of performance scaling for single processors, the need </a:t>
            </a:r>
            <a:r>
              <a:rPr lang="en-US" sz="2800" i="1"/>
              <a:t>for different programming models has </a:t>
            </a:r>
            <a:r>
              <a:rPr lang="en-US" sz="2800" i="1" dirty="0"/>
              <a:t>never been greater."</a:t>
            </a:r>
            <a:br>
              <a:rPr lang="en-US" sz="2800" i="1" dirty="0"/>
            </a:br>
            <a:br>
              <a:rPr lang="en-US" sz="2800" i="1" dirty="0"/>
            </a:br>
            <a:r>
              <a:rPr lang="en-US" sz="2800" dirty="0"/>
              <a:t>Michael Flynn</a:t>
            </a:r>
            <a:endParaRPr lang="en-US" dirty="0"/>
          </a:p>
        </p:txBody>
      </p:sp>
      <p:sp>
        <p:nvSpPr>
          <p:cNvPr id="108" name="TextBox 6"/>
          <p:cNvSpPr/>
          <p:nvPr/>
        </p:nvSpPr>
        <p:spPr>
          <a:xfrm>
            <a:off x="3047040" y="3246840"/>
            <a:ext cx="60937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1CAEAE6D-6BF6-4E26-BB35-449EF0216C9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523880" y="719640"/>
            <a:ext cx="9143280" cy="23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Хвала на пажњи!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1523880" y="3156480"/>
            <a:ext cx="9143280" cy="254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sp253068m@student.etf.bg.ac.rs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3"/>
              </a:rPr>
              <a:t>nn253109m@student.etf.bg.ac.rs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6550E89D-A6E0-4760-80C5-ABD54FACAA27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/16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398</Words>
  <Application>Microsoft Office PowerPoint</Application>
  <PresentationFormat>Widescreen</PresentationFormat>
  <Paragraphs>79</Paragraphs>
  <Slides>16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Множење матрица – Data Flow парадигма, Maxeler технологија</vt:lpstr>
      <vt:lpstr>Control Flow vs Data Flow</vt:lpstr>
      <vt:lpstr>Control Flow</vt:lpstr>
      <vt:lpstr>Data Flow</vt:lpstr>
      <vt:lpstr>Множење матрица на CPU</vt:lpstr>
      <vt:lpstr>Data Flow приступ код Maxeler-а</vt:lpstr>
      <vt:lpstr>Pipeline обрада множења матрица</vt:lpstr>
      <vt:lpstr>Pipeline обрада матрица</vt:lpstr>
      <vt:lpstr>Структура Maxeler апликације</vt:lpstr>
      <vt:lpstr>Структура Maxeler апликације</vt:lpstr>
      <vt:lpstr>Архитектура имплементације</vt:lpstr>
      <vt:lpstr>Меморијска организација матрица A и B</vt:lpstr>
      <vt:lpstr>Maxeler кернел</vt:lpstr>
      <vt:lpstr>Ограничења Data Flow парадигме</vt:lpstr>
      <vt:lpstr>"With the end of performance scaling for single processors, the need for different programming models has never been greater."  Michael Flynn</vt:lpstr>
      <vt:lpstr>Хвала на пажњи!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Никола Николић</dc:creator>
  <dc:description/>
  <cp:lastModifiedBy/>
  <cp:revision>419</cp:revision>
  <dcterms:created xsi:type="dcterms:W3CDTF">2026-05-06T19:08:00Z</dcterms:created>
  <dcterms:modified xsi:type="dcterms:W3CDTF">2026-05-22T10:25:24Z</dcterms:modified>
  <dc:language>sr-Latn-RS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