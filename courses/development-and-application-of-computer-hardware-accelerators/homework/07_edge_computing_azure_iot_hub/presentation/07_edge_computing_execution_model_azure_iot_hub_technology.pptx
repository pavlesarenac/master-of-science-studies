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57" r:id="rId4"/>
    <p:sldId id="283" r:id="rId5"/>
    <p:sldId id="282" r:id="rId6"/>
    <p:sldId id="284" r:id="rId7"/>
    <p:sldId id="286" r:id="rId8"/>
    <p:sldId id="285" r:id="rId9"/>
    <p:sldId id="287" r:id="rId10"/>
    <p:sldId id="288" r:id="rId11"/>
    <p:sldId id="265" r:id="rId12"/>
    <p:sldId id="266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A3661-9F6C-45BA-F3F3-A79FF6331C95}" v="191" dt="2026-05-29T12:27:24.275"/>
    <p1510:client id="{AE94C15C-8916-F047-4B91-9953CF594996}" v="305" dt="2026-05-29T11:15:44.388"/>
    <p1510:client id="{E3608669-6758-67F7-705E-9B691E4FD712}" v="302" dt="2026-05-29T12:58:59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C382D-3878-48DB-90A3-A21B3898E5EA}" type="datetimeFigureOut"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EC119-86D4-419D-A1D4-5F1C40B2E8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1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A83D-71BC-2929-C2BC-2BC291BB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9DD1D-06BE-FE6C-4486-323F7510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A7B62-8E55-0AA0-9329-EFFFFB40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 err="1"/>
              <a:t>pametni</a:t>
            </a:r>
            <a:r>
              <a:rPr lang="en-US" dirty="0"/>
              <a:t> </a:t>
            </a:r>
            <a:r>
              <a:rPr lang="en-US" dirty="0" err="1"/>
              <a:t>senzori</a:t>
            </a:r>
            <a:r>
              <a:rPr lang="en-US" dirty="0"/>
              <a:t> (</a:t>
            </a:r>
            <a:r>
              <a:rPr lang="en-US" dirty="0" err="1"/>
              <a:t>industrijski</a:t>
            </a:r>
            <a:r>
              <a:rPr lang="en-US" dirty="0"/>
              <a:t> monitoring, </a:t>
            </a:r>
            <a:r>
              <a:rPr lang="en-US" dirty="0" err="1"/>
              <a:t>temperatura</a:t>
            </a:r>
            <a:r>
              <a:rPr lang="en-US" dirty="0"/>
              <a:t>, </a:t>
            </a:r>
            <a:r>
              <a:rPr lang="en-US" dirty="0" err="1"/>
              <a:t>vibracije</a:t>
            </a:r>
            <a:r>
              <a:rPr lang="en-US" dirty="0"/>
              <a:t>)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edge </a:t>
            </a:r>
            <a:r>
              <a:rPr lang="en-US" dirty="0" err="1"/>
              <a:t>kamere</a:t>
            </a:r>
            <a:r>
              <a:rPr lang="en-US" dirty="0"/>
              <a:t> (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objekata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lica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 err="1"/>
              <a:t>nosivi</a:t>
            </a:r>
            <a:r>
              <a:rPr lang="en-US" dirty="0"/>
              <a:t> </a:t>
            </a:r>
            <a:r>
              <a:rPr lang="en-US" dirty="0" err="1"/>
              <a:t>uređaji</a:t>
            </a:r>
            <a:r>
              <a:rPr lang="en-US" dirty="0"/>
              <a:t> (fitness </a:t>
            </a:r>
            <a:r>
              <a:rPr lang="en-US" dirty="0" err="1"/>
              <a:t>trackeri</a:t>
            </a:r>
            <a:r>
              <a:rPr lang="en-US" dirty="0"/>
              <a:t>, health monitoring)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 err="1"/>
              <a:t>pametni</a:t>
            </a:r>
            <a:r>
              <a:rPr lang="en-US" dirty="0"/>
              <a:t> </a:t>
            </a:r>
            <a:r>
              <a:rPr lang="en-US" dirty="0" err="1"/>
              <a:t>kućni</a:t>
            </a:r>
            <a:r>
              <a:rPr lang="en-US" dirty="0"/>
              <a:t> </a:t>
            </a:r>
            <a:r>
              <a:rPr lang="en-US" dirty="0" err="1"/>
              <a:t>uređaji</a:t>
            </a:r>
            <a:r>
              <a:rPr lang="en-US" dirty="0"/>
              <a:t> (</a:t>
            </a:r>
            <a:r>
              <a:rPr lang="en-US" dirty="0" err="1"/>
              <a:t>termostati</a:t>
            </a:r>
            <a:r>
              <a:rPr lang="en-US" dirty="0"/>
              <a:t>, </a:t>
            </a:r>
            <a:r>
              <a:rPr lang="en-US" dirty="0" err="1"/>
              <a:t>sigurnosni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 err="1"/>
              <a:t>automobilski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(ADAS </a:t>
            </a:r>
            <a:r>
              <a:rPr lang="en-US" dirty="0" err="1"/>
              <a:t>senzori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asistencija</a:t>
            </a:r>
            <a:r>
              <a:rPr lang="en-US" dirty="0"/>
              <a:t> u </a:t>
            </a:r>
            <a:r>
              <a:rPr lang="en-US" dirty="0" err="1"/>
              <a:t>vožnji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 err="1"/>
              <a:t>industrijski</a:t>
            </a:r>
            <a:r>
              <a:rPr lang="en-US" dirty="0"/>
              <a:t> </a:t>
            </a:r>
            <a:r>
              <a:rPr lang="en-US" dirty="0" err="1"/>
              <a:t>kontroleri</a:t>
            </a:r>
            <a:endParaRPr lang="en-US" dirty="0" err="1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/>
              <a:t>PLC </a:t>
            </a:r>
            <a:r>
              <a:rPr lang="en-US" dirty="0" err="1"/>
              <a:t>sistemi</a:t>
            </a:r>
            <a:endParaRPr lang="en-US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AE633-C686-31CC-96EB-C65DE2D3E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7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IoT </a:t>
            </a:r>
            <a:r>
              <a:rPr lang="en-US" dirty="0" err="1"/>
              <a:t>uređajima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hardverom</a:t>
            </a:r>
            <a:r>
              <a:rPr lang="en-US" dirty="0"/>
              <a:t> koji je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slabiji</a:t>
            </a:r>
            <a:r>
              <a:rPr lang="en-US" dirty="0"/>
              <a:t> u </a:t>
            </a:r>
            <a:r>
              <a:rPr lang="en-US" dirty="0" err="1"/>
              <a:t>poređenju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desktop </a:t>
            </a:r>
            <a:r>
              <a:rPr lang="en-US" dirty="0" err="1"/>
              <a:t>ili</a:t>
            </a:r>
            <a:r>
              <a:rPr lang="en-US" dirty="0"/>
              <a:t> cloud </a:t>
            </a:r>
            <a:r>
              <a:rPr lang="en-US" dirty="0" err="1"/>
              <a:t>sistemima</a:t>
            </a:r>
            <a:r>
              <a:rPr lang="en-US" dirty="0"/>
              <a:t>. </a:t>
            </a:r>
          </a:p>
          <a:p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 ARM </a:t>
            </a:r>
            <a:r>
              <a:rPr lang="en-US" dirty="0" err="1"/>
              <a:t>procesori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optimizovani</a:t>
            </a:r>
            <a:r>
              <a:rPr lang="en-US" dirty="0"/>
              <a:t> za </a:t>
            </a:r>
            <a:r>
              <a:rPr lang="en-US" dirty="0" err="1"/>
              <a:t>nisku</a:t>
            </a:r>
            <a:r>
              <a:rPr lang="en-US" dirty="0"/>
              <a:t> </a:t>
            </a:r>
            <a:r>
              <a:rPr lang="en-US" dirty="0" err="1"/>
              <a:t>potrošnju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, a ne za </a:t>
            </a:r>
            <a:r>
              <a:rPr lang="en-US" dirty="0" err="1"/>
              <a:t>teške</a:t>
            </a:r>
            <a:r>
              <a:rPr lang="en-US" dirty="0"/>
              <a:t> </a:t>
            </a:r>
            <a:r>
              <a:rPr lang="en-US" dirty="0" err="1"/>
              <a:t>numeričke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.</a:t>
            </a:r>
            <a:endParaRPr lang="en-US"/>
          </a:p>
          <a:p>
            <a:endParaRPr lang="en-US" dirty="0"/>
          </a:p>
          <a:p>
            <a:r>
              <a:rPr lang="en-US" dirty="0"/>
              <a:t>Pored toga, RAM </a:t>
            </a:r>
            <a:r>
              <a:rPr lang="en-US" dirty="0" err="1"/>
              <a:t>memorija</a:t>
            </a:r>
            <a:r>
              <a:rPr lang="en-US" dirty="0"/>
              <a:t> je </a:t>
            </a:r>
            <a:r>
              <a:rPr lang="en-US" dirty="0" err="1"/>
              <a:t>ograničena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veće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kompleksniji</a:t>
            </a:r>
            <a:r>
              <a:rPr lang="en-US" dirty="0"/>
              <a:t> ML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dolaze</a:t>
            </a:r>
            <a:r>
              <a:rPr lang="en-US" dirty="0"/>
              <a:t> do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počinju</a:t>
            </a:r>
            <a:r>
              <a:rPr lang="en-US" dirty="0"/>
              <a:t> da </a:t>
            </a:r>
            <a:r>
              <a:rPr lang="en-US" dirty="0" err="1"/>
              <a:t>prave</a:t>
            </a:r>
            <a:r>
              <a:rPr lang="en-US" dirty="0"/>
              <a:t> </a:t>
            </a:r>
            <a:r>
              <a:rPr lang="en-US" dirty="0" err="1"/>
              <a:t>usko</a:t>
            </a:r>
            <a:r>
              <a:rPr lang="en-US" dirty="0"/>
              <a:t> </a:t>
            </a:r>
            <a:r>
              <a:rPr lang="en-US" dirty="0" err="1"/>
              <a:t>grlo</a:t>
            </a:r>
            <a:r>
              <a:rPr lang="en-US" dirty="0"/>
              <a:t>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dođe</a:t>
            </a:r>
            <a:r>
              <a:rPr lang="en-US" dirty="0"/>
              <a:t> do same </a:t>
            </a:r>
            <a:r>
              <a:rPr lang="en-US" dirty="0" err="1"/>
              <a:t>računarske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Ako </a:t>
            </a:r>
            <a:r>
              <a:rPr lang="en-US" dirty="0" err="1"/>
              <a:t>pokušamo</a:t>
            </a:r>
            <a:r>
              <a:rPr lang="en-US" dirty="0"/>
              <a:t> da deo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prebacimo</a:t>
            </a:r>
            <a:r>
              <a:rPr lang="en-US" dirty="0"/>
              <a:t> u cloud, </a:t>
            </a:r>
            <a:r>
              <a:rPr lang="en-US" dirty="0" err="1"/>
              <a:t>pojavljuje</a:t>
            </a:r>
            <a:r>
              <a:rPr lang="en-US" dirty="0"/>
              <a:t> se </a:t>
            </a:r>
            <a:r>
              <a:rPr lang="en-US" dirty="0" err="1"/>
              <a:t>drugi</a:t>
            </a:r>
            <a:r>
              <a:rPr lang="en-US" dirty="0"/>
              <a:t> problem — </a:t>
            </a:r>
            <a:r>
              <a:rPr lang="en-US" dirty="0" err="1"/>
              <a:t>latencija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čekanje</a:t>
            </a:r>
            <a:r>
              <a:rPr lang="en-US" dirty="0"/>
              <a:t> </a:t>
            </a:r>
            <a:r>
              <a:rPr lang="en-US" dirty="0" err="1"/>
              <a:t>odgovora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povrat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</a:t>
            </a:r>
            <a:r>
              <a:rPr lang="en-US" dirty="0" err="1"/>
              <a:t>uvodi</a:t>
            </a:r>
            <a:r>
              <a:rPr lang="en-US" dirty="0"/>
              <a:t> </a:t>
            </a:r>
            <a:r>
              <a:rPr lang="en-US" dirty="0" err="1"/>
              <a:t>kašnjenje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je </a:t>
            </a:r>
            <a:r>
              <a:rPr lang="en-US" dirty="0" err="1"/>
              <a:t>neprihvatljivo</a:t>
            </a:r>
            <a:r>
              <a:rPr lang="en-US" dirty="0"/>
              <a:t> za real-time </a:t>
            </a:r>
            <a:r>
              <a:rPr lang="en-US" dirty="0" err="1"/>
              <a:t>sisteme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anomalija</a:t>
            </a:r>
            <a:r>
              <a:rPr lang="en-US" dirty="0"/>
              <a:t>, </a:t>
            </a:r>
            <a:r>
              <a:rPr lang="en-US" dirty="0" err="1"/>
              <a:t>obrada</a:t>
            </a:r>
            <a:r>
              <a:rPr lang="en-US" dirty="0"/>
              <a:t> </a:t>
            </a:r>
            <a:r>
              <a:rPr lang="en-US" dirty="0" err="1"/>
              <a:t>signala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koji edge AI scenario.</a:t>
            </a:r>
            <a:endParaRPr lang="en-US"/>
          </a:p>
          <a:p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sve</a:t>
            </a:r>
            <a:r>
              <a:rPr lang="en-US" dirty="0"/>
              <a:t> to </a:t>
            </a:r>
            <a:r>
              <a:rPr lang="en-US" dirty="0" err="1"/>
              <a:t>dolazi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priroda</a:t>
            </a:r>
            <a:r>
              <a:rPr lang="en-US" dirty="0"/>
              <a:t> </a:t>
            </a:r>
            <a:r>
              <a:rPr lang="en-US" dirty="0" err="1"/>
              <a:t>matričnog</a:t>
            </a:r>
            <a:r>
              <a:rPr lang="en-US" dirty="0"/>
              <a:t> </a:t>
            </a:r>
            <a:r>
              <a:rPr lang="en-US" dirty="0" err="1"/>
              <a:t>množenja</a:t>
            </a:r>
            <a:r>
              <a:rPr lang="en-US" dirty="0"/>
              <a:t>.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 </a:t>
            </a:r>
            <a:r>
              <a:rPr lang="en-US" dirty="0" err="1"/>
              <a:t>svojoj</a:t>
            </a:r>
            <a:r>
              <a:rPr lang="en-US" dirty="0"/>
              <a:t> </a:t>
            </a:r>
            <a:r>
              <a:rPr lang="en-US" dirty="0" err="1"/>
              <a:t>naivnoj</a:t>
            </a:r>
            <a:r>
              <a:rPr lang="en-US" dirty="0"/>
              <a:t> </a:t>
            </a:r>
            <a:r>
              <a:rPr lang="en-US" dirty="0" err="1"/>
              <a:t>implementaciji</a:t>
            </a:r>
            <a:r>
              <a:rPr lang="en-US" dirty="0"/>
              <a:t>, ono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vremensku</a:t>
            </a:r>
            <a:r>
              <a:rPr lang="en-US" dirty="0"/>
              <a:t> </a:t>
            </a:r>
            <a:r>
              <a:rPr lang="en-US" dirty="0" err="1"/>
              <a:t>složenost</a:t>
            </a:r>
            <a:r>
              <a:rPr lang="en-US" dirty="0"/>
              <a:t> O(n³),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rast</a:t>
            </a:r>
            <a:r>
              <a:rPr lang="en-US" dirty="0"/>
              <a:t> </a:t>
            </a:r>
            <a:r>
              <a:rPr lang="en-US" dirty="0" err="1"/>
              <a:t>dimenzije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vrlo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eksponencijalno</a:t>
            </a:r>
            <a:r>
              <a:rPr lang="en-US" dirty="0"/>
              <a:t> </a:t>
            </a:r>
            <a:r>
              <a:rPr lang="en-US" dirty="0" err="1"/>
              <a:t>povećava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.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</a:t>
            </a:r>
            <a:r>
              <a:rPr lang="en-US" dirty="0" err="1"/>
              <a:t>uređajima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ograničenim</a:t>
            </a:r>
            <a:r>
              <a:rPr lang="en-US" dirty="0"/>
              <a:t> </a:t>
            </a:r>
            <a:r>
              <a:rPr lang="en-US" dirty="0" err="1"/>
              <a:t>resursima</a:t>
            </a:r>
            <a:r>
              <a:rPr lang="en-US" dirty="0"/>
              <a:t>, to </a:t>
            </a:r>
            <a:r>
              <a:rPr lang="en-US" dirty="0" err="1"/>
              <a:t>postaje</a:t>
            </a:r>
            <a:r>
              <a:rPr lang="en-US" dirty="0"/>
              <a:t> </a:t>
            </a:r>
            <a:r>
              <a:rPr lang="en-US" dirty="0" err="1"/>
              <a:t>jedno</a:t>
            </a:r>
            <a:r>
              <a:rPr lang="en-US" dirty="0"/>
              <a:t> od </a:t>
            </a:r>
            <a:r>
              <a:rPr lang="en-US" dirty="0" err="1"/>
              <a:t>glavnih</a:t>
            </a:r>
            <a:r>
              <a:rPr lang="en-US" dirty="0"/>
              <a:t> </a:t>
            </a:r>
            <a:r>
              <a:rPr lang="en-US" dirty="0" err="1"/>
              <a:t>uskih</a:t>
            </a:r>
            <a:r>
              <a:rPr lang="en-US" dirty="0"/>
              <a:t> </a:t>
            </a:r>
            <a:r>
              <a:rPr lang="en-US" dirty="0" err="1"/>
              <a:t>grla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2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469E-0963-D42C-F5DB-97B06FFA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074A9-3C45-5581-CAE8-B791D4E5F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4049E-DA26-37AD-7B0C-045A99308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0CB30-2838-CE6B-B6A3-5C71B6154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29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60DB-8BC4-F193-48B8-5468899B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60035-89B7-9FA8-0EBC-0FAE5C084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13936-0CD8-DB96-C1E4-3B58AC96E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Ubrzanje</a:t>
            </a:r>
            <a:r>
              <a:rPr lang="en-US" dirty="0"/>
              <a:t> </a:t>
            </a:r>
            <a:r>
              <a:rPr lang="en-US" dirty="0" err="1"/>
              <a:t>MatMul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ne </a:t>
            </a:r>
            <a:r>
              <a:rPr lang="en-US" dirty="0" err="1"/>
              <a:t>dolazi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slojeva</a:t>
            </a:r>
            <a:r>
              <a:rPr lang="en-US" dirty="0"/>
              <a:t> </a:t>
            </a:r>
            <a:r>
              <a:rPr lang="en-US" dirty="0" err="1"/>
              <a:t>optimizacije</a:t>
            </a:r>
            <a:r>
              <a:rPr lang="en-US" dirty="0"/>
              <a:t> koji </a:t>
            </a:r>
            <a:r>
              <a:rPr lang="en-US" dirty="0" err="1"/>
              <a:t>rade</a:t>
            </a:r>
            <a:r>
              <a:rPr lang="en-US" dirty="0"/>
              <a:t> </a:t>
            </a:r>
            <a:r>
              <a:rPr lang="en-US" dirty="0" err="1"/>
              <a:t>zajedno</a:t>
            </a:r>
            <a:r>
              <a:rPr lang="en-US" dirty="0"/>
              <a:t> — od </a:t>
            </a:r>
            <a:r>
              <a:rPr lang="en-US" dirty="0" err="1"/>
              <a:t>algoritamskog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,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softvera</a:t>
            </a:r>
            <a:r>
              <a:rPr lang="en-US" dirty="0"/>
              <a:t>, pa </a:t>
            </a:r>
            <a:r>
              <a:rPr lang="en-US" dirty="0" err="1"/>
              <a:t>sve</a:t>
            </a:r>
            <a:r>
              <a:rPr lang="en-US" dirty="0"/>
              <a:t> do </a:t>
            </a:r>
            <a:r>
              <a:rPr lang="en-US" dirty="0" err="1"/>
              <a:t>hardverskih</a:t>
            </a:r>
            <a:r>
              <a:rPr lang="en-US" dirty="0"/>
              <a:t> </a:t>
            </a:r>
            <a:r>
              <a:rPr lang="en-US" dirty="0" err="1"/>
              <a:t>instrukcija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</a:t>
            </a:r>
            <a:r>
              <a:rPr lang="en-US" dirty="0" err="1"/>
              <a:t>algoritamskom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, </a:t>
            </a:r>
            <a:r>
              <a:rPr lang="en-US" dirty="0" err="1"/>
              <a:t>koristi</a:t>
            </a:r>
            <a:r>
              <a:rPr lang="en-US" dirty="0"/>
              <a:t> se tiling,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matrice</a:t>
            </a:r>
            <a:r>
              <a:rPr lang="en-US" dirty="0"/>
              <a:t> dele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koji </a:t>
            </a:r>
            <a:r>
              <a:rPr lang="en-US" dirty="0" err="1"/>
              <a:t>bolje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cache </a:t>
            </a:r>
            <a:r>
              <a:rPr lang="en-US" dirty="0" err="1"/>
              <a:t>memoriju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Time se </a:t>
            </a:r>
            <a:r>
              <a:rPr lang="en-US" dirty="0" err="1"/>
              <a:t>smanjuje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“cache miss”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poboljšava</a:t>
            </a:r>
            <a:r>
              <a:rPr lang="en-US" dirty="0"/>
              <a:t> </a:t>
            </a:r>
            <a:r>
              <a:rPr lang="en-US" dirty="0" err="1"/>
              <a:t>efikasnost</a:t>
            </a:r>
            <a:r>
              <a:rPr lang="en-US" dirty="0"/>
              <a:t> </a:t>
            </a:r>
            <a:r>
              <a:rPr lang="en-US" dirty="0" err="1"/>
              <a:t>memorijskog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od </a:t>
            </a:r>
            <a:r>
              <a:rPr lang="en-US" dirty="0" err="1"/>
              <a:t>glavnih</a:t>
            </a:r>
            <a:r>
              <a:rPr lang="en-US" dirty="0"/>
              <a:t> bottleneck-a </a:t>
            </a:r>
            <a:r>
              <a:rPr lang="en-US" dirty="0" err="1"/>
              <a:t>na</a:t>
            </a:r>
            <a:r>
              <a:rPr lang="en-US" dirty="0"/>
              <a:t> IoT </a:t>
            </a:r>
            <a:r>
              <a:rPr lang="en-US" dirty="0" err="1"/>
              <a:t>uređajima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, </a:t>
            </a:r>
            <a:r>
              <a:rPr lang="en-US" dirty="0" err="1"/>
              <a:t>koriste</a:t>
            </a:r>
            <a:r>
              <a:rPr lang="en-US" dirty="0"/>
              <a:t> se SIMD </a:t>
            </a:r>
            <a:r>
              <a:rPr lang="en-US" dirty="0" err="1"/>
              <a:t>instrukcije</a:t>
            </a:r>
            <a:r>
              <a:rPr lang="en-US" dirty="0"/>
              <a:t>. One </a:t>
            </a:r>
            <a:r>
              <a:rPr lang="en-US" dirty="0" err="1"/>
              <a:t>omogućavaju</a:t>
            </a:r>
            <a:r>
              <a:rPr lang="en-US" dirty="0"/>
              <a:t> da se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izvrši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CPU </a:t>
            </a:r>
            <a:r>
              <a:rPr lang="en-US" dirty="0" err="1"/>
              <a:t>ciklusu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važno</a:t>
            </a:r>
            <a:r>
              <a:rPr lang="en-US" dirty="0"/>
              <a:t> za </a:t>
            </a:r>
            <a:r>
              <a:rPr lang="en-US" dirty="0" err="1"/>
              <a:t>vektorske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matrične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važan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je </a:t>
            </a:r>
            <a:r>
              <a:rPr lang="en-US" dirty="0" err="1"/>
              <a:t>kvantizacija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32-bit floating point </a:t>
            </a:r>
            <a:r>
              <a:rPr lang="en-US" dirty="0" err="1"/>
              <a:t>formata</a:t>
            </a:r>
            <a:r>
              <a:rPr lang="en-US" dirty="0"/>
              <a:t> </a:t>
            </a:r>
            <a:r>
              <a:rPr lang="en-US" dirty="0" err="1"/>
              <a:t>svode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8-bit integer format. Time se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smanjuje</a:t>
            </a:r>
            <a:r>
              <a:rPr lang="en-US" dirty="0"/>
              <a:t> </a:t>
            </a:r>
            <a:r>
              <a:rPr lang="en-US" dirty="0" err="1"/>
              <a:t>memorijski</a:t>
            </a:r>
            <a:r>
              <a:rPr lang="en-US" dirty="0"/>
              <a:t> footprint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ubrzava</a:t>
            </a:r>
            <a:r>
              <a:rPr lang="en-US" dirty="0"/>
              <a:t> </a:t>
            </a:r>
            <a:r>
              <a:rPr lang="en-US" dirty="0" err="1"/>
              <a:t>računanje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prihvatljiv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preciznosti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dovoljno</a:t>
            </a:r>
            <a:r>
              <a:rPr lang="en-US" dirty="0"/>
              <a:t> za inference u ML </a:t>
            </a:r>
            <a:r>
              <a:rPr lang="en-US" dirty="0" err="1"/>
              <a:t>modelima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</a:t>
            </a:r>
            <a:r>
              <a:rPr lang="en-US" dirty="0" err="1"/>
              <a:t>softverskom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, </a:t>
            </a:r>
            <a:r>
              <a:rPr lang="en-US" dirty="0" err="1"/>
              <a:t>koriste</a:t>
            </a:r>
            <a:r>
              <a:rPr lang="en-US" dirty="0"/>
              <a:t> se </a:t>
            </a:r>
            <a:r>
              <a:rPr lang="en-US" dirty="0" err="1"/>
              <a:t>optimizovane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BLAS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NumPy backend-a,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interno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paralelizaciju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hardverske</a:t>
            </a:r>
            <a:r>
              <a:rPr lang="en-US" dirty="0"/>
              <a:t> </a:t>
            </a:r>
            <a:r>
              <a:rPr lang="en-US" dirty="0" err="1"/>
              <a:t>optimizacije</a:t>
            </a:r>
            <a:r>
              <a:rPr lang="en-US" dirty="0"/>
              <a:t>,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programer</a:t>
            </a:r>
            <a:r>
              <a:rPr lang="en-US" dirty="0"/>
              <a:t> ne mora </a:t>
            </a:r>
            <a:r>
              <a:rPr lang="en-US" dirty="0" err="1"/>
              <a:t>ručno</a:t>
            </a:r>
            <a:r>
              <a:rPr lang="en-US" dirty="0"/>
              <a:t> da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niskonivojske</a:t>
            </a:r>
            <a:r>
              <a:rPr lang="en-US" dirty="0"/>
              <a:t> </a:t>
            </a:r>
            <a:r>
              <a:rPr lang="en-US" dirty="0" err="1"/>
              <a:t>optimizacije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Konačno</a:t>
            </a:r>
            <a:r>
              <a:rPr lang="en-US" dirty="0"/>
              <a:t>, u edge inference </a:t>
            </a:r>
            <a:r>
              <a:rPr lang="en-US" dirty="0" err="1"/>
              <a:t>scenarijima</a:t>
            </a:r>
            <a:r>
              <a:rPr lang="en-US" dirty="0"/>
              <a:t>, </a:t>
            </a:r>
            <a:r>
              <a:rPr lang="en-US" dirty="0" err="1"/>
              <a:t>optimizacije</a:t>
            </a:r>
            <a:r>
              <a:rPr lang="en-US" dirty="0"/>
              <a:t> se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prilagođavaju</a:t>
            </a:r>
            <a:r>
              <a:rPr lang="en-US" dirty="0"/>
              <a:t> </a:t>
            </a:r>
            <a:r>
              <a:rPr lang="en-US" dirty="0" err="1"/>
              <a:t>specifičnom</a:t>
            </a:r>
            <a:r>
              <a:rPr lang="en-US" dirty="0"/>
              <a:t> </a:t>
            </a:r>
            <a:r>
              <a:rPr lang="en-US" dirty="0" err="1"/>
              <a:t>uređaju</a:t>
            </a:r>
            <a:r>
              <a:rPr lang="en-US" dirty="0"/>
              <a:t>, </a:t>
            </a:r>
            <a:r>
              <a:rPr lang="en-US" dirty="0" err="1"/>
              <a:t>balansirajući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, </a:t>
            </a:r>
            <a:r>
              <a:rPr lang="en-US" dirty="0" err="1"/>
              <a:t>potrošnje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tačnosti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CED8A-5B1A-54A1-0824-4C21ABCA8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49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1C5B-E632-536B-3D6C-FBA9A901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448F5-677C-F38B-921D-F1CA34B07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DB993-6F44-2CF6-9ECB-02FEB5C27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primer </a:t>
            </a:r>
            <a:r>
              <a:rPr lang="en-US" dirty="0" err="1"/>
              <a:t>optimizovane</a:t>
            </a:r>
            <a:r>
              <a:rPr lang="en-US" dirty="0"/>
              <a:t> </a:t>
            </a:r>
            <a:r>
              <a:rPr lang="en-US" dirty="0" err="1"/>
              <a:t>implementacije</a:t>
            </a:r>
            <a:r>
              <a:rPr lang="en-US" dirty="0"/>
              <a:t> </a:t>
            </a:r>
            <a:r>
              <a:rPr lang="en-US" dirty="0" err="1"/>
              <a:t>matričnog</a:t>
            </a:r>
            <a:r>
              <a:rPr lang="en-US" dirty="0"/>
              <a:t> </a:t>
            </a:r>
            <a:r>
              <a:rPr lang="en-US" dirty="0" err="1"/>
              <a:t>množenja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tehniku</a:t>
            </a:r>
            <a:r>
              <a:rPr lang="en-US" dirty="0"/>
              <a:t> </a:t>
            </a:r>
            <a:r>
              <a:rPr lang="en-US" dirty="0" err="1"/>
              <a:t>blokiranja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tiling-a.</a:t>
            </a:r>
          </a:p>
          <a:p>
            <a:endParaRPr lang="en-US" dirty="0"/>
          </a:p>
          <a:p>
            <a:r>
              <a:rPr lang="en-US" dirty="0" err="1"/>
              <a:t>Ideja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da </a:t>
            </a:r>
            <a:r>
              <a:rPr lang="en-US" dirty="0" err="1"/>
              <a:t>promenimo</a:t>
            </a:r>
            <a:r>
              <a:rPr lang="en-US" dirty="0"/>
              <a:t> </a:t>
            </a:r>
            <a:r>
              <a:rPr lang="en-US" dirty="0" err="1"/>
              <a:t>matematičku</a:t>
            </a:r>
            <a:r>
              <a:rPr lang="en-US" dirty="0"/>
              <a:t> </a:t>
            </a:r>
            <a:r>
              <a:rPr lang="en-US" dirty="0" err="1"/>
              <a:t>operaciju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koji </a:t>
            </a:r>
            <a:r>
              <a:rPr lang="en-US" dirty="0" err="1"/>
              <a:t>pristupamo</a:t>
            </a:r>
            <a:r>
              <a:rPr lang="en-US" dirty="0"/>
              <a:t> </a:t>
            </a:r>
            <a:r>
              <a:rPr lang="en-US" dirty="0" err="1"/>
              <a:t>memoriji</a:t>
            </a:r>
            <a:r>
              <a:rPr lang="en-US" dirty="0"/>
              <a:t>. </a:t>
            </a:r>
          </a:p>
          <a:p>
            <a:r>
              <a:rPr lang="en-US" dirty="0" err="1"/>
              <a:t>Umesto</a:t>
            </a:r>
            <a:r>
              <a:rPr lang="en-US" dirty="0"/>
              <a:t> da </a:t>
            </a:r>
            <a:r>
              <a:rPr lang="en-US" dirty="0" err="1"/>
              <a:t>prolazimo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matricu</a:t>
            </a:r>
            <a:r>
              <a:rPr lang="en-US" dirty="0"/>
              <a:t> </a:t>
            </a:r>
            <a:r>
              <a:rPr lang="en-US" dirty="0" err="1"/>
              <a:t>odjednom</a:t>
            </a:r>
            <a:r>
              <a:rPr lang="en-US" dirty="0"/>
              <a:t>, </a:t>
            </a:r>
            <a:r>
              <a:rPr lang="en-US" dirty="0" err="1"/>
              <a:t>delimo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određene</a:t>
            </a:r>
            <a:r>
              <a:rPr lang="en-US" dirty="0"/>
              <a:t> </a:t>
            </a:r>
            <a:r>
              <a:rPr lang="en-US" dirty="0" err="1"/>
              <a:t>veličine</a:t>
            </a:r>
            <a:r>
              <a:rPr lang="en-US" dirty="0"/>
              <a:t>.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se </a:t>
            </a:r>
            <a:r>
              <a:rPr lang="en-US" dirty="0" err="1"/>
              <a:t>uklapa</a:t>
            </a:r>
            <a:r>
              <a:rPr lang="en-US" dirty="0"/>
              <a:t> u cache </a:t>
            </a:r>
            <a:r>
              <a:rPr lang="en-US" dirty="0" err="1"/>
              <a:t>memoriju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učitamo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puta </a:t>
            </a:r>
            <a:r>
              <a:rPr lang="en-US" dirty="0" err="1"/>
              <a:t>koristimo</a:t>
            </a:r>
            <a:r>
              <a:rPr lang="en-US" dirty="0"/>
              <a:t> bez </a:t>
            </a:r>
            <a:r>
              <a:rPr lang="en-US" dirty="0" err="1"/>
              <a:t>stalnog</a:t>
            </a:r>
            <a:r>
              <a:rPr lang="en-US" dirty="0"/>
              <a:t> </a:t>
            </a:r>
            <a:r>
              <a:rPr lang="en-US" dirty="0" err="1"/>
              <a:t>vraćanja</a:t>
            </a:r>
            <a:r>
              <a:rPr lang="en-US" dirty="0"/>
              <a:t> u </a:t>
            </a:r>
            <a:r>
              <a:rPr lang="en-US" dirty="0" err="1"/>
              <a:t>sporiju</a:t>
            </a:r>
            <a:r>
              <a:rPr lang="en-US" dirty="0"/>
              <a:t> RAM </a:t>
            </a:r>
            <a:r>
              <a:rPr lang="en-US" dirty="0" err="1"/>
              <a:t>memoriju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to se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tri </a:t>
            </a:r>
            <a:r>
              <a:rPr lang="en-US" dirty="0" err="1"/>
              <a:t>spoljašnje</a:t>
            </a:r>
            <a:r>
              <a:rPr lang="en-US" dirty="0"/>
              <a:t> </a:t>
            </a:r>
            <a:r>
              <a:rPr lang="en-US" dirty="0" err="1"/>
              <a:t>petlje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— ii, </a:t>
            </a:r>
            <a:r>
              <a:rPr lang="en-US" dirty="0" err="1"/>
              <a:t>jj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kk. </a:t>
            </a:r>
          </a:p>
          <a:p>
            <a:r>
              <a:rPr lang="en-US" dirty="0"/>
              <a:t>One </a:t>
            </a:r>
            <a:r>
              <a:rPr lang="en-US" dirty="0" err="1"/>
              <a:t>određuju</a:t>
            </a:r>
            <a:r>
              <a:rPr lang="en-US" dirty="0"/>
              <a:t> koji deo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trenutno</a:t>
            </a:r>
            <a:r>
              <a:rPr lang="en-US" dirty="0"/>
              <a:t> </a:t>
            </a:r>
            <a:r>
              <a:rPr lang="en-US" dirty="0" err="1"/>
              <a:t>obrađujemo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Unutrašnje</a:t>
            </a:r>
            <a:r>
              <a:rPr lang="en-US" dirty="0"/>
              <a:t> </a:t>
            </a:r>
            <a:r>
              <a:rPr lang="en-US" dirty="0" err="1"/>
              <a:t>petlje</a:t>
            </a:r>
            <a:r>
              <a:rPr lang="en-US" dirty="0"/>
              <a:t> </a:t>
            </a:r>
            <a:r>
              <a:rPr lang="en-US" dirty="0" err="1"/>
              <a:t>rade</a:t>
            </a:r>
            <a:r>
              <a:rPr lang="en-US" dirty="0"/>
              <a:t> </a:t>
            </a:r>
            <a:r>
              <a:rPr lang="en-US" dirty="0" err="1"/>
              <a:t>klasično</a:t>
            </a:r>
            <a:r>
              <a:rPr lang="en-US" dirty="0"/>
              <a:t> </a:t>
            </a:r>
            <a:r>
              <a:rPr lang="en-US" dirty="0" err="1"/>
              <a:t>množenje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tog </a:t>
            </a:r>
            <a:r>
              <a:rPr lang="en-US" dirty="0" err="1"/>
              <a:t>manjeg</a:t>
            </a:r>
            <a:r>
              <a:rPr lang="en-US" dirty="0"/>
              <a:t> </a:t>
            </a:r>
            <a:r>
              <a:rPr lang="en-US" dirty="0" err="1"/>
              <a:t>segmenta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optimizacija</a:t>
            </a:r>
            <a:r>
              <a:rPr lang="en-US" dirty="0"/>
              <a:t>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— on </a:t>
            </a: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O(n³) —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smanjenje</a:t>
            </a:r>
            <a:r>
              <a:rPr lang="en-US" dirty="0"/>
              <a:t> cache miss-ova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lokalnost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važno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IoT </a:t>
            </a:r>
            <a:r>
              <a:rPr lang="en-US" dirty="0" err="1"/>
              <a:t>uređajima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oni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ograničen</a:t>
            </a:r>
            <a:r>
              <a:rPr lang="en-US" dirty="0"/>
              <a:t> cache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sporiji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memoriji</a:t>
            </a:r>
            <a:r>
              <a:rPr lang="en-US" dirty="0"/>
              <a:t>, pa ova </a:t>
            </a:r>
            <a:r>
              <a:rPr lang="en-US" dirty="0" err="1"/>
              <a:t>optimizacija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da </a:t>
            </a:r>
            <a:r>
              <a:rPr lang="en-US" dirty="0" err="1"/>
              <a:t>poboljša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u </a:t>
            </a:r>
            <a:r>
              <a:rPr lang="en-US" dirty="0" err="1"/>
              <a:t>praksi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A55E4-3713-1172-AB59-019713FDB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2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1F57-A318-138F-ED54-61CC75A6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AAC4C-6D8E-D3DE-5A26-41CF2D3EE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C2B2-8DF4-5055-FCB1-1C993BBCD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17F6E-962B-9FF7-D849-7E5486D50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80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CCC8-5C04-9432-0FA5-B2BB8F5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B940A-7FC1-31D6-A5B8-1259FCDBC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AB344-B916-0D8E-A8D1-57523990E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sistemu</a:t>
            </a:r>
            <a:r>
              <a:rPr lang="en-US" dirty="0"/>
              <a:t>, </a:t>
            </a:r>
            <a:r>
              <a:rPr lang="en-US" dirty="0" err="1"/>
              <a:t>računanje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IoT </a:t>
            </a:r>
            <a:r>
              <a:rPr lang="en-US" dirty="0" err="1"/>
              <a:t>uređaju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edge-u. </a:t>
            </a:r>
          </a:p>
          <a:p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MatMul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ne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clouda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se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Azure IoT Hub </a:t>
            </a:r>
            <a:r>
              <a:rPr lang="en-US" dirty="0" err="1"/>
              <a:t>ovde</a:t>
            </a:r>
            <a:r>
              <a:rPr lang="en-US" dirty="0"/>
              <a:t> ne </a:t>
            </a:r>
            <a:r>
              <a:rPr lang="en-US" dirty="0" err="1"/>
              <a:t>učestvuje</a:t>
            </a:r>
            <a:r>
              <a:rPr lang="en-US" dirty="0"/>
              <a:t> u </a:t>
            </a:r>
            <a:r>
              <a:rPr lang="en-US" dirty="0" err="1"/>
              <a:t>samom</a:t>
            </a:r>
            <a:r>
              <a:rPr lang="en-US" dirty="0"/>
              <a:t> </a:t>
            </a:r>
            <a:r>
              <a:rPr lang="en-US" dirty="0" err="1"/>
              <a:t>računanju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komunikacioni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uređaja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cloud-a. </a:t>
            </a:r>
          </a:p>
          <a:p>
            <a:r>
              <a:rPr lang="en-US" dirty="0"/>
              <a:t>On prima </a:t>
            </a:r>
            <a:r>
              <a:rPr lang="en-US" dirty="0" err="1"/>
              <a:t>telemetriju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uređaja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opterećenje</a:t>
            </a:r>
            <a:r>
              <a:rPr lang="en-US" dirty="0"/>
              <a:t>, status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metričke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, cloud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konfiguracione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uređaj</a:t>
            </a:r>
            <a:r>
              <a:rPr lang="en-US" dirty="0"/>
              <a:t>. </a:t>
            </a:r>
          </a:p>
          <a:p>
            <a:r>
              <a:rPr lang="en-US" dirty="0"/>
              <a:t>To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stvari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veličina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 u </a:t>
            </a:r>
            <a:r>
              <a:rPr lang="en-US" dirty="0" err="1"/>
              <a:t>optimizaciji</a:t>
            </a:r>
            <a:r>
              <a:rPr lang="en-US" dirty="0"/>
              <a:t>, </a:t>
            </a:r>
            <a:r>
              <a:rPr lang="en-US" dirty="0" err="1"/>
              <a:t>preciznost</a:t>
            </a:r>
            <a:r>
              <a:rPr lang="en-US" dirty="0"/>
              <a:t> </a:t>
            </a:r>
            <a:r>
              <a:rPr lang="en-US" dirty="0" err="1"/>
              <a:t>računanja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runtime </a:t>
            </a:r>
            <a:r>
              <a:rPr lang="en-US" dirty="0" err="1"/>
              <a:t>parametri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Na taj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uređaj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dinamički</a:t>
            </a:r>
            <a:r>
              <a:rPr lang="en-US" dirty="0"/>
              <a:t> da </a:t>
            </a:r>
            <a:r>
              <a:rPr lang="en-US" dirty="0" err="1"/>
              <a:t>menja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ponovnim</a:t>
            </a:r>
            <a:r>
              <a:rPr lang="en-US" dirty="0"/>
              <a:t> deploy-om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ručnom</a:t>
            </a:r>
            <a:r>
              <a:rPr lang="en-US" dirty="0"/>
              <a:t> </a:t>
            </a:r>
            <a:r>
              <a:rPr lang="en-US" dirty="0" err="1"/>
              <a:t>intervencijom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2A585-52AB-A011-FBF7-F5DD1BD20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90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3ED6-5914-15BE-D7BE-A76DE4A3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4F021-202D-E937-A162-0FD1EA300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F2CC8-9095-D514-149E-FA7BF817B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Zamislimo</a:t>
            </a:r>
            <a:r>
              <a:rPr lang="en-US" dirty="0"/>
              <a:t> </a:t>
            </a:r>
            <a:r>
              <a:rPr lang="en-US" dirty="0" err="1"/>
              <a:t>industrijski</a:t>
            </a:r>
            <a:r>
              <a:rPr lang="en-US" dirty="0"/>
              <a:t> scenario, </a:t>
            </a:r>
            <a:r>
              <a:rPr lang="en-US" dirty="0" err="1"/>
              <a:t>na</a:t>
            </a:r>
            <a:r>
              <a:rPr lang="en-US" dirty="0"/>
              <a:t> primer </a:t>
            </a:r>
            <a:r>
              <a:rPr lang="en-US" dirty="0" err="1"/>
              <a:t>mašinu</a:t>
            </a:r>
            <a:r>
              <a:rPr lang="en-US" dirty="0"/>
              <a:t> u </a:t>
            </a:r>
            <a:r>
              <a:rPr lang="en-US" dirty="0" err="1"/>
              <a:t>fabrici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senzore</a:t>
            </a:r>
            <a:r>
              <a:rPr lang="en-US" dirty="0"/>
              <a:t> za </a:t>
            </a:r>
            <a:r>
              <a:rPr lang="en-US" dirty="0" err="1"/>
              <a:t>vibracije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Ti </a:t>
            </a:r>
            <a:r>
              <a:rPr lang="en-US" dirty="0" err="1"/>
              <a:t>senzori</a:t>
            </a:r>
            <a:r>
              <a:rPr lang="en-US" dirty="0"/>
              <a:t>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generišu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umesto</a:t>
            </a:r>
            <a:r>
              <a:rPr lang="en-US" dirty="0"/>
              <a:t> da se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sirovi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šalju</a:t>
            </a:r>
            <a:r>
              <a:rPr lang="en-US" dirty="0"/>
              <a:t> u cloud, oni se </a:t>
            </a: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obrađuju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IoT edge </a:t>
            </a:r>
            <a:r>
              <a:rPr lang="en-US" dirty="0" err="1"/>
              <a:t>uređaju</a:t>
            </a:r>
            <a:r>
              <a:rPr lang="en-US" dirty="0"/>
              <a:t> koji je </a:t>
            </a:r>
            <a:r>
              <a:rPr lang="en-US" dirty="0" err="1"/>
              <a:t>povezan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tom </a:t>
            </a:r>
            <a:r>
              <a:rPr lang="en-US" dirty="0" err="1"/>
              <a:t>mašinom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Na tom </a:t>
            </a:r>
            <a:r>
              <a:rPr lang="en-US" dirty="0" err="1"/>
              <a:t>uređaju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ML model za </a:t>
            </a:r>
            <a:r>
              <a:rPr lang="en-US" dirty="0" err="1"/>
              <a:t>detekciju</a:t>
            </a:r>
            <a:r>
              <a:rPr lang="en-US" dirty="0"/>
              <a:t> </a:t>
            </a:r>
            <a:r>
              <a:rPr lang="en-US" dirty="0" err="1"/>
              <a:t>anomalija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MatMul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u </a:t>
            </a:r>
            <a:r>
              <a:rPr lang="en-US" dirty="0" err="1"/>
              <a:t>inferenciji</a:t>
            </a:r>
            <a:r>
              <a:rPr lang="en-US" dirty="0"/>
              <a:t> — </a:t>
            </a:r>
            <a:r>
              <a:rPr lang="en-US" dirty="0" err="1"/>
              <a:t>na</a:t>
            </a:r>
            <a:r>
              <a:rPr lang="en-US" dirty="0"/>
              <a:t> primer u </a:t>
            </a:r>
            <a:r>
              <a:rPr lang="en-US" dirty="0" err="1"/>
              <a:t>jednostavnoj</a:t>
            </a:r>
            <a:r>
              <a:rPr lang="en-US" dirty="0"/>
              <a:t> </a:t>
            </a:r>
            <a:r>
              <a:rPr lang="en-US" dirty="0" err="1"/>
              <a:t>neuralnoj</a:t>
            </a:r>
            <a:r>
              <a:rPr lang="en-US" dirty="0"/>
              <a:t> </a:t>
            </a:r>
            <a:r>
              <a:rPr lang="en-US" dirty="0" err="1"/>
              <a:t>mreži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procenjuje</a:t>
            </a:r>
            <a:r>
              <a:rPr lang="en-US" dirty="0"/>
              <a:t> da li je </a:t>
            </a:r>
            <a:r>
              <a:rPr lang="en-US" dirty="0" err="1"/>
              <a:t>ponašanje</a:t>
            </a:r>
            <a:r>
              <a:rPr lang="en-US" dirty="0"/>
              <a:t> </a:t>
            </a:r>
            <a:r>
              <a:rPr lang="en-US" dirty="0" err="1"/>
              <a:t>mašine</a:t>
            </a:r>
            <a:r>
              <a:rPr lang="en-US" dirty="0"/>
              <a:t> </a:t>
            </a:r>
            <a:r>
              <a:rPr lang="en-US" dirty="0" err="1"/>
              <a:t>normalno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odstupa</a:t>
            </a:r>
            <a:r>
              <a:rPr lang="en-US" dirty="0"/>
              <a:t> od </a:t>
            </a:r>
            <a:r>
              <a:rPr lang="en-US" dirty="0" err="1"/>
              <a:t>očekivanog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, u cloud se ne </a:t>
            </a:r>
            <a:r>
              <a:rPr lang="en-US" dirty="0" err="1"/>
              <a:t>šalju</a:t>
            </a:r>
            <a:r>
              <a:rPr lang="en-US" dirty="0"/>
              <a:t> </a:t>
            </a:r>
            <a:r>
              <a:rPr lang="en-US" dirty="0" err="1"/>
              <a:t>sirovi</a:t>
            </a:r>
            <a:r>
              <a:rPr lang="en-US" dirty="0"/>
              <a:t> </a:t>
            </a:r>
            <a:r>
              <a:rPr lang="en-US" dirty="0" err="1"/>
              <a:t>signali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primer: “</a:t>
            </a:r>
            <a:r>
              <a:rPr lang="en-US" dirty="0" err="1"/>
              <a:t>normalan</a:t>
            </a:r>
            <a:r>
              <a:rPr lang="en-US" dirty="0"/>
              <a:t> rad” </a:t>
            </a:r>
            <a:r>
              <a:rPr lang="en-US" dirty="0" err="1"/>
              <a:t>ili</a:t>
            </a:r>
            <a:r>
              <a:rPr lang="en-US" dirty="0"/>
              <a:t> “</a:t>
            </a:r>
            <a:r>
              <a:rPr lang="en-US" dirty="0" err="1"/>
              <a:t>detektovana</a:t>
            </a:r>
            <a:r>
              <a:rPr lang="en-US" dirty="0"/>
              <a:t> </a:t>
            </a:r>
            <a:r>
              <a:rPr lang="en-US" dirty="0" err="1"/>
              <a:t>anomalija</a:t>
            </a:r>
            <a:r>
              <a:rPr lang="en-US" dirty="0"/>
              <a:t>”. </a:t>
            </a:r>
          </a:p>
          <a:p>
            <a:r>
              <a:rPr lang="en-US" dirty="0"/>
              <a:t>To </a:t>
            </a:r>
            <a:r>
              <a:rPr lang="en-US" dirty="0" err="1"/>
              <a:t>drastično</a:t>
            </a:r>
            <a:r>
              <a:rPr lang="en-US" dirty="0"/>
              <a:t> </a:t>
            </a:r>
            <a:r>
              <a:rPr lang="en-US" dirty="0" err="1"/>
              <a:t>smanjuje</a:t>
            </a:r>
            <a:r>
              <a:rPr lang="en-US" dirty="0"/>
              <a:t> </a:t>
            </a:r>
            <a:r>
              <a:rPr lang="en-US" dirty="0" err="1"/>
              <a:t>količinu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mrežni</a:t>
            </a:r>
            <a:r>
              <a:rPr lang="en-US" dirty="0"/>
              <a:t> </a:t>
            </a:r>
            <a:r>
              <a:rPr lang="en-US" dirty="0" err="1"/>
              <a:t>saobraćaj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Azure IoT Hub 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sistemu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kontrolni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. </a:t>
            </a:r>
          </a:p>
          <a:p>
            <a:r>
              <a:rPr lang="en-US" dirty="0"/>
              <a:t>On </a:t>
            </a:r>
            <a:r>
              <a:rPr lang="en-US" dirty="0" err="1"/>
              <a:t>omogućava</a:t>
            </a:r>
            <a:r>
              <a:rPr lang="en-US" dirty="0"/>
              <a:t> da se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clouda</a:t>
            </a:r>
            <a:r>
              <a:rPr lang="en-US" dirty="0"/>
              <a:t>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uređaja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po </a:t>
            </a:r>
            <a:r>
              <a:rPr lang="en-US" dirty="0" err="1"/>
              <a:t>potrebi</a:t>
            </a:r>
            <a:r>
              <a:rPr lang="en-US" dirty="0"/>
              <a:t> </a:t>
            </a:r>
            <a:r>
              <a:rPr lang="en-US" dirty="0" err="1"/>
              <a:t>menja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rada. </a:t>
            </a:r>
          </a:p>
          <a:p>
            <a:r>
              <a:rPr lang="en-US" dirty="0"/>
              <a:t>Na primer,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uređaj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veliko</a:t>
            </a:r>
            <a:r>
              <a:rPr lang="en-US" dirty="0"/>
              <a:t> </a:t>
            </a:r>
            <a:r>
              <a:rPr lang="en-US" dirty="0" err="1"/>
              <a:t>opterećenje</a:t>
            </a:r>
            <a:r>
              <a:rPr lang="en-US" dirty="0"/>
              <a:t>, </a:t>
            </a:r>
            <a:r>
              <a:rPr lang="en-US" dirty="0" err="1"/>
              <a:t>može</a:t>
            </a:r>
            <a:r>
              <a:rPr lang="en-US" dirty="0"/>
              <a:t> se </a:t>
            </a:r>
            <a:r>
              <a:rPr lang="en-US" dirty="0" err="1"/>
              <a:t>smanjiti</a:t>
            </a:r>
            <a:r>
              <a:rPr lang="en-US" dirty="0"/>
              <a:t> </a:t>
            </a:r>
            <a:r>
              <a:rPr lang="en-US" dirty="0" err="1"/>
              <a:t>preciznost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povećati</a:t>
            </a:r>
            <a:r>
              <a:rPr lang="en-US" dirty="0"/>
              <a:t> interval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ostao</a:t>
            </a:r>
            <a:r>
              <a:rPr lang="en-US" dirty="0"/>
              <a:t> </a:t>
            </a:r>
            <a:r>
              <a:rPr lang="en-US" dirty="0" err="1"/>
              <a:t>stabilan</a:t>
            </a:r>
            <a:r>
              <a:rPr lang="en-US" dirty="0"/>
              <a:t>.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892D-B563-F702-687E-9849AE4F2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97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6E0C-2242-0F4A-6573-4275A4D8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953BE-509C-4D54-7985-EBF0E2CCB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EA464-921A-D243-09B0-23FEE0140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9966B-8BCF-5B59-91B2-A3FA54FFE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8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FF85F5-1184-4151-8EF8-91EBDE176C9C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42D4E8-6DB7-4E40-A888-500F322235B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18C9E7-A05E-4BAD-A3EA-2D652C146E5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78632-1E9D-4799-A65A-C2C990E3337D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FE3DE-923D-41EB-951A-75A1871CB8B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6C18A-7F89-4A55-B577-3DE9C15240B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07D907-D7C1-4973-A3B7-D3C1F849AEE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E0A8AF-BC10-4AFA-B17A-58D586609A3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722356-84BA-4E17-AF7E-958162FAE11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DED8CE-04C9-443A-8252-266CDD03F48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2B280-1C84-4BE3-93CA-AB404CF5D62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E285B2-B07D-4F0B-B0AC-395D8322C4D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64AA4E-F027-4996-88B7-C92773AF70D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nn253109m@student.etf.bg.ac.rs" TargetMode="External"/><Relationship Id="rId2" Type="http://schemas.openxmlformats.org/officeDocument/2006/relationships/hyperlink" Target="mailto:sp253068m@student.etf.bg.ac.rs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00000" y="492840"/>
            <a:ext cx="1079964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r>
              <a:rPr lang="en-US" sz="4650" b="0" u="none" strike="noStrike" dirty="0">
                <a:effectLst/>
                <a:uFillTx/>
                <a:latin typeface="Aptos Display"/>
              </a:rPr>
              <a:t>Множење </a:t>
            </a:r>
            <a:r>
              <a:rPr lang="en-US" sz="4650" b="0" u="none" strike="noStrike" dirty="0" err="1">
                <a:effectLst/>
                <a:uFillTx/>
                <a:latin typeface="Aptos Display"/>
              </a:rPr>
              <a:t>матрица</a:t>
            </a:r>
            <a:r>
              <a:rPr lang="en-US" sz="4650" dirty="0"/>
              <a:t> </a:t>
            </a:r>
            <a:r>
              <a:rPr lang="en-US" sz="4650" dirty="0" err="1"/>
              <a:t>на</a:t>
            </a:r>
            <a:r>
              <a:rPr lang="en-US" sz="4650" dirty="0"/>
              <a:t> IoT </a:t>
            </a:r>
            <a:r>
              <a:rPr lang="en-US" sz="4650" dirty="0" err="1"/>
              <a:t>уређајима</a:t>
            </a:r>
            <a:r>
              <a:rPr lang="en-US" sz="4650" b="0" u="none" strike="noStrike" dirty="0">
                <a:effectLst/>
                <a:uFillTx/>
                <a:latin typeface="Aptos Display"/>
              </a:rPr>
              <a:t> –</a:t>
            </a:r>
            <a:r>
              <a:rPr lang="en-US" sz="4650" dirty="0"/>
              <a:t> Edge Computing </a:t>
            </a:r>
            <a:r>
              <a:rPr lang="en-US" sz="4650" dirty="0" err="1"/>
              <a:t>парадигма</a:t>
            </a:r>
            <a:r>
              <a:rPr lang="en-US" sz="4650" dirty="0"/>
              <a:t>, Azure IoT Hub </a:t>
            </a:r>
            <a:r>
              <a:rPr lang="en-US" sz="4650" dirty="0" err="1"/>
              <a:t>технологија</a:t>
            </a:r>
            <a:r>
              <a:rPr lang="en-US" sz="4650" dirty="0"/>
              <a:t> </a:t>
            </a:r>
            <a:endParaRPr lang="en-US" sz="4650" b="0" u="none" strike="noStrike" dirty="0"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80000" y="4500000"/>
            <a:ext cx="9899640" cy="16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2"/>
          <a:stretch/>
        </p:blipFill>
        <p:spPr>
          <a:xfrm>
            <a:off x="5400000" y="2880000"/>
            <a:ext cx="1425960" cy="17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74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A4C668DB-1700-445D-910E-A346D4DDE69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6441-09D1-AC5B-683B-B1783F21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22CA69E-D272-9472-DC0D-E29F56D8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IoT </a:t>
            </a:r>
            <a:r>
              <a:rPr lang="en-US" dirty="0" err="1"/>
              <a:t>уређаји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C0DCE58-7513-BD08-2426-284ADE3FAC4D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 descr="A group of icons of different types of objects&#10;&#10;AI-generated content may be incorrect.">
            <a:extLst>
              <a:ext uri="{FF2B5EF4-FFF2-40B4-BE49-F238E27FC236}">
                <a16:creationId xmlns:a16="http://schemas.microsoft.com/office/drawing/2014/main" id="{DD6ABC70-DCCA-286A-0D7E-99855FB03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46" y="1687126"/>
            <a:ext cx="7268308" cy="404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5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Ограничења</a:t>
            </a:r>
            <a:r>
              <a:rPr lang="en-US" dirty="0"/>
              <a:t> IoT </a:t>
            </a:r>
            <a:r>
              <a:rPr lang="en-US" dirty="0" err="1"/>
              <a:t>уређаја</a:t>
            </a: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Ограничен</a:t>
            </a:r>
            <a:r>
              <a:rPr lang="en-US" sz="2800" dirty="0">
                <a:latin typeface="Aptos"/>
              </a:rPr>
              <a:t> CPU (ARM, </a:t>
            </a:r>
            <a:r>
              <a:rPr lang="en-US" sz="2800" i="1" dirty="0">
                <a:latin typeface="Aptos"/>
              </a:rPr>
              <a:t>low-power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архитектуре</a:t>
            </a:r>
            <a:r>
              <a:rPr lang="en-US" sz="2800" dirty="0">
                <a:latin typeface="Aptos"/>
              </a:rPr>
              <a:t>)</a:t>
            </a:r>
            <a:endParaRPr lang="en-US" dirty="0"/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Ограничена</a:t>
            </a:r>
            <a:r>
              <a:rPr lang="en-US" sz="2800" dirty="0">
                <a:latin typeface="Aptos"/>
              </a:rPr>
              <a:t> RAM </a:t>
            </a:r>
            <a:r>
              <a:rPr lang="en-US" sz="2800" dirty="0" err="1">
                <a:latin typeface="Aptos"/>
              </a:rPr>
              <a:t>меморија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Латенција </a:t>
            </a:r>
            <a:r>
              <a:rPr lang="en-US" sz="2800" dirty="0" err="1">
                <a:latin typeface="Aptos"/>
              </a:rPr>
              <a:t>при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комуникацији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са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cloud</a:t>
            </a:r>
            <a:r>
              <a:rPr lang="en-US" sz="2800" dirty="0">
                <a:latin typeface="Aptos"/>
              </a:rPr>
              <a:t>-</a:t>
            </a:r>
            <a:r>
              <a:rPr lang="en-US" sz="2800" dirty="0" err="1">
                <a:latin typeface="Aptos"/>
              </a:rPr>
              <a:t>ом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Множење </a:t>
            </a:r>
            <a:r>
              <a:rPr lang="en-US" sz="2800" dirty="0" err="1">
                <a:latin typeface="Aptos"/>
              </a:rPr>
              <a:t>матрица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је</a:t>
            </a:r>
            <a:r>
              <a:rPr lang="en-US" sz="2800" dirty="0">
                <a:latin typeface="Aptos"/>
              </a:rPr>
              <a:t> O(n</a:t>
            </a:r>
            <a:r>
              <a:rPr lang="en-US" sz="2800" baseline="30000" dirty="0">
                <a:latin typeface="Aptos"/>
              </a:rPr>
              <a:t>3</a:t>
            </a:r>
            <a:r>
              <a:rPr lang="en-US" sz="2800" dirty="0">
                <a:latin typeface="Aptos"/>
              </a:rPr>
              <a:t>) у </a:t>
            </a:r>
            <a:r>
              <a:rPr lang="en-US" sz="2800" dirty="0" err="1">
                <a:latin typeface="Aptos"/>
              </a:rPr>
              <a:t>својој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наивној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имплементацији</a:t>
            </a:r>
            <a:endParaRPr lang="en-US" sz="2800" baseline="30000" dirty="0" err="1">
              <a:latin typeface="Apto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C052-4039-5BF4-F629-7E593A62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E280F95-5F38-F69F-15C6-F4440F35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Како </a:t>
            </a:r>
            <a:r>
              <a:rPr lang="en-US" dirty="0" err="1"/>
              <a:t>убрзати</a:t>
            </a:r>
            <a:r>
              <a:rPr lang="en-US" dirty="0"/>
              <a:t> </a:t>
            </a:r>
            <a:r>
              <a:rPr lang="en-US" dirty="0" err="1"/>
              <a:t>множење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?</a:t>
            </a:r>
          </a:p>
        </p:txBody>
      </p:sp>
      <p:pic>
        <p:nvPicPr>
          <p:cNvPr id="2" name="Content Placeholder 1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6304373F-E1E9-FE90-DB45-BA990C426896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769706" y="1397546"/>
            <a:ext cx="8663353" cy="489010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C7E0433-5507-B91C-CAB0-DEDFB4A8B701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416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7404-B5E0-30C5-948B-56784443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B281BF7-8EB1-2F78-A01F-C6E58EE8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Како </a:t>
            </a:r>
            <a:r>
              <a:rPr lang="en-US" dirty="0" err="1"/>
              <a:t>убрзати</a:t>
            </a:r>
            <a:r>
              <a:rPr lang="en-US" dirty="0"/>
              <a:t> </a:t>
            </a:r>
            <a:r>
              <a:rPr lang="en-US" dirty="0" err="1"/>
              <a:t>множење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?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1DE47E3B-E7D7-B2F2-3D01-7A19DD38721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Алгоритамске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оптимизације</a:t>
            </a:r>
            <a:r>
              <a:rPr lang="en-US" sz="2800" dirty="0">
                <a:latin typeface="Aptos"/>
              </a:rPr>
              <a:t> (</a:t>
            </a:r>
            <a:r>
              <a:rPr lang="en-US" sz="2800" i="1" dirty="0">
                <a:latin typeface="Aptos"/>
              </a:rPr>
              <a:t>tiling</a:t>
            </a:r>
            <a:r>
              <a:rPr lang="en-US" sz="2800" dirty="0">
                <a:latin typeface="Aptos"/>
              </a:rPr>
              <a:t>)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SIMD </a:t>
            </a:r>
            <a:r>
              <a:rPr lang="en-US" sz="2800" dirty="0" err="1">
                <a:latin typeface="Aptos"/>
              </a:rPr>
              <a:t>инструкције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Квантизација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BLAS / </a:t>
            </a:r>
            <a:r>
              <a:rPr lang="en-US" sz="2800" dirty="0" err="1">
                <a:latin typeface="Aptos"/>
              </a:rPr>
              <a:t>оптимизоване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библиотеке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Edge Inference</a:t>
            </a:r>
            <a:r>
              <a:rPr lang="en-US" sz="2800" dirty="0">
                <a:latin typeface="Aptos"/>
              </a:rPr>
              <a:t> </a:t>
            </a:r>
            <a:r>
              <a:rPr lang="en-US" sz="2800" err="1">
                <a:latin typeface="Aptos"/>
              </a:rPr>
              <a:t>оптимизације</a:t>
            </a:r>
            <a:endParaRPr lang="en-US" sz="280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0606403-E217-8E2C-EA60-2406BF66FCB5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84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F927-B49D-FAC8-4EFA-DFBF4BF9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253497D3-EEF6-DFD2-1B85-EEEAAD65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Алгоритамска</a:t>
            </a:r>
            <a:r>
              <a:rPr lang="en-US" dirty="0"/>
              <a:t> </a:t>
            </a:r>
            <a:r>
              <a:rPr lang="en-US" dirty="0" err="1"/>
              <a:t>оптимизација</a:t>
            </a:r>
            <a:r>
              <a:rPr lang="en-US" dirty="0"/>
              <a:t> (</a:t>
            </a:r>
            <a:r>
              <a:rPr lang="en-US" i="1" dirty="0"/>
              <a:t>tiling</a:t>
            </a:r>
            <a:r>
              <a:rPr lang="en-US" dirty="0"/>
              <a:t>)</a:t>
            </a:r>
          </a:p>
        </p:txBody>
      </p:sp>
      <p:pic>
        <p:nvPicPr>
          <p:cNvPr id="2" name="Content Placeholder 1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9DA764C1-88C4-DB24-0A8E-43FE708B205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885470" y="1866990"/>
            <a:ext cx="8420100" cy="41814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C25AB2BE-7797-976E-62B1-C65C888878DF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76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88EF-84E9-FF1B-4EBD-8C5E332C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CA0F0DD4-76D7-E944-A654-26249DCC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IoT </a:t>
            </a:r>
            <a:r>
              <a:rPr lang="en-US" dirty="0" err="1"/>
              <a:t>уређаји</a:t>
            </a:r>
            <a:r>
              <a:rPr lang="en-US" dirty="0"/>
              <a:t> </a:t>
            </a:r>
            <a:r>
              <a:rPr lang="en-US" dirty="0" err="1"/>
              <a:t>уз</a:t>
            </a:r>
            <a:r>
              <a:rPr lang="en-US" dirty="0"/>
              <a:t> Azure IoT Hub</a:t>
            </a:r>
          </a:p>
        </p:txBody>
      </p:sp>
      <p:pic>
        <p:nvPicPr>
          <p:cNvPr id="2" name="Content Placeholder 1" descr="A diagram of a cloud with a cloud and devices&#10;&#10;AI-generated content may be incorrect.">
            <a:extLst>
              <a:ext uri="{FF2B5EF4-FFF2-40B4-BE49-F238E27FC236}">
                <a16:creationId xmlns:a16="http://schemas.microsoft.com/office/drawing/2014/main" id="{3FEFDFB6-9BC8-9A8F-246C-08AB50221F0B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899622" y="1281473"/>
            <a:ext cx="4391797" cy="428547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8AE31FF-50C2-2435-BEEC-38AD070E3A3F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84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2149-F7C1-FFE3-6E11-101330C1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8FC99E4-02FE-252B-CEE6-468704C9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IoT </a:t>
            </a:r>
            <a:r>
              <a:rPr lang="en-US" dirty="0" err="1"/>
              <a:t>уређаји</a:t>
            </a:r>
            <a:r>
              <a:rPr lang="en-US" dirty="0"/>
              <a:t> </a:t>
            </a:r>
            <a:r>
              <a:rPr lang="en-US" dirty="0" err="1"/>
              <a:t>уз</a:t>
            </a:r>
            <a:r>
              <a:rPr lang="en-US" dirty="0"/>
              <a:t> Azure IoT Hub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94E284F6-F9A5-7CFE-0C8C-6F32450F420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IoT </a:t>
            </a:r>
            <a:r>
              <a:rPr lang="en-US" sz="2800" dirty="0" err="1">
                <a:latin typeface="Aptos"/>
              </a:rPr>
              <a:t>уређај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множи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матрице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локално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Azure IoT Hub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прима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телеметрију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Cloud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шаље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конфигурације</a:t>
            </a:r>
            <a:r>
              <a:rPr lang="en-US" sz="2800" dirty="0">
                <a:latin typeface="Aptos"/>
              </a:rPr>
              <a:t> (</a:t>
            </a:r>
            <a:r>
              <a:rPr lang="en-US" sz="2800" dirty="0" err="1">
                <a:latin typeface="Aptos"/>
              </a:rPr>
              <a:t>величину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блока</a:t>
            </a:r>
            <a:r>
              <a:rPr lang="en-US" sz="2800" dirty="0">
                <a:latin typeface="Aptos"/>
              </a:rPr>
              <a:t>, </a:t>
            </a:r>
            <a:r>
              <a:rPr lang="en-US" sz="2800" dirty="0" err="1">
                <a:latin typeface="Aptos"/>
              </a:rPr>
              <a:t>прецизност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итд</a:t>
            </a:r>
            <a:r>
              <a:rPr lang="en-US" sz="2800" dirty="0">
                <a:latin typeface="Aptos"/>
              </a:rPr>
              <a:t>.)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Edge </a:t>
            </a:r>
            <a:r>
              <a:rPr lang="en-US" sz="2800" dirty="0" err="1">
                <a:latin typeface="Aptos"/>
              </a:rPr>
              <a:t>уређај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оптимизује</a:t>
            </a:r>
            <a:r>
              <a:rPr lang="en-US" sz="2800" dirty="0">
                <a:latin typeface="Aptos"/>
              </a:rPr>
              <a:t> </a:t>
            </a:r>
            <a:r>
              <a:rPr lang="en-US" sz="2800" i="1" dirty="0">
                <a:latin typeface="Aptos"/>
              </a:rPr>
              <a:t>runtime </a:t>
            </a:r>
            <a:r>
              <a:rPr lang="en-US" sz="2800" dirty="0" err="1">
                <a:latin typeface="Aptos"/>
              </a:rPr>
              <a:t>динамички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A336DF-BB3A-5EA7-7DF6-3C19210D223A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333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3277-C66D-FDE8-BBC9-12A67AEF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3D22FB-A19B-5BEB-A9F4-04BE2580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IoT </a:t>
            </a:r>
            <a:r>
              <a:rPr lang="en-US" dirty="0" err="1"/>
              <a:t>уређаји</a:t>
            </a:r>
            <a:r>
              <a:rPr lang="en-US" dirty="0"/>
              <a:t> </a:t>
            </a:r>
            <a:r>
              <a:rPr lang="en-US" dirty="0" err="1"/>
              <a:t>уз</a:t>
            </a:r>
            <a:r>
              <a:rPr lang="en-US" dirty="0"/>
              <a:t> Azure IoT Hub - </a:t>
            </a:r>
            <a:r>
              <a:rPr lang="en-US" dirty="0" err="1"/>
              <a:t>пример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74CD77DD-A24A-4EE5-DC7B-B4AED71F6C9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Сензори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за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вибрације</a:t>
            </a:r>
            <a:r>
              <a:rPr lang="en-US" sz="2800" dirty="0">
                <a:latin typeface="Aptos"/>
              </a:rPr>
              <a:t> и </a:t>
            </a:r>
            <a:r>
              <a:rPr lang="en-US" sz="2800" dirty="0" err="1">
                <a:latin typeface="Aptos"/>
              </a:rPr>
              <a:t>температуру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Локално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извршавање</a:t>
            </a:r>
            <a:r>
              <a:rPr lang="en-US" sz="2800" dirty="0">
                <a:latin typeface="Aptos"/>
              </a:rPr>
              <a:t> ML </a:t>
            </a:r>
            <a:r>
              <a:rPr lang="en-US" sz="2800" dirty="0" err="1">
                <a:latin typeface="Aptos"/>
              </a:rPr>
              <a:t>модела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детекцију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аномалија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Слање </a:t>
            </a:r>
            <a:r>
              <a:rPr lang="en-US" sz="2800" dirty="0" err="1">
                <a:latin typeface="Aptos"/>
              </a:rPr>
              <a:t>само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резултата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на</a:t>
            </a:r>
            <a:r>
              <a:rPr lang="en-US" sz="2800" dirty="0">
                <a:latin typeface="Aptos"/>
              </a:rPr>
              <a:t> </a:t>
            </a:r>
            <a:r>
              <a:rPr lang="en-US" sz="2800" i="1" dirty="0">
                <a:latin typeface="Aptos"/>
              </a:rPr>
              <a:t>cloud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i="1" dirty="0">
                <a:latin typeface="Aptos"/>
              </a:rPr>
              <a:t>Azure IoT Hub </a:t>
            </a:r>
            <a:r>
              <a:rPr lang="en-US" sz="2800" dirty="0" err="1">
                <a:latin typeface="Aptos"/>
              </a:rPr>
              <a:t>шаље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ажурирану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конфигурацију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на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уређај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65BC86F-3A8A-DA19-D20F-AFE24FB2A158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sr-Latn-RS" sz="2400">
                <a:solidFill>
                  <a:srgbClr val="000000"/>
                </a:solidFill>
                <a:latin typeface="Times New Roman"/>
              </a:rPr>
              <a:t>9/12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677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51B6-9A81-23CC-E906-A423D546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DDD2BE04-7101-69A1-A822-5A0549A5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IoT </a:t>
            </a:r>
            <a:r>
              <a:rPr lang="en-US" dirty="0" err="1"/>
              <a:t>уређаји</a:t>
            </a:r>
            <a:r>
              <a:rPr lang="en-US" dirty="0"/>
              <a:t> </a:t>
            </a:r>
            <a:r>
              <a:rPr lang="en-US" dirty="0" err="1"/>
              <a:t>уз</a:t>
            </a:r>
            <a:r>
              <a:rPr lang="en-US" dirty="0"/>
              <a:t> Azure IoT Hub - </a:t>
            </a:r>
            <a:r>
              <a:rPr lang="en-US" dirty="0" err="1"/>
              <a:t>пример</a:t>
            </a:r>
          </a:p>
        </p:txBody>
      </p:sp>
      <p:pic>
        <p:nvPicPr>
          <p:cNvPr id="2" name="Content Placeholder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48C05D6-BB99-119B-0C93-412495ECD4BF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834618" y="1444560"/>
            <a:ext cx="6511507" cy="46080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BB7CEA81-B3CE-1366-2B7B-CC0A2452AACB}"/>
              </a:ext>
            </a:extLst>
          </p:cNvPr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sr-Latn-RS" sz="2400">
                <a:solidFill>
                  <a:srgbClr val="000000"/>
                </a:solidFill>
                <a:latin typeface="Times New Roman"/>
              </a:rPr>
              <a:t>10/12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4444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Picture 8" descr="A person in a suit&#10;&#10;AI-generated content may be incorrect."/>
          <p:cNvPicPr/>
          <p:nvPr/>
        </p:nvPicPr>
        <p:blipFill>
          <a:blip r:embed="rId2"/>
          <a:srcRect t="13418" b="13418"/>
          <a:stretch/>
        </p:blipFill>
        <p:spPr>
          <a:xfrm>
            <a:off x="2522520" y="0"/>
            <a:ext cx="96688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66080" cy="6857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72200" y="2016227"/>
            <a:ext cx="4137477" cy="284341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algn="l"/>
            <a:r>
              <a:rPr lang="en-US" sz="2800" i="1" dirty="0"/>
              <a:t>"We are moving from a world where computing power was scarce to one where it will be almost limitless. AI and IoT together will define this new era of intelligent </a:t>
            </a:r>
            <a:r>
              <a:rPr lang="en-US" sz="2800" i="1"/>
              <a:t>technology."</a:t>
            </a:r>
            <a:br>
              <a:rPr lang="en-US" sz="2800" i="1" dirty="0"/>
            </a:br>
            <a:br>
              <a:rPr lang="en-US" sz="2800" i="1" dirty="0"/>
            </a:br>
            <a:r>
              <a:rPr lang="en-US" sz="2800"/>
              <a:t>Satya Nadella, Microsoft CEO</a:t>
            </a:r>
            <a:endParaRPr lang="en-US" dirty="0"/>
          </a:p>
        </p:txBody>
      </p:sp>
      <p:sp>
        <p:nvSpPr>
          <p:cNvPr id="108" name="TextBox 6"/>
          <p:cNvSpPr/>
          <p:nvPr/>
        </p:nvSpPr>
        <p:spPr>
          <a:xfrm>
            <a:off x="3047040" y="3246840"/>
            <a:ext cx="6093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1CAEAE6D-6BF6-4E26-BB35-449EF0216C9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719640"/>
            <a:ext cx="9143280" cy="23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523880" y="3156480"/>
            <a:ext cx="9143280" cy="254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3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6550E89D-A6E0-4760-80C5-ABD54FACAA2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398</Words>
  <Application>Microsoft Office PowerPoint</Application>
  <PresentationFormat>Widescreen</PresentationFormat>
  <Paragraphs>79</Paragraphs>
  <Slides>12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Множење матрица на IoT уређајима – Edge Computing парадигма, Azure IoT Hub технологија </vt:lpstr>
      <vt:lpstr>IoT уређаји</vt:lpstr>
      <vt:lpstr>Ограничења IoT уређаја</vt:lpstr>
      <vt:lpstr>Како убрзати множење матрица?</vt:lpstr>
      <vt:lpstr>Како убрзати множење матрица?</vt:lpstr>
      <vt:lpstr>Алгоритамска оптимизација (tiling)</vt:lpstr>
      <vt:lpstr>IoT уређаји уз Azure IoT Hub</vt:lpstr>
      <vt:lpstr>IoT уређаји уз Azure IoT Hub</vt:lpstr>
      <vt:lpstr>IoT уређаји уз Azure IoT Hub - пример</vt:lpstr>
      <vt:lpstr>IoT уређаји уз Azure IoT Hub - пример</vt:lpstr>
      <vt:lpstr>"We are moving from a world where computing power was scarce to one where it will be almost limitless. AI and IoT together will define this new era of intelligent technology."  Satya Nadella, Microsoft CEO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Никола Николић</dc:creator>
  <dc:description/>
  <cp:lastModifiedBy/>
  <cp:revision>731</cp:revision>
  <dcterms:created xsi:type="dcterms:W3CDTF">2026-05-06T19:08:00Z</dcterms:created>
  <dcterms:modified xsi:type="dcterms:W3CDTF">2026-05-29T12:59:09Z</dcterms:modified>
  <dc:language>sr-Latn-RS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