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81" r:id="rId4"/>
    <p:sldId id="289" r:id="rId5"/>
    <p:sldId id="290" r:id="rId6"/>
    <p:sldId id="291" r:id="rId7"/>
    <p:sldId id="292" r:id="rId8"/>
    <p:sldId id="293" r:id="rId9"/>
    <p:sldId id="265" r:id="rId10"/>
    <p:sldId id="266" r:id="rId11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0594C6-91E8-00E8-E5FA-787D0A8A6A08}" v="1739" dt="2026-06-19T13:58:02.3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C382D-3878-48DB-90A3-A21B3898E5EA}" type="datetimeFigureOut"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EC119-86D4-419D-A1D4-5F1C40B2E8B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18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Prvi </a:t>
            </a:r>
            <a:r>
              <a:rPr lang="en-US" dirty="0" err="1"/>
              <a:t>korak</a:t>
            </a:r>
            <a:r>
              <a:rPr lang="en-US" dirty="0"/>
              <a:t> je </a:t>
            </a:r>
            <a:r>
              <a:rPr lang="en-US" dirty="0" err="1"/>
              <a:t>identifikacija</a:t>
            </a:r>
            <a:r>
              <a:rPr lang="en-US" dirty="0"/>
              <a:t> </a:t>
            </a:r>
            <a:r>
              <a:rPr lang="en-US" dirty="0" err="1"/>
              <a:t>fizičkog</a:t>
            </a:r>
            <a:r>
              <a:rPr lang="en-US" dirty="0"/>
              <a:t> </a:t>
            </a:r>
            <a:r>
              <a:rPr lang="en-US" dirty="0" err="1"/>
              <a:t>procesa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Kod</a:t>
            </a:r>
            <a:r>
              <a:rPr lang="en-US" dirty="0"/>
              <a:t> DNK </a:t>
            </a:r>
            <a:r>
              <a:rPr lang="en-US" dirty="0" err="1"/>
              <a:t>računanja</a:t>
            </a:r>
            <a:r>
              <a:rPr lang="en-US" dirty="0"/>
              <a:t> </a:t>
            </a:r>
            <a:r>
              <a:rPr lang="en-US" dirty="0" err="1"/>
              <a:t>osnovni</a:t>
            </a:r>
            <a:r>
              <a:rPr lang="en-US" dirty="0"/>
              <a:t> </a:t>
            </a:r>
            <a:r>
              <a:rPr lang="en-US" dirty="0" err="1"/>
              <a:t>procesi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vezivanje</a:t>
            </a:r>
            <a:r>
              <a:rPr lang="en-US" dirty="0"/>
              <a:t> </a:t>
            </a:r>
            <a:r>
              <a:rPr lang="en-US" dirty="0" err="1"/>
              <a:t>komplementarnih</a:t>
            </a:r>
            <a:r>
              <a:rPr lang="en-US" dirty="0"/>
              <a:t> </a:t>
            </a:r>
            <a:r>
              <a:rPr lang="en-US" dirty="0" err="1"/>
              <a:t>sekvenci</a:t>
            </a:r>
            <a:r>
              <a:rPr lang="en-US" dirty="0"/>
              <a:t>, </a:t>
            </a:r>
            <a:r>
              <a:rPr lang="en-US" dirty="0" err="1"/>
              <a:t>poznato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hibridizacija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spajanje</a:t>
            </a:r>
            <a:r>
              <a:rPr lang="en-US" dirty="0"/>
              <a:t> DNK </a:t>
            </a:r>
            <a:r>
              <a:rPr lang="en-US" dirty="0" err="1"/>
              <a:t>lanaca</a:t>
            </a:r>
            <a:r>
              <a:rPr lang="en-US" dirty="0"/>
              <a:t>, </a:t>
            </a:r>
            <a:r>
              <a:rPr lang="en-US" dirty="0" err="1"/>
              <a:t>poznato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ligacija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U </a:t>
            </a:r>
            <a:r>
              <a:rPr lang="en-US" dirty="0" err="1"/>
              <a:t>jednoj</a:t>
            </a:r>
            <a:r>
              <a:rPr lang="en-US" dirty="0"/>
              <a:t> </a:t>
            </a:r>
            <a:r>
              <a:rPr lang="en-US" dirty="0" err="1"/>
              <a:t>epruveti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postojati</a:t>
            </a:r>
            <a:r>
              <a:rPr lang="en-US" dirty="0"/>
              <a:t> </a:t>
            </a:r>
            <a:r>
              <a:rPr lang="en-US" dirty="0" err="1"/>
              <a:t>ogroman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molekula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Svi oni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istovremeno</a:t>
            </a:r>
            <a:r>
              <a:rPr lang="en-US" dirty="0"/>
              <a:t> </a:t>
            </a:r>
            <a:r>
              <a:rPr lang="en-US" dirty="0" err="1"/>
              <a:t>učestvovati</a:t>
            </a:r>
            <a:r>
              <a:rPr lang="en-US" dirty="0"/>
              <a:t> u </a:t>
            </a:r>
            <a:r>
              <a:rPr lang="en-US" dirty="0" err="1"/>
              <a:t>reakcijama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masivan</a:t>
            </a:r>
            <a:r>
              <a:rPr lang="en-US" dirty="0"/>
              <a:t> </a:t>
            </a:r>
            <a:r>
              <a:rPr lang="en-US" dirty="0" err="1"/>
              <a:t>paralelizam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20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0A83D-71BC-2929-C2BC-2BC291BB6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9DD1D-06BE-FE6C-4486-323F75103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A7B62-8E55-0AA0-9329-EFFFFB40E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AE633-C686-31CC-96EB-C65DE2D3E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67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2A897-5E07-CA1B-861B-5229F5C30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BA5B64-F91B-99F2-2E61-F7853F3C8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0A9CF-C5A0-834A-ED3E-0FB39E205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Drugi </a:t>
            </a:r>
            <a:r>
              <a:rPr lang="en-US" dirty="0" err="1"/>
              <a:t>korak</a:t>
            </a:r>
            <a:r>
              <a:rPr lang="en-US" dirty="0"/>
              <a:t> je </a:t>
            </a:r>
            <a:r>
              <a:rPr lang="en-US" dirty="0" err="1"/>
              <a:t>povezivanje</a:t>
            </a:r>
            <a:r>
              <a:rPr lang="en-US" dirty="0"/>
              <a:t> </a:t>
            </a:r>
            <a:r>
              <a:rPr lang="en-US" dirty="0" err="1"/>
              <a:t>fizičkih</a:t>
            </a:r>
            <a:r>
              <a:rPr lang="en-US" dirty="0"/>
              <a:t> </a:t>
            </a:r>
            <a:r>
              <a:rPr lang="en-US" dirty="0" err="1"/>
              <a:t>procesa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matematikom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Elementi</a:t>
            </a:r>
            <a:r>
              <a:rPr lang="en-US" dirty="0"/>
              <a:t> </a:t>
            </a:r>
            <a:r>
              <a:rPr lang="en-US" dirty="0" err="1"/>
              <a:t>matrice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ulaznog</a:t>
            </a:r>
            <a:r>
              <a:rPr lang="en-US" dirty="0"/>
              <a:t> </a:t>
            </a:r>
            <a:r>
              <a:rPr lang="en-US" dirty="0" err="1"/>
              <a:t>vektora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se </a:t>
            </a:r>
            <a:r>
              <a:rPr lang="en-US" dirty="0" err="1"/>
              <a:t>kodirati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DNK </a:t>
            </a:r>
            <a:r>
              <a:rPr lang="en-US" dirty="0" err="1"/>
              <a:t>sekvence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 err="1"/>
              <a:t>Spajanje</a:t>
            </a:r>
            <a:r>
              <a:rPr lang="en-US" dirty="0"/>
              <a:t> </a:t>
            </a:r>
            <a:r>
              <a:rPr lang="en-US" dirty="0" err="1"/>
              <a:t>određenih</a:t>
            </a:r>
            <a:r>
              <a:rPr lang="en-US" dirty="0"/>
              <a:t> </a:t>
            </a:r>
            <a:r>
              <a:rPr lang="en-US" dirty="0" err="1"/>
              <a:t>sekvenci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operaciju</a:t>
            </a:r>
            <a:r>
              <a:rPr lang="en-US" dirty="0"/>
              <a:t> </a:t>
            </a:r>
            <a:r>
              <a:rPr lang="en-US" dirty="0" err="1"/>
              <a:t>množenja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nastalih</a:t>
            </a:r>
            <a:r>
              <a:rPr lang="en-US" dirty="0"/>
              <a:t> </a:t>
            </a:r>
            <a:r>
              <a:rPr lang="en-US" dirty="0" err="1"/>
              <a:t>molekula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njihova</a:t>
            </a:r>
            <a:r>
              <a:rPr lang="en-US" dirty="0"/>
              <a:t> </a:t>
            </a:r>
            <a:r>
              <a:rPr lang="en-US" dirty="0" err="1"/>
              <a:t>koncentracija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predstavljati</a:t>
            </a:r>
            <a:r>
              <a:rPr lang="en-US" dirty="0"/>
              <a:t> </a:t>
            </a:r>
            <a:r>
              <a:rPr lang="en-US" dirty="0" err="1"/>
              <a:t>rezultat</a:t>
            </a:r>
            <a:r>
              <a:rPr lang="en-US" dirty="0"/>
              <a:t> </a:t>
            </a:r>
            <a:r>
              <a:rPr lang="en-US" dirty="0" err="1"/>
              <a:t>sabiranja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Na taj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hemijske</a:t>
            </a:r>
            <a:r>
              <a:rPr lang="en-US" dirty="0"/>
              <a:t> </a:t>
            </a:r>
            <a:r>
              <a:rPr lang="en-US" dirty="0" err="1"/>
              <a:t>reakcije</a:t>
            </a:r>
            <a:r>
              <a:rPr lang="en-US" dirty="0"/>
              <a:t> </a:t>
            </a:r>
            <a:r>
              <a:rPr lang="en-US" dirty="0" err="1"/>
              <a:t>realizuju</a:t>
            </a:r>
            <a:r>
              <a:rPr lang="en-US" dirty="0"/>
              <a:t> </a:t>
            </a:r>
            <a:r>
              <a:rPr lang="en-US" dirty="0" err="1"/>
              <a:t>osnovne</a:t>
            </a:r>
            <a:r>
              <a:rPr lang="en-US" dirty="0"/>
              <a:t> </a:t>
            </a:r>
            <a:r>
              <a:rPr lang="en-US" dirty="0" err="1"/>
              <a:t>operacije</a:t>
            </a:r>
            <a:r>
              <a:rPr lang="en-US" dirty="0"/>
              <a:t> </a:t>
            </a:r>
            <a:r>
              <a:rPr lang="en-US" dirty="0" err="1"/>
              <a:t>potrebne</a:t>
            </a:r>
            <a:r>
              <a:rPr lang="en-US" dirty="0"/>
              <a:t> za </a:t>
            </a:r>
            <a:r>
              <a:rPr lang="en-US" dirty="0" err="1"/>
              <a:t>MatMul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C5BAB-DC5A-226A-EA69-EF8AC5ED0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87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2AB86-D6AA-F57A-50E8-79C53F98B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4EB54C-946B-0079-1EF4-9589B5A3B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E103B9-3A17-8C17-25BB-5814AF83D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Treći</a:t>
            </a:r>
            <a:r>
              <a:rPr lang="en-US" dirty="0"/>
              <a:t> </a:t>
            </a:r>
            <a:r>
              <a:rPr lang="en-US" dirty="0" err="1"/>
              <a:t>korak</a:t>
            </a:r>
            <a:r>
              <a:rPr lang="en-US" dirty="0"/>
              <a:t> je </a:t>
            </a:r>
            <a:r>
              <a:rPr lang="en-US" dirty="0" err="1"/>
              <a:t>analiza</a:t>
            </a:r>
            <a:r>
              <a:rPr lang="en-US" dirty="0"/>
              <a:t> da li </a:t>
            </a:r>
            <a:r>
              <a:rPr lang="en-US" dirty="0" err="1"/>
              <a:t>dobijeni</a:t>
            </a:r>
            <a:r>
              <a:rPr lang="en-US" dirty="0"/>
              <a:t> </a:t>
            </a:r>
            <a:r>
              <a:rPr lang="en-US" dirty="0" err="1"/>
              <a:t>skup</a:t>
            </a:r>
            <a:r>
              <a:rPr lang="en-US" dirty="0"/>
              <a:t> </a:t>
            </a:r>
            <a:r>
              <a:rPr lang="en-US" dirty="0" err="1"/>
              <a:t>operacija</a:t>
            </a:r>
            <a:r>
              <a:rPr lang="en-US" dirty="0"/>
              <a:t> </a:t>
            </a:r>
            <a:r>
              <a:rPr lang="en-US" dirty="0" err="1"/>
              <a:t>podržava</a:t>
            </a:r>
            <a:r>
              <a:rPr lang="en-US" dirty="0"/>
              <a:t> </a:t>
            </a:r>
            <a:r>
              <a:rPr lang="en-US" dirty="0" err="1"/>
              <a:t>šire</a:t>
            </a:r>
            <a:r>
              <a:rPr lang="en-US" dirty="0"/>
              <a:t> </a:t>
            </a:r>
            <a:r>
              <a:rPr lang="en-US" dirty="0" err="1"/>
              <a:t>algoritme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Pošto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realizovati</a:t>
            </a:r>
            <a:r>
              <a:rPr lang="en-US" dirty="0"/>
              <a:t> </a:t>
            </a:r>
            <a:r>
              <a:rPr lang="en-US" dirty="0" err="1"/>
              <a:t>množenje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sabiranje</a:t>
            </a:r>
            <a:r>
              <a:rPr lang="en-US" dirty="0"/>
              <a:t>, </a:t>
            </a:r>
            <a:r>
              <a:rPr lang="en-US" dirty="0" err="1"/>
              <a:t>moguće</a:t>
            </a:r>
            <a:r>
              <a:rPr lang="en-US" dirty="0"/>
              <a:t> je </a:t>
            </a:r>
            <a:r>
              <a:rPr lang="en-US" dirty="0" err="1"/>
              <a:t>implementirati</a:t>
            </a:r>
            <a:r>
              <a:rPr lang="en-US" dirty="0"/>
              <a:t> </a:t>
            </a:r>
            <a:r>
              <a:rPr lang="en-US" dirty="0" err="1"/>
              <a:t>linearnu</a:t>
            </a:r>
            <a:r>
              <a:rPr lang="en-US" dirty="0"/>
              <a:t> </a:t>
            </a:r>
            <a:r>
              <a:rPr lang="en-US" dirty="0" err="1"/>
              <a:t>algebru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Na </a:t>
            </a:r>
            <a:r>
              <a:rPr lang="en-US" dirty="0" err="1"/>
              <a:t>tim</a:t>
            </a:r>
            <a:r>
              <a:rPr lang="en-US" dirty="0"/>
              <a:t> </a:t>
            </a:r>
            <a:r>
              <a:rPr lang="en-US" dirty="0" err="1"/>
              <a:t>operacijama</a:t>
            </a:r>
            <a:r>
              <a:rPr lang="en-US" dirty="0"/>
              <a:t> </a:t>
            </a:r>
            <a:r>
              <a:rPr lang="en-US" dirty="0" err="1"/>
              <a:t>zasnivaju</a:t>
            </a:r>
            <a:r>
              <a:rPr lang="en-US" dirty="0"/>
              <a:t> se </a:t>
            </a:r>
            <a:r>
              <a:rPr lang="en-US" dirty="0" err="1"/>
              <a:t>neuronske</a:t>
            </a:r>
            <a:r>
              <a:rPr lang="en-US" dirty="0"/>
              <a:t> </a:t>
            </a:r>
            <a:r>
              <a:rPr lang="en-US" dirty="0" err="1"/>
              <a:t>mreže</a:t>
            </a:r>
            <a:r>
              <a:rPr lang="en-US" dirty="0"/>
              <a:t>, </a:t>
            </a:r>
            <a:r>
              <a:rPr lang="en-US" dirty="0" err="1"/>
              <a:t>optimizacija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mnogi</a:t>
            </a:r>
            <a:r>
              <a:rPr lang="en-US" dirty="0"/>
              <a:t> </a:t>
            </a:r>
            <a:r>
              <a:rPr lang="en-US" dirty="0" err="1"/>
              <a:t>numerički</a:t>
            </a:r>
            <a:r>
              <a:rPr lang="en-US" dirty="0"/>
              <a:t> </a:t>
            </a:r>
            <a:r>
              <a:rPr lang="en-US" dirty="0" err="1"/>
              <a:t>algoritmi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Zbog</a:t>
            </a:r>
            <a:r>
              <a:rPr lang="en-US" dirty="0"/>
              <a:t> toga </a:t>
            </a: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ograničen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MatMul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5ACCE-80EE-7E32-26E0-87D605F9CC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11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7048B-5E7C-81DD-F84D-187BD2F57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056FB-8950-CDCC-FC0F-16168B5B0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5305E-5852-46DA-7194-D8F6A7C75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Pošto</a:t>
            </a:r>
            <a:r>
              <a:rPr lang="en-US" dirty="0"/>
              <a:t> se </a:t>
            </a:r>
            <a:r>
              <a:rPr lang="en-US" dirty="0" err="1"/>
              <a:t>različiti</a:t>
            </a:r>
            <a:r>
              <a:rPr lang="en-US" dirty="0"/>
              <a:t> </a:t>
            </a:r>
            <a:r>
              <a:rPr lang="en-US" dirty="0" err="1"/>
              <a:t>algoritmi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mapirati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isti</a:t>
            </a:r>
            <a:r>
              <a:rPr lang="en-US" dirty="0"/>
              <a:t> </a:t>
            </a:r>
            <a:r>
              <a:rPr lang="en-US" dirty="0" err="1"/>
              <a:t>skup</a:t>
            </a:r>
            <a:r>
              <a:rPr lang="en-US" dirty="0"/>
              <a:t> </a:t>
            </a:r>
            <a:r>
              <a:rPr lang="en-US" dirty="0" err="1"/>
              <a:t>operacija</a:t>
            </a:r>
            <a:r>
              <a:rPr lang="en-US" dirty="0"/>
              <a:t>, </a:t>
            </a:r>
            <a:r>
              <a:rPr lang="en-US" dirty="0" err="1"/>
              <a:t>moguće</a:t>
            </a:r>
            <a:r>
              <a:rPr lang="en-US" dirty="0"/>
              <a:t> je </a:t>
            </a:r>
            <a:r>
              <a:rPr lang="en-US" dirty="0" err="1"/>
              <a:t>formirati</a:t>
            </a:r>
            <a:r>
              <a:rPr lang="en-US" dirty="0"/>
              <a:t> </a:t>
            </a:r>
            <a:r>
              <a:rPr lang="en-US" dirty="0" err="1"/>
              <a:t>biblioteku</a:t>
            </a:r>
            <a:r>
              <a:rPr lang="en-US" dirty="0"/>
              <a:t> </a:t>
            </a:r>
            <a:r>
              <a:rPr lang="en-US" dirty="0" err="1"/>
              <a:t>aplikacija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 err="1"/>
              <a:t>Posebno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interesantni</a:t>
            </a:r>
            <a:r>
              <a:rPr lang="en-US" dirty="0"/>
              <a:t> </a:t>
            </a:r>
            <a:r>
              <a:rPr lang="en-US" dirty="0" err="1"/>
              <a:t>problemi</a:t>
            </a:r>
            <a:r>
              <a:rPr lang="en-US" dirty="0"/>
              <a:t> koji </a:t>
            </a:r>
            <a:r>
              <a:rPr lang="en-US" dirty="0" err="1"/>
              <a:t>zahtevaju</a:t>
            </a:r>
            <a:r>
              <a:rPr lang="en-US" dirty="0"/>
              <a:t> </a:t>
            </a:r>
            <a:r>
              <a:rPr lang="en-US" dirty="0" err="1"/>
              <a:t>veliki</a:t>
            </a:r>
            <a:r>
              <a:rPr lang="en-US" dirty="0"/>
              <a:t> </a:t>
            </a:r>
            <a:r>
              <a:rPr lang="en-US" dirty="0" err="1"/>
              <a:t>paralelizam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To </a:t>
            </a:r>
            <a:r>
              <a:rPr lang="en-US" dirty="0" err="1"/>
              <a:t>uključuje</a:t>
            </a:r>
            <a:r>
              <a:rPr lang="en-US" dirty="0"/>
              <a:t> </a:t>
            </a:r>
            <a:r>
              <a:rPr lang="en-US" dirty="0" err="1"/>
              <a:t>optimizaciju</a:t>
            </a:r>
            <a:r>
              <a:rPr lang="en-US" dirty="0"/>
              <a:t>, </a:t>
            </a:r>
            <a:r>
              <a:rPr lang="en-US" dirty="0" err="1"/>
              <a:t>pretragu</a:t>
            </a:r>
            <a:r>
              <a:rPr lang="en-US" dirty="0"/>
              <a:t> </a:t>
            </a:r>
            <a:r>
              <a:rPr lang="en-US" dirty="0" err="1"/>
              <a:t>velikih</a:t>
            </a:r>
            <a:r>
              <a:rPr lang="en-US" dirty="0"/>
              <a:t> </a:t>
            </a:r>
            <a:r>
              <a:rPr lang="en-US" dirty="0" err="1"/>
              <a:t>prostora</a:t>
            </a:r>
            <a:r>
              <a:rPr lang="en-US" dirty="0"/>
              <a:t> </a:t>
            </a:r>
            <a:r>
              <a:rPr lang="en-US" dirty="0" err="1"/>
              <a:t>rešenja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određene</a:t>
            </a:r>
            <a:r>
              <a:rPr lang="en-US" dirty="0"/>
              <a:t> AI </a:t>
            </a:r>
            <a:r>
              <a:rPr lang="en-US" dirty="0" err="1"/>
              <a:t>algoritme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Takođe</a:t>
            </a:r>
            <a:r>
              <a:rPr lang="en-US" dirty="0"/>
              <a:t>, </a:t>
            </a:r>
            <a:r>
              <a:rPr lang="en-US" dirty="0" err="1"/>
              <a:t>pošto</a:t>
            </a:r>
            <a:r>
              <a:rPr lang="en-US" dirty="0"/>
              <a:t> se </a:t>
            </a:r>
            <a:r>
              <a:rPr lang="en-US" dirty="0" err="1"/>
              <a:t>računanje</a:t>
            </a:r>
            <a:r>
              <a:rPr lang="en-US" dirty="0"/>
              <a:t> </a:t>
            </a:r>
            <a:r>
              <a:rPr lang="en-US" dirty="0" err="1"/>
              <a:t>odvija</a:t>
            </a:r>
            <a:r>
              <a:rPr lang="en-US" dirty="0"/>
              <a:t> </a:t>
            </a:r>
            <a:r>
              <a:rPr lang="en-US" dirty="0" err="1"/>
              <a:t>nad</a:t>
            </a:r>
            <a:r>
              <a:rPr lang="en-US" dirty="0"/>
              <a:t> DNK </a:t>
            </a:r>
            <a:r>
              <a:rPr lang="en-US" dirty="0" err="1"/>
              <a:t>molekulima</a:t>
            </a:r>
            <a:r>
              <a:rPr lang="en-US" dirty="0"/>
              <a:t>, </a:t>
            </a:r>
            <a:r>
              <a:rPr lang="en-US" dirty="0" err="1"/>
              <a:t>prirodna</a:t>
            </a:r>
            <a:r>
              <a:rPr lang="en-US" dirty="0"/>
              <a:t> oblast </a:t>
            </a:r>
            <a:r>
              <a:rPr lang="en-US" dirty="0" err="1"/>
              <a:t>primene</a:t>
            </a:r>
            <a:r>
              <a:rPr lang="en-US" dirty="0"/>
              <a:t> je </a:t>
            </a:r>
            <a:r>
              <a:rPr lang="en-US" dirty="0" err="1"/>
              <a:t>bioinformatika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1721A-4965-ECDF-07B9-73DB69309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026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CA753-B1AC-66DE-EA66-B5510B013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065AE7-3D4F-D54E-5426-196501376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EAC2FA-3B40-19D9-CB44-83739C98C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Glavna</a:t>
            </a:r>
            <a:r>
              <a:rPr lang="en-US" dirty="0"/>
              <a:t> </a:t>
            </a:r>
            <a:r>
              <a:rPr lang="en-US" dirty="0" err="1"/>
              <a:t>prednost</a:t>
            </a:r>
            <a:r>
              <a:rPr lang="en-US" dirty="0"/>
              <a:t> DNK </a:t>
            </a:r>
            <a:r>
              <a:rPr lang="en-US" dirty="0" err="1"/>
              <a:t>računanja</a:t>
            </a:r>
            <a:r>
              <a:rPr lang="en-US" dirty="0"/>
              <a:t> je </a:t>
            </a:r>
            <a:r>
              <a:rPr lang="en-US" dirty="0" err="1"/>
              <a:t>mogućnost</a:t>
            </a:r>
            <a:r>
              <a:rPr lang="en-US" dirty="0"/>
              <a:t> </a:t>
            </a:r>
            <a:r>
              <a:rPr lang="en-US" dirty="0" err="1"/>
              <a:t>izvođenja</a:t>
            </a:r>
            <a:r>
              <a:rPr lang="en-US" dirty="0"/>
              <a:t> </a:t>
            </a:r>
            <a:r>
              <a:rPr lang="en-US" dirty="0" err="1"/>
              <a:t>ogromnog</a:t>
            </a:r>
            <a:r>
              <a:rPr lang="en-US" dirty="0"/>
              <a:t> </a:t>
            </a:r>
            <a:r>
              <a:rPr lang="en-US" dirty="0" err="1"/>
              <a:t>broja</a:t>
            </a:r>
            <a:r>
              <a:rPr lang="en-US" dirty="0"/>
              <a:t> </a:t>
            </a:r>
            <a:r>
              <a:rPr lang="en-US" dirty="0" err="1"/>
              <a:t>operacija</a:t>
            </a:r>
            <a:r>
              <a:rPr lang="en-US" dirty="0"/>
              <a:t> </a:t>
            </a:r>
            <a:r>
              <a:rPr lang="en-US" dirty="0" err="1"/>
              <a:t>paralelno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Takođe</a:t>
            </a:r>
            <a:r>
              <a:rPr lang="en-US" dirty="0"/>
              <a:t>, DNK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izuzetno</a:t>
            </a:r>
            <a:r>
              <a:rPr lang="en-US" dirty="0"/>
              <a:t> gust </a:t>
            </a:r>
            <a:r>
              <a:rPr lang="en-US" dirty="0" err="1"/>
              <a:t>zapis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malu</a:t>
            </a:r>
            <a:r>
              <a:rPr lang="en-US" dirty="0"/>
              <a:t> </a:t>
            </a:r>
            <a:r>
              <a:rPr lang="en-US" dirty="0" err="1"/>
              <a:t>potrošnju</a:t>
            </a:r>
            <a:r>
              <a:rPr lang="en-US" dirty="0"/>
              <a:t> </a:t>
            </a:r>
            <a:r>
              <a:rPr lang="en-US" dirty="0" err="1"/>
              <a:t>energije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Međutim</a:t>
            </a:r>
            <a:r>
              <a:rPr lang="en-US" dirty="0"/>
              <a:t>, </a:t>
            </a:r>
            <a:r>
              <a:rPr lang="en-US" dirty="0" err="1"/>
              <a:t>postoje</a:t>
            </a:r>
            <a:r>
              <a:rPr lang="en-US" dirty="0"/>
              <a:t> </a:t>
            </a:r>
            <a:r>
              <a:rPr lang="en-US" dirty="0" err="1"/>
              <a:t>značajna</a:t>
            </a:r>
            <a:r>
              <a:rPr lang="en-US" dirty="0"/>
              <a:t> </a:t>
            </a:r>
            <a:r>
              <a:rPr lang="en-US" dirty="0" err="1"/>
              <a:t>ograničenja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Priprema</a:t>
            </a:r>
            <a:r>
              <a:rPr lang="en-US" dirty="0"/>
              <a:t> </a:t>
            </a:r>
            <a:r>
              <a:rPr lang="en-US" dirty="0" err="1"/>
              <a:t>eksperimenata</a:t>
            </a:r>
            <a:r>
              <a:rPr lang="en-US" dirty="0"/>
              <a:t> </a:t>
            </a:r>
            <a:r>
              <a:rPr lang="en-US" dirty="0" err="1"/>
              <a:t>traje</a:t>
            </a:r>
            <a:r>
              <a:rPr lang="en-US" dirty="0"/>
              <a:t> </a:t>
            </a:r>
            <a:r>
              <a:rPr lang="en-US" dirty="0" err="1"/>
              <a:t>dugo</a:t>
            </a:r>
            <a:r>
              <a:rPr lang="en-US" dirty="0"/>
              <a:t>, </a:t>
            </a:r>
            <a:r>
              <a:rPr lang="en-US" dirty="0" err="1"/>
              <a:t>očitavanje</a:t>
            </a:r>
            <a:r>
              <a:rPr lang="en-US" dirty="0"/>
              <a:t> </a:t>
            </a:r>
            <a:r>
              <a:rPr lang="en-US" dirty="0" err="1"/>
              <a:t>rezultata</a:t>
            </a:r>
            <a:r>
              <a:rPr lang="en-US" dirty="0"/>
              <a:t> je </a:t>
            </a:r>
            <a:r>
              <a:rPr lang="en-US" dirty="0" err="1"/>
              <a:t>sporo</a:t>
            </a:r>
            <a:r>
              <a:rPr lang="en-US" dirty="0"/>
              <a:t>, a </a:t>
            </a:r>
            <a:r>
              <a:rPr lang="en-US" dirty="0" err="1"/>
              <a:t>prisutne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greške</a:t>
            </a:r>
            <a:r>
              <a:rPr lang="en-US" dirty="0"/>
              <a:t> u </a:t>
            </a:r>
            <a:r>
              <a:rPr lang="en-US" dirty="0" err="1"/>
              <a:t>biohemijskim</a:t>
            </a:r>
            <a:r>
              <a:rPr lang="en-US" dirty="0"/>
              <a:t> </a:t>
            </a:r>
            <a:r>
              <a:rPr lang="en-US" dirty="0" err="1"/>
              <a:t>reakcijama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Zbog</a:t>
            </a:r>
            <a:r>
              <a:rPr lang="en-US" dirty="0"/>
              <a:t> toga DNK </a:t>
            </a:r>
            <a:r>
              <a:rPr lang="en-US" dirty="0" err="1"/>
              <a:t>računari</a:t>
            </a:r>
            <a:r>
              <a:rPr lang="en-US" dirty="0"/>
              <a:t> </a:t>
            </a:r>
            <a:r>
              <a:rPr lang="en-US" dirty="0" err="1"/>
              <a:t>danas</a:t>
            </a:r>
            <a:r>
              <a:rPr lang="en-US" dirty="0"/>
              <a:t> </a:t>
            </a:r>
            <a:r>
              <a:rPr lang="en-US" dirty="0" err="1"/>
              <a:t>predstavljaju</a:t>
            </a:r>
            <a:r>
              <a:rPr lang="en-US" dirty="0"/>
              <a:t> </a:t>
            </a:r>
            <a:r>
              <a:rPr lang="en-US" dirty="0" err="1"/>
              <a:t>dopunu</a:t>
            </a:r>
            <a:r>
              <a:rPr lang="en-US" dirty="0"/>
              <a:t>, a ne </a:t>
            </a:r>
            <a:r>
              <a:rPr lang="en-US" dirty="0" err="1"/>
              <a:t>zamenu</a:t>
            </a:r>
            <a:r>
              <a:rPr lang="en-US" dirty="0"/>
              <a:t> za </a:t>
            </a:r>
            <a:r>
              <a:rPr lang="en-US" dirty="0" err="1"/>
              <a:t>klasične</a:t>
            </a:r>
            <a:r>
              <a:rPr lang="en-US" dirty="0"/>
              <a:t> </a:t>
            </a:r>
            <a:r>
              <a:rPr lang="en-US" dirty="0" err="1"/>
              <a:t>računare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40B49-5E35-3C68-C496-8A3E7A947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39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C6A67-D3A6-83F4-4B11-3909A9E00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776E6-9E76-7C96-921E-87DF7CE94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56545-796B-7051-AD42-75392410C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Glavna</a:t>
            </a:r>
            <a:r>
              <a:rPr lang="en-US" dirty="0"/>
              <a:t> </a:t>
            </a:r>
            <a:r>
              <a:rPr lang="en-US" dirty="0" err="1"/>
              <a:t>prednost</a:t>
            </a:r>
            <a:r>
              <a:rPr lang="en-US" dirty="0"/>
              <a:t> DNK </a:t>
            </a:r>
            <a:r>
              <a:rPr lang="en-US" dirty="0" err="1"/>
              <a:t>računanja</a:t>
            </a:r>
            <a:r>
              <a:rPr lang="en-US" dirty="0"/>
              <a:t> je </a:t>
            </a:r>
            <a:r>
              <a:rPr lang="en-US" dirty="0" err="1"/>
              <a:t>mogućnost</a:t>
            </a:r>
            <a:r>
              <a:rPr lang="en-US" dirty="0"/>
              <a:t> </a:t>
            </a:r>
            <a:r>
              <a:rPr lang="en-US" dirty="0" err="1"/>
              <a:t>izvođenja</a:t>
            </a:r>
            <a:r>
              <a:rPr lang="en-US" dirty="0"/>
              <a:t> </a:t>
            </a:r>
            <a:r>
              <a:rPr lang="en-US" dirty="0" err="1"/>
              <a:t>ogromnog</a:t>
            </a:r>
            <a:r>
              <a:rPr lang="en-US" dirty="0"/>
              <a:t> </a:t>
            </a:r>
            <a:r>
              <a:rPr lang="en-US" dirty="0" err="1"/>
              <a:t>broja</a:t>
            </a:r>
            <a:r>
              <a:rPr lang="en-US" dirty="0"/>
              <a:t> </a:t>
            </a:r>
            <a:r>
              <a:rPr lang="en-US" dirty="0" err="1"/>
              <a:t>operacija</a:t>
            </a:r>
            <a:r>
              <a:rPr lang="en-US" dirty="0"/>
              <a:t> </a:t>
            </a:r>
            <a:r>
              <a:rPr lang="en-US" dirty="0" err="1"/>
              <a:t>paralelno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Takođe</a:t>
            </a:r>
            <a:r>
              <a:rPr lang="en-US" dirty="0"/>
              <a:t>, DNK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izuzetno</a:t>
            </a:r>
            <a:r>
              <a:rPr lang="en-US" dirty="0"/>
              <a:t> gust </a:t>
            </a:r>
            <a:r>
              <a:rPr lang="en-US" dirty="0" err="1"/>
              <a:t>zapis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malu</a:t>
            </a:r>
            <a:r>
              <a:rPr lang="en-US" dirty="0"/>
              <a:t> </a:t>
            </a:r>
            <a:r>
              <a:rPr lang="en-US" dirty="0" err="1"/>
              <a:t>potrošnju</a:t>
            </a:r>
            <a:r>
              <a:rPr lang="en-US" dirty="0"/>
              <a:t> </a:t>
            </a:r>
            <a:r>
              <a:rPr lang="en-US" dirty="0" err="1"/>
              <a:t>energije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Međutim</a:t>
            </a:r>
            <a:r>
              <a:rPr lang="en-US" dirty="0"/>
              <a:t>, </a:t>
            </a:r>
            <a:r>
              <a:rPr lang="en-US" dirty="0" err="1"/>
              <a:t>postoje</a:t>
            </a:r>
            <a:r>
              <a:rPr lang="en-US" dirty="0"/>
              <a:t> </a:t>
            </a:r>
            <a:r>
              <a:rPr lang="en-US" dirty="0" err="1"/>
              <a:t>značajna</a:t>
            </a:r>
            <a:r>
              <a:rPr lang="en-US" dirty="0"/>
              <a:t> </a:t>
            </a:r>
            <a:r>
              <a:rPr lang="en-US" dirty="0" err="1"/>
              <a:t>ograničenja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Priprema</a:t>
            </a:r>
            <a:r>
              <a:rPr lang="en-US" dirty="0"/>
              <a:t> </a:t>
            </a:r>
            <a:r>
              <a:rPr lang="en-US" dirty="0" err="1"/>
              <a:t>eksperimenata</a:t>
            </a:r>
            <a:r>
              <a:rPr lang="en-US" dirty="0"/>
              <a:t> </a:t>
            </a:r>
            <a:r>
              <a:rPr lang="en-US" dirty="0" err="1"/>
              <a:t>traje</a:t>
            </a:r>
            <a:r>
              <a:rPr lang="en-US" dirty="0"/>
              <a:t> </a:t>
            </a:r>
            <a:r>
              <a:rPr lang="en-US" dirty="0" err="1"/>
              <a:t>dugo</a:t>
            </a:r>
            <a:r>
              <a:rPr lang="en-US" dirty="0"/>
              <a:t>, </a:t>
            </a:r>
            <a:r>
              <a:rPr lang="en-US" dirty="0" err="1"/>
              <a:t>očitavanje</a:t>
            </a:r>
            <a:r>
              <a:rPr lang="en-US" dirty="0"/>
              <a:t> </a:t>
            </a:r>
            <a:r>
              <a:rPr lang="en-US" dirty="0" err="1"/>
              <a:t>rezultata</a:t>
            </a:r>
            <a:r>
              <a:rPr lang="en-US" dirty="0"/>
              <a:t> je </a:t>
            </a:r>
            <a:r>
              <a:rPr lang="en-US" dirty="0" err="1"/>
              <a:t>sporo</a:t>
            </a:r>
            <a:r>
              <a:rPr lang="en-US" dirty="0"/>
              <a:t>, a </a:t>
            </a:r>
            <a:r>
              <a:rPr lang="en-US" dirty="0" err="1"/>
              <a:t>prisutne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greške</a:t>
            </a:r>
            <a:r>
              <a:rPr lang="en-US" dirty="0"/>
              <a:t> u </a:t>
            </a:r>
            <a:r>
              <a:rPr lang="en-US" dirty="0" err="1"/>
              <a:t>biohemijskim</a:t>
            </a:r>
            <a:r>
              <a:rPr lang="en-US" dirty="0"/>
              <a:t> </a:t>
            </a:r>
            <a:r>
              <a:rPr lang="en-US" dirty="0" err="1"/>
              <a:t>reakcijama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Zbog</a:t>
            </a:r>
            <a:r>
              <a:rPr lang="en-US" dirty="0"/>
              <a:t> toga DNK </a:t>
            </a:r>
            <a:r>
              <a:rPr lang="en-US" dirty="0" err="1"/>
              <a:t>računari</a:t>
            </a:r>
            <a:r>
              <a:rPr lang="en-US" dirty="0"/>
              <a:t> </a:t>
            </a:r>
            <a:r>
              <a:rPr lang="en-US" dirty="0" err="1"/>
              <a:t>danas</a:t>
            </a:r>
            <a:r>
              <a:rPr lang="en-US" dirty="0"/>
              <a:t> </a:t>
            </a:r>
            <a:r>
              <a:rPr lang="en-US" dirty="0" err="1"/>
              <a:t>predstavljaju</a:t>
            </a:r>
            <a:r>
              <a:rPr lang="en-US" dirty="0"/>
              <a:t> </a:t>
            </a:r>
            <a:r>
              <a:rPr lang="en-US" dirty="0" err="1"/>
              <a:t>dopunu</a:t>
            </a:r>
            <a:r>
              <a:rPr lang="en-US" dirty="0"/>
              <a:t>, a ne </a:t>
            </a:r>
            <a:r>
              <a:rPr lang="en-US" dirty="0" err="1"/>
              <a:t>zamenu</a:t>
            </a:r>
            <a:r>
              <a:rPr lang="en-US" dirty="0"/>
              <a:t> za </a:t>
            </a:r>
            <a:r>
              <a:rPr lang="en-US" dirty="0" err="1"/>
              <a:t>klasične</a:t>
            </a:r>
            <a:r>
              <a:rPr lang="en-US" dirty="0"/>
              <a:t> </a:t>
            </a:r>
            <a:r>
              <a:rPr lang="en-US" dirty="0" err="1"/>
              <a:t>računare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E372A-963C-C953-5ABA-45122128F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EC119-86D4-419D-A1D4-5F1C40B2E8B5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11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FF85F5-1184-4151-8EF8-91EBDE176C9C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342D4E8-6DB7-4E40-A888-500F322235B6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18C9E7-A05E-4BAD-A3EA-2D652C146E50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sr-Latn-R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</p:txBody>
      </p:sp>
      <p:sp>
        <p:nvSpPr>
          <p:cNvPr id="22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4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378632-1E9D-4799-A65A-C2C990E3337D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1FE3DE-923D-41EB-951A-75A1871CB8B2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06C18A-7F89-4A55-B577-3DE9C15240B3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38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0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07D907-D7C1-4973-A3B7-D3C1F849AEE3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E0A8AF-BC10-4AFA-B17A-58D586609A39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722356-84BA-4E17-AF7E-958162FAE116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DED8CE-04C9-443A-8252-266CDD03F485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C2B280-1C84-4BE3-93CA-AB404CF5D627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E285B2-B07D-4F0B-B0AC-395D8322C4D6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69" name="PlaceHolder 4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1" name="PlaceHolder 6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64AA4E-F027-4996-88B7-C92773AF70D0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nn253109m@student.etf.bg.ac.rs" TargetMode="External"/><Relationship Id="rId2" Type="http://schemas.openxmlformats.org/officeDocument/2006/relationships/hyperlink" Target="mailto:sp253068m@student.etf.bg.ac.rs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00000" y="492840"/>
            <a:ext cx="1079964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r>
              <a:rPr lang="en-US" sz="4650" b="0" u="none" strike="noStrike" dirty="0">
                <a:effectLst/>
                <a:uFillTx/>
                <a:latin typeface="Aptos Display"/>
              </a:rPr>
              <a:t>Множење </a:t>
            </a:r>
            <a:r>
              <a:rPr lang="en-US" sz="4650" b="0" u="none" strike="noStrike" dirty="0" err="1">
                <a:effectLst/>
                <a:uFillTx/>
                <a:latin typeface="Aptos Display"/>
              </a:rPr>
              <a:t>матрица</a:t>
            </a:r>
            <a:r>
              <a:rPr lang="en-US" sz="4650" dirty="0"/>
              <a:t> </a:t>
            </a:r>
            <a:r>
              <a:rPr lang="en-US" sz="4650" dirty="0" err="1"/>
              <a:t>помоћу</a:t>
            </a:r>
            <a:r>
              <a:rPr lang="en-US" sz="4650" dirty="0"/>
              <a:t> </a:t>
            </a:r>
            <a:r>
              <a:rPr lang="en-US" sz="4650" dirty="0" err="1"/>
              <a:t>биолошких</a:t>
            </a:r>
            <a:r>
              <a:rPr lang="en-US" sz="4650" dirty="0"/>
              <a:t> </a:t>
            </a:r>
            <a:r>
              <a:rPr lang="en-US" sz="4650" dirty="0" err="1"/>
              <a:t>процеса</a:t>
            </a:r>
            <a:endParaRPr lang="en-US" sz="4650" b="0" u="none" strike="noStrike" dirty="0" err="1">
              <a:effectLst/>
              <a:uFillTx/>
              <a:latin typeface="Aptos Display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080000" y="4500000"/>
            <a:ext cx="9899640" cy="16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Електротехнички факултет, Универзитет у Београду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br>
              <a:rPr sz="2000"/>
            </a:b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Picture 73"/>
          <p:cNvPicPr/>
          <p:nvPr/>
        </p:nvPicPr>
        <p:blipFill>
          <a:blip r:embed="rId2"/>
          <a:stretch/>
        </p:blipFill>
        <p:spPr>
          <a:xfrm>
            <a:off x="5400000" y="2880000"/>
            <a:ext cx="1425960" cy="175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Rectangle 74"/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A4C668DB-1700-445D-910E-A346D4DDE698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 err="1"/>
              <a:t>Физичка</a:t>
            </a:r>
            <a:r>
              <a:rPr lang="en-US" dirty="0"/>
              <a:t> </a:t>
            </a:r>
            <a:r>
              <a:rPr lang="en-US" dirty="0" err="1"/>
              <a:t>имплементација</a:t>
            </a:r>
            <a:r>
              <a:rPr lang="en-US" dirty="0"/>
              <a:t> - ДНК </a:t>
            </a:r>
            <a:r>
              <a:rPr lang="en-US" dirty="0" err="1"/>
              <a:t>рачунање</a:t>
            </a: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Везивање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комплементарних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секвенци</a:t>
            </a:r>
            <a:r>
              <a:rPr lang="en-US" sz="2800" dirty="0">
                <a:latin typeface="Aptos"/>
              </a:rPr>
              <a:t> - </a:t>
            </a:r>
            <a:r>
              <a:rPr lang="en-US" sz="2800" dirty="0" err="1">
                <a:latin typeface="Aptos"/>
              </a:rPr>
              <a:t>хибридизација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Спајање</a:t>
            </a:r>
            <a:r>
              <a:rPr lang="en-US" sz="2800" dirty="0">
                <a:latin typeface="Aptos"/>
              </a:rPr>
              <a:t> ДНК </a:t>
            </a:r>
            <a:r>
              <a:rPr lang="en-US" sz="2800" dirty="0" err="1">
                <a:latin typeface="Aptos"/>
              </a:rPr>
              <a:t>ланаца</a:t>
            </a:r>
            <a:r>
              <a:rPr lang="en-US" sz="2800" dirty="0">
                <a:latin typeface="Aptos"/>
              </a:rPr>
              <a:t> - </a:t>
            </a:r>
            <a:r>
              <a:rPr lang="en-US" sz="2800" dirty="0" err="1">
                <a:latin typeface="Aptos"/>
              </a:rPr>
              <a:t>лигација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Огроман </a:t>
            </a:r>
            <a:r>
              <a:rPr lang="en-US" sz="2800" dirty="0" err="1">
                <a:latin typeface="Aptos"/>
              </a:rPr>
              <a:t>број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молекула</a:t>
            </a:r>
            <a:r>
              <a:rPr lang="en-US" sz="2800" dirty="0">
                <a:latin typeface="Aptos"/>
              </a:rPr>
              <a:t> у </a:t>
            </a:r>
            <a:r>
              <a:rPr lang="en-US" sz="2800" dirty="0" err="1">
                <a:latin typeface="Aptos"/>
              </a:rPr>
              <a:t>једној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епрувети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Масиван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паралелизам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89999" tIns="45000" rIns="89999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46441-09D1-AC5B-683B-B1783F211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B22CA69E-D272-9472-DC0D-E29F56D8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/>
              <a:t>ДНК </a:t>
            </a:r>
            <a:r>
              <a:rPr lang="en-US" dirty="0" err="1"/>
              <a:t>молекул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C0DCE58-7513-BD08-2426-284ADE3FAC4D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6ABC70-DCCA-286A-0D7E-99855FB03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226" y="1776136"/>
            <a:ext cx="3687546" cy="388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357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E989B-64C1-A482-E717-1310DD5F6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B267429A-FA63-47AA-7509-97B5C3803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 err="1"/>
              <a:t>Математичке</a:t>
            </a:r>
            <a:r>
              <a:rPr lang="en-US" dirty="0"/>
              <a:t> </a:t>
            </a:r>
            <a:r>
              <a:rPr lang="en-US" dirty="0" err="1"/>
              <a:t>операције</a:t>
            </a: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2B191473-4B7C-2627-6EF4-962D33342B2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784371"/>
            <a:ext cx="11050339" cy="443297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>
                <a:latin typeface="Aptos"/>
              </a:rPr>
              <a:t>Y = W * x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Елементи </a:t>
            </a:r>
            <a:r>
              <a:rPr lang="en-US" sz="2800" dirty="0" err="1">
                <a:latin typeface="Aptos"/>
              </a:rPr>
              <a:t>матрице</a:t>
            </a:r>
            <a:r>
              <a:rPr lang="en-US" sz="2800" dirty="0">
                <a:latin typeface="Aptos"/>
              </a:rPr>
              <a:t> и </a:t>
            </a:r>
            <a:r>
              <a:rPr lang="en-US" sz="2800" dirty="0" err="1">
                <a:latin typeface="Aptos"/>
              </a:rPr>
              <a:t>улазног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вектора</a:t>
            </a:r>
            <a:r>
              <a:rPr lang="en-US" sz="2800" dirty="0">
                <a:latin typeface="Aptos"/>
              </a:rPr>
              <a:t> - </a:t>
            </a:r>
            <a:r>
              <a:rPr lang="en-US" sz="2800" dirty="0" err="1">
                <a:latin typeface="Aptos"/>
              </a:rPr>
              <a:t>различите</a:t>
            </a:r>
            <a:r>
              <a:rPr lang="en-US" sz="2800" dirty="0">
                <a:latin typeface="Aptos"/>
              </a:rPr>
              <a:t> ДНК </a:t>
            </a:r>
            <a:r>
              <a:rPr lang="en-US" sz="2800" dirty="0" err="1">
                <a:latin typeface="Aptos"/>
              </a:rPr>
              <a:t>секвенце</a:t>
            </a:r>
            <a:r>
              <a:rPr lang="en-US" sz="2800" dirty="0">
                <a:latin typeface="Aptos"/>
              </a:rPr>
              <a:t>​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Операција </a:t>
            </a:r>
            <a:r>
              <a:rPr lang="en-US" sz="2800" dirty="0" err="1">
                <a:latin typeface="Aptos"/>
              </a:rPr>
              <a:t>множења</a:t>
            </a:r>
            <a:r>
              <a:rPr lang="en-US" sz="2800" dirty="0">
                <a:latin typeface="Aptos"/>
              </a:rPr>
              <a:t> - </a:t>
            </a:r>
            <a:r>
              <a:rPr lang="en-US" sz="2800" dirty="0" err="1">
                <a:latin typeface="Aptos"/>
              </a:rPr>
              <a:t>спајање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одређених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секвенци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​Операција </a:t>
            </a:r>
            <a:r>
              <a:rPr lang="en-US" sz="2800" dirty="0" err="1">
                <a:latin typeface="Aptos"/>
              </a:rPr>
              <a:t>сабирања</a:t>
            </a:r>
            <a:r>
              <a:rPr lang="en-US" sz="2800" dirty="0">
                <a:latin typeface="Aptos"/>
              </a:rPr>
              <a:t> - </a:t>
            </a:r>
            <a:r>
              <a:rPr lang="en-US" sz="2800" dirty="0" err="1">
                <a:latin typeface="Aptos"/>
              </a:rPr>
              <a:t>број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насталих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молекула</a:t>
            </a:r>
            <a:r>
              <a:rPr lang="en-US" sz="2800" dirty="0">
                <a:latin typeface="Aptos"/>
              </a:rPr>
              <a:t> / </a:t>
            </a:r>
            <a:r>
              <a:rPr lang="en-US" sz="2800" dirty="0" err="1">
                <a:latin typeface="Aptos"/>
              </a:rPr>
              <a:t>концентрација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Закључак</a:t>
            </a:r>
            <a:r>
              <a:rPr lang="en-US" sz="2800" dirty="0">
                <a:latin typeface="Aptos"/>
              </a:rPr>
              <a:t>: </a:t>
            </a:r>
            <a:r>
              <a:rPr lang="en-US" sz="2800" dirty="0" err="1">
                <a:latin typeface="Aptos"/>
              </a:rPr>
              <a:t>биолошки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процеси</a:t>
            </a:r>
            <a:r>
              <a:rPr lang="en-US" sz="2800" dirty="0">
                <a:latin typeface="Aptos"/>
              </a:rPr>
              <a:t> </a:t>
            </a:r>
            <a:r>
              <a:rPr lang="en-US" sz="2800" dirty="0" err="1">
                <a:latin typeface="Aptos"/>
              </a:rPr>
              <a:t>реализују</a:t>
            </a:r>
            <a:r>
              <a:rPr lang="en-US" sz="2800" dirty="0">
                <a:latin typeface="Aptos"/>
              </a:rPr>
              <a:t> </a:t>
            </a:r>
            <a:r>
              <a:rPr lang="en-US" sz="2800" dirty="0" err="1">
                <a:latin typeface="Aptos"/>
              </a:rPr>
              <a:t>потребне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операције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84442F-EF5F-E300-080C-52B6F792DD98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89999" tIns="45000" rIns="89999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72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88476-854F-8040-A4DB-462149E12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1155AB22-B010-0A6E-3ABA-C4BE338A2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231" y="365040"/>
            <a:ext cx="11736955" cy="133917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је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универзалан</a:t>
            </a:r>
            <a:r>
              <a:rPr lang="en-US" dirty="0"/>
              <a:t>?</a:t>
            </a: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D344516E-464A-A5CA-2475-E7482155D51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Сабирање</a:t>
            </a:r>
            <a:endParaRPr lang="en-US" sz="280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Множење</a:t>
            </a:r>
            <a:endParaRPr lang="en-US" sz="280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Логичке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операције</a:t>
            </a:r>
            <a:endParaRPr lang="en-US" sz="280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Линеарна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алгебра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6F1FB08-2305-8D1D-11ED-72E9C051591F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89999" tIns="45000" rIns="89999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691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84E6F-ACBF-0CC2-7F35-114D80BEE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6812E163-4A11-16F4-B9D5-3B7CDA291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231" y="365040"/>
            <a:ext cx="11736955" cy="133917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 err="1"/>
              <a:t>Примена</a:t>
            </a: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A139B440-34AB-A71C-7D6B-E91B9369950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>
                <a:latin typeface="Aptos"/>
              </a:rPr>
              <a:t>AI 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Претрага </a:t>
            </a:r>
            <a:r>
              <a:rPr lang="en-US" sz="2800" dirty="0" err="1">
                <a:latin typeface="Aptos"/>
              </a:rPr>
              <a:t>великих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простора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решења</a:t>
            </a:r>
            <a:r>
              <a:rPr lang="en-US" sz="2800" dirty="0">
                <a:latin typeface="Aptos"/>
              </a:rPr>
              <a:t>​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Разне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оптимизације</a:t>
            </a:r>
            <a:endParaRPr lang="en-US" sz="2800" dirty="0">
              <a:latin typeface="Aptos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Биоинформатика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Проблеми </a:t>
            </a:r>
            <a:r>
              <a:rPr lang="en-US" sz="2800" dirty="0" err="1">
                <a:latin typeface="Aptos"/>
              </a:rPr>
              <a:t>који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захтевају</a:t>
            </a:r>
            <a:r>
              <a:rPr lang="en-US" sz="2800" dirty="0">
                <a:latin typeface="Aptos"/>
              </a:rPr>
              <a:t> </a:t>
            </a:r>
            <a:r>
              <a:rPr lang="en-US" sz="2800" dirty="0" err="1">
                <a:latin typeface="Aptos"/>
              </a:rPr>
              <a:t>велики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паралелизам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>
              <a:latin typeface="Apto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A227ACB-5ADC-24F8-05EF-5455E2921A33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89999" tIns="45000" rIns="89999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73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35BE7-FE26-9CED-F36D-BEAD21C8E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AE6422A5-0A33-91E5-483F-1EA1ED0FD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231" y="365040"/>
            <a:ext cx="11736955" cy="133917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 err="1"/>
              <a:t>Предности</a:t>
            </a: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6618608E-5BA9-0D1E-044B-554395823DC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763777"/>
            <a:ext cx="11081231" cy="447416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​</a:t>
            </a:r>
            <a:r>
              <a:rPr lang="en-US" sz="2800" dirty="0" err="1">
                <a:latin typeface="Aptos"/>
              </a:rPr>
              <a:t>Огроман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паралелизам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Мала </a:t>
            </a:r>
            <a:r>
              <a:rPr lang="en-US" sz="2800" dirty="0" err="1">
                <a:latin typeface="Aptos"/>
              </a:rPr>
              <a:t>потрошња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енергије</a:t>
            </a:r>
            <a:endParaRPr lang="en-US" dirty="0" err="1"/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Висока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густина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података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>
              <a:latin typeface="Apto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17D4D8D-4A77-2C57-90D7-B4A41C373BC5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89999" tIns="45000" rIns="89999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05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65BDA-7D42-D209-C26C-2DDED22A1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1935681A-E271-24E2-1FB3-E0ADAABBA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231" y="365040"/>
            <a:ext cx="11736955" cy="133917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dirty="0" err="1"/>
              <a:t>Ограниче</a:t>
            </a:r>
            <a:r>
              <a:rPr lang="en-US" dirty="0"/>
              <a:t>ња</a:t>
            </a: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6BA00880-3162-D00E-9DA6-ED18CFD75EB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763777"/>
            <a:ext cx="11081231" cy="447416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Aptos"/>
              </a:rPr>
              <a:t>​Споро </a:t>
            </a:r>
            <a:r>
              <a:rPr lang="en-US" sz="2800" dirty="0" err="1">
                <a:latin typeface="Aptos"/>
              </a:rPr>
              <a:t>очитавање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резултата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Велика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стопа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грешке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>
                <a:latin typeface="Aptos"/>
              </a:rPr>
              <a:t>Тешка</a:t>
            </a:r>
            <a:r>
              <a:rPr lang="en-US" sz="2800" dirty="0">
                <a:latin typeface="Aptos"/>
              </a:rPr>
              <a:t> </a:t>
            </a:r>
            <a:r>
              <a:rPr lang="en-US" sz="2800" dirty="0" err="1">
                <a:latin typeface="Aptos"/>
              </a:rPr>
              <a:t>програмабилност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>
              <a:latin typeface="Apto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671F32F-F422-5034-634F-01606EEB5B16}"/>
              </a:ext>
            </a:extLst>
          </p:cNvPr>
          <p:cNvSpPr/>
          <p:nvPr/>
        </p:nvSpPr>
        <p:spPr>
          <a:xfrm>
            <a:off x="10152000" y="6053040"/>
            <a:ext cx="72838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89999" tIns="45000" rIns="89999" bIns="45000" anchor="t">
            <a:spAutoFit/>
          </a:bodyPr>
          <a:lstStyle/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67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05" name="Picture 8" descr="A person wearing glasses and a suit&#10;&#10;AI-generated content may be incorrect."/>
          <p:cNvPicPr/>
          <p:nvPr/>
        </p:nvPicPr>
        <p:blipFill>
          <a:blip r:embed="rId2"/>
          <a:srcRect t="14539" b="14539"/>
          <a:stretch/>
        </p:blipFill>
        <p:spPr>
          <a:xfrm>
            <a:off x="2522520" y="0"/>
            <a:ext cx="966888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66080" cy="685728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772200" y="506605"/>
            <a:ext cx="4137477" cy="435303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algn="l"/>
            <a:r>
              <a:rPr lang="en-US" sz="2800" i="1" dirty="0"/>
              <a:t>"But biology and computer science – life and computation – are related. I am confident that at their interface great discoveries await those who seek them."</a:t>
            </a:r>
            <a:br>
              <a:rPr lang="en-US" sz="2800" i="1" dirty="0"/>
            </a:br>
            <a:br>
              <a:rPr lang="en-US" sz="2800" i="1" dirty="0"/>
            </a:br>
            <a:r>
              <a:rPr lang="en-US" sz="2800"/>
              <a:t>Leonard Adleman, Pioneer of DNA </a:t>
            </a:r>
            <a:r>
              <a:rPr lang="en-US" sz="2800" dirty="0"/>
              <a:t>Computing​</a:t>
            </a:r>
          </a:p>
        </p:txBody>
      </p:sp>
      <p:sp>
        <p:nvSpPr>
          <p:cNvPr id="108" name="TextBox 6"/>
          <p:cNvSpPr/>
          <p:nvPr/>
        </p:nvSpPr>
        <p:spPr>
          <a:xfrm>
            <a:off x="3047040" y="3246840"/>
            <a:ext cx="609372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10152000" y="6053040"/>
            <a:ext cx="882271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1CAEAE6D-6BF6-4E26-BB35-449EF0216C91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523880" y="719640"/>
            <a:ext cx="9143280" cy="23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R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Хвала на пажњи!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ubTitle"/>
          </p:nvPr>
        </p:nvSpPr>
        <p:spPr>
          <a:xfrm>
            <a:off x="1523880" y="3156480"/>
            <a:ext cx="9143280" cy="254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Припремили: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Павле Шаренац</a:t>
            </a: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2025/3068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  <a:hlinkClick r:id="rId2"/>
              </a:rPr>
              <a:t>sp253068m@student.etf.bg.ac.rs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Никола Николић 2025/3109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  <a:hlinkClick r:id="rId3"/>
              </a:rPr>
              <a:t>nn253109m@student.etf.bg.ac.rs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10152000" y="6053040"/>
            <a:ext cx="882271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fld id="{6550E89D-A6E0-4760-80C5-ABD54FACAA27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10</a:t>
            </a:fld>
            <a:r>
              <a:rPr lang="sr-Latn-RS" sz="2400">
                <a:solidFill>
                  <a:srgbClr val="000000"/>
                </a:solidFill>
                <a:latin typeface="Times New Roman"/>
              </a:rPr>
              <a:t>/12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Words>398</Words>
  <Application>Microsoft Office PowerPoint</Application>
  <PresentationFormat>Widescreen</PresentationFormat>
  <Paragraphs>79</Paragraphs>
  <Slides>10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Множење матрица помоћу биолошких процеса</vt:lpstr>
      <vt:lpstr>Физичка имплементација - ДНК рачунање</vt:lpstr>
      <vt:lpstr>ДНК молекул</vt:lpstr>
      <vt:lpstr>Математичке операције</vt:lpstr>
      <vt:lpstr>Да ли је систем универзалан?</vt:lpstr>
      <vt:lpstr>Примена</vt:lpstr>
      <vt:lpstr>Предности</vt:lpstr>
      <vt:lpstr>Ограничења</vt:lpstr>
      <vt:lpstr>"But biology and computer science – life and computation – are related. I am confident that at their interface great discoveries await those who seek them."  Leonard Adleman, Pioneer of DNA Computing​</vt:lpstr>
      <vt:lpstr>Хвала на пажњи!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Никола Николић</dc:creator>
  <dc:description/>
  <cp:lastModifiedBy/>
  <cp:revision>982</cp:revision>
  <dcterms:created xsi:type="dcterms:W3CDTF">2026-05-06T19:08:00Z</dcterms:created>
  <dcterms:modified xsi:type="dcterms:W3CDTF">2026-06-19T13:58:45Z</dcterms:modified>
  <dc:language>sr-Latn-RS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