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67" r:id="rId3"/>
    <p:sldId id="268" r:id="rId4"/>
    <p:sldId id="269" r:id="rId5"/>
    <p:sldId id="270" r:id="rId6"/>
    <p:sldId id="275" r:id="rId7"/>
    <p:sldId id="276" r:id="rId8"/>
    <p:sldId id="277" r:id="rId9"/>
    <p:sldId id="278" r:id="rId10"/>
  </p:sldIdLst>
  <p:sldSz cx="12192000" cy="6858000"/>
  <p:notesSz cx="6858000" cy="9144000"/>
  <p:defaultTextStyle>
    <a:defPPr>
      <a:defRPr lang="sr-Latn-R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0474F9-9DF6-D400-4707-6F4BEFDC7C64}" v="15" dt="2026-05-08T14:49:28.039"/>
    <p1510:client id="{B0975C63-F1F2-02A2-5C17-9ADAB4249246}" v="961" dt="2026-05-08T10:50:53.957"/>
    <p1510:client id="{F817D6D9-3DDC-DE22-470A-520EB04E7455}" v="942" dt="2026-05-08T07:33:29.6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869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r-Latn-R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421AC4-BF2B-4C9B-A2D2-762949CAC733}" type="datetimeFigureOut">
              <a:rPr lang="sr-Latn-RS" smtClean="0"/>
              <a:t>8.5.2026.</a:t>
            </a:fld>
            <a:endParaRPr lang="sr-Latn-R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r-Latn-R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R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r-Latn-R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DA5281-D0A7-4F54-8D4E-A6EF7E2B9B9F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42316123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B96FD-2220-A9AF-9A6E-327BB2DD81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sr-Latn-R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73B1E9-B289-202E-C339-DCF53E4CC1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sr-Latn-R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7A98BD-729A-28A9-E144-54DEA8827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5E84E-B7B5-4B58-A050-4EA79B1E676F}" type="datetimeFigureOut">
              <a:rPr lang="sr-Latn-RS" smtClean="0"/>
              <a:t>8.5.2026.</a:t>
            </a:fld>
            <a:endParaRPr lang="sr-Latn-R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E741BF-3D24-5F16-46B1-336D5DBA4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1691DB-C595-37EE-750D-5D9B0084D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4CC91-F09A-4F5A-BB07-0020C8970CD5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2094052257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F5E27-F7F2-7745-438C-3B5397F2A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r-Latn-R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4CF2C8-662B-D3D4-A420-A602259F24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R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EF3302-F916-B8E5-374F-9FFA8A316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5E84E-B7B5-4B58-A050-4EA79B1E676F}" type="datetimeFigureOut">
              <a:rPr lang="sr-Latn-RS" smtClean="0"/>
              <a:t>8.5.2026.</a:t>
            </a:fld>
            <a:endParaRPr lang="sr-Latn-R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9D3BE7-752A-464B-A1DE-BA58F4C60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66CC3-220D-15C6-3FA4-D1127294A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4CC91-F09A-4F5A-BB07-0020C8970CD5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1375914834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B50F2-484D-A0C4-4B7C-B0320AD2D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sr-Latn-R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72C353-D1BB-38EE-C024-CAFE51BBFF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19F505-0F89-7BD5-CDF4-2BF4A76D5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5E84E-B7B5-4B58-A050-4EA79B1E676F}" type="datetimeFigureOut">
              <a:rPr lang="sr-Latn-RS" smtClean="0"/>
              <a:t>8.5.2026.</a:t>
            </a:fld>
            <a:endParaRPr lang="sr-Latn-R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A38C74-BFD3-6C7F-EC25-198BC5B43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F5A503-DFE9-371A-C8C8-94E24F2CB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4CC91-F09A-4F5A-BB07-0020C8970CD5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3134364619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5B204-1783-6D38-3798-57E0CC70B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r-Latn-R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D1FEE8-EC8B-42C0-F293-A1752A4A99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R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3BDF8B-607D-1D45-FB75-69A5B14213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R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5992EE-52C0-AA6B-505E-9635C5CA8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5E84E-B7B5-4B58-A050-4EA79B1E676F}" type="datetimeFigureOut">
              <a:rPr lang="sr-Latn-RS" smtClean="0"/>
              <a:t>8.5.2026.</a:t>
            </a:fld>
            <a:endParaRPr lang="sr-Latn-R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F53AFE-3239-C915-1F8D-615907177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B6B1A4-DFD0-4910-92F8-FA5A26F9B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4CC91-F09A-4F5A-BB07-0020C8970CD5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247435930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CD95B-1580-22A3-3005-C0AEE001B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sr-Latn-R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E9ADDF-71BB-3D9E-BB4C-3EBBDA362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1EC8FB-E877-2DC1-BFF8-5FD780C3D6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R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CB173A-356C-FA82-E05D-F484EB496A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A3BF9F-9146-D780-F51B-6BEF1676CE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R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8917F8-7B0B-64FD-B95F-5E194A113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5E84E-B7B5-4B58-A050-4EA79B1E676F}" type="datetimeFigureOut">
              <a:rPr lang="sr-Latn-RS" smtClean="0"/>
              <a:t>8.5.2026.</a:t>
            </a:fld>
            <a:endParaRPr lang="sr-Latn-R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1FEFF4-0A8B-BFD2-53D1-963D9574B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24D99F-2560-830D-DF70-4A2F221D1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4CC91-F09A-4F5A-BB07-0020C8970CD5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28530316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5E01A-7505-FA6C-3EC6-9B7C2CD86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r-Latn-R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6EABEE-D397-B64C-0DB3-C3BC28370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5E84E-B7B5-4B58-A050-4EA79B1E676F}" type="datetimeFigureOut">
              <a:rPr lang="sr-Latn-RS" smtClean="0"/>
              <a:t>8.5.2026.</a:t>
            </a:fld>
            <a:endParaRPr lang="sr-Latn-R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303B44-4937-72DD-4819-283A79154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7F4E3D-4E3D-8687-ADFF-937227946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4CC91-F09A-4F5A-BB07-0020C8970CD5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94187656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E1FB1F-16F9-D5E2-C908-BB4BA2FB5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5E84E-B7B5-4B58-A050-4EA79B1E676F}" type="datetimeFigureOut">
              <a:rPr lang="sr-Latn-RS" smtClean="0"/>
              <a:t>8.5.2026.</a:t>
            </a:fld>
            <a:endParaRPr lang="sr-Latn-R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BEA399-A109-B1D5-D14C-C44261839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58D0E3-E388-6C42-248E-C25B87548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4CC91-F09A-4F5A-BB07-0020C8970CD5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2627587531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B576B-C0A7-1DD3-14C9-C6B156A6C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r-Latn-R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48E222-830E-5A62-AA27-9FA83B9F17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R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23700E-520A-52AB-3708-BF5C48F0C6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0F1536-73AB-D5D1-FAD2-D2F9D8287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5E84E-B7B5-4B58-A050-4EA79B1E676F}" type="datetimeFigureOut">
              <a:rPr lang="sr-Latn-RS" smtClean="0"/>
              <a:t>8.5.2026.</a:t>
            </a:fld>
            <a:endParaRPr lang="sr-Latn-R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295162-68FC-8FAE-3CFE-99AB88BF8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5FDFE8-81C0-0315-AFEC-D32D2D9E3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4CC91-F09A-4F5A-BB07-0020C8970CD5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2611569793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E39F4-C9C3-673B-F968-5A35B1A34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r-Latn-R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EE8A47-10E4-E181-5307-6508574FE6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r-Latn-R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B1CF5C-A8E3-1C01-1EEB-4DD3873307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1D0CCC-7B81-7A59-DEA2-A3A2F33B3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5E84E-B7B5-4B58-A050-4EA79B1E676F}" type="datetimeFigureOut">
              <a:rPr lang="sr-Latn-RS" smtClean="0"/>
              <a:t>8.5.2026.</a:t>
            </a:fld>
            <a:endParaRPr lang="sr-Latn-R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CD3873-B7DA-FD4A-2B8C-90A677ACF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4F689C-F2B5-8E55-78B4-7E73076AD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4CC91-F09A-4F5A-BB07-0020C8970CD5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2084102682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11E17-985B-A41A-69D8-5B928FCD7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r-Latn-R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0D1297-8FDA-404B-0A04-B7F0D66809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R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E8EDE9-5F2E-1609-C176-5A0510A92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5E84E-B7B5-4B58-A050-4EA79B1E676F}" type="datetimeFigureOut">
              <a:rPr lang="sr-Latn-RS" smtClean="0"/>
              <a:t>8.5.2026.</a:t>
            </a:fld>
            <a:endParaRPr lang="sr-Latn-R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63E731-0BEA-516A-20AE-397A8238B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40DDE-72E0-B28E-ABFC-3CC57C4F0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4CC91-F09A-4F5A-BB07-0020C8970CD5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1549894329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EE1778-6CFD-1A85-AE10-DBF26B6523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sr-Latn-R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3D2807-755B-9A56-B12F-1C604DDE12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R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B5FB12-D0F3-54E2-AC05-2991E5741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5E84E-B7B5-4B58-A050-4EA79B1E676F}" type="datetimeFigureOut">
              <a:rPr lang="sr-Latn-RS" smtClean="0"/>
              <a:t>8.5.2026.</a:t>
            </a:fld>
            <a:endParaRPr lang="sr-Latn-R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2BDF92-26FC-B00C-A594-DCA725CAB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AE63B6-5718-0581-1713-3D8ED20A4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4CC91-F09A-4F5A-BB07-0020C8970CD5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170275567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326016-E870-2DD6-A253-E6F23C0A0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sr-Latn-R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28ECB4-01D0-FF16-247C-675AB959CA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R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A76C68-FE30-6A99-EA7C-E0886C8B10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25E84E-B7B5-4B58-A050-4EA79B1E676F}" type="datetimeFigureOut">
              <a:rPr lang="sr-Latn-RS" smtClean="0"/>
              <a:t>8.5.2026.</a:t>
            </a:fld>
            <a:endParaRPr lang="sr-Latn-R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BF4230-7A6E-60E5-1171-705D141AFB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r-Latn-R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C141F5-F8E8-43A9-F0EB-F104B4BA8B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D4CC91-F09A-4F5A-BB07-0020C8970CD5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11218859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r-Latn-R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ED3FEAF-AA2B-EBFD-8768-534DD9C17FD9}"/>
              </a:ext>
            </a:extLst>
          </p:cNvPr>
          <p:cNvSpPr>
            <a:spLocks noGrp="1"/>
          </p:cNvSpPr>
          <p:nvPr/>
        </p:nvSpPr>
        <p:spPr>
          <a:xfrm>
            <a:off x="1524000" y="1361281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Множење </a:t>
            </a:r>
            <a:r>
              <a:rPr lang="en-US" dirty="0" err="1"/>
              <a:t>матрица</a:t>
            </a:r>
            <a:r>
              <a:rPr lang="en-US" dirty="0"/>
              <a:t> - Control Flow Manycore </a:t>
            </a:r>
            <a:r>
              <a:rPr lang="en-US" dirty="0" err="1"/>
              <a:t>парадигма</a:t>
            </a:r>
            <a:r>
              <a:rPr lang="en-US" dirty="0"/>
              <a:t>, Si </a:t>
            </a:r>
            <a:r>
              <a:rPr lang="en-US" dirty="0" err="1"/>
              <a:t>имплементациона</a:t>
            </a:r>
            <a:r>
              <a:rPr lang="en-US" dirty="0"/>
              <a:t> </a:t>
            </a:r>
            <a:r>
              <a:rPr lang="en-US" dirty="0" err="1"/>
              <a:t>технологија</a:t>
            </a:r>
            <a:endParaRPr lang="en-US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D73F3153-E809-8BC8-F35C-CD774FF90276}"/>
              </a:ext>
            </a:extLst>
          </p:cNvPr>
          <p:cNvSpPr>
            <a:spLocks noGrp="1"/>
          </p:cNvSpPr>
          <p:nvPr/>
        </p:nvSpPr>
        <p:spPr>
          <a:xfrm>
            <a:off x="1524000" y="3840956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br>
              <a:rPr lang="en-US" sz="2800" dirty="0"/>
            </a:br>
            <a:r>
              <a:rPr lang="en-US" sz="2800" dirty="0"/>
              <a:t>Електротехнички </a:t>
            </a:r>
            <a:r>
              <a:rPr lang="en-US" sz="2800" dirty="0" err="1"/>
              <a:t>факултет</a:t>
            </a:r>
            <a:r>
              <a:rPr lang="en-US" sz="2800" dirty="0"/>
              <a:t>, </a:t>
            </a:r>
            <a:r>
              <a:rPr lang="en-US" sz="2800" dirty="0" err="1"/>
              <a:t>Универзитет</a:t>
            </a:r>
            <a:r>
              <a:rPr lang="en-US" sz="2800" dirty="0"/>
              <a:t> у </a:t>
            </a:r>
            <a:r>
              <a:rPr lang="en-US" sz="2800" dirty="0" err="1"/>
              <a:t>Београду</a:t>
            </a:r>
            <a:br>
              <a:rPr lang="en-US" dirty="0"/>
            </a:br>
            <a:r>
              <a:rPr lang="sr-Latn-RS" dirty="0"/>
              <a:t>Никола Николић 2025/3109</a:t>
            </a:r>
            <a:endParaRPr lang="en-US" sz="2800" dirty="0"/>
          </a:p>
          <a:p>
            <a:pPr lvl="1"/>
            <a:r>
              <a:rPr lang="en-US" dirty="0" err="1"/>
              <a:t>Павле</a:t>
            </a:r>
            <a:r>
              <a:rPr lang="en-US" dirty="0"/>
              <a:t> </a:t>
            </a:r>
            <a:r>
              <a:rPr lang="en-US" dirty="0" err="1"/>
              <a:t>Шаренац</a:t>
            </a:r>
            <a:r>
              <a:rPr lang="sr-Latn-RS" dirty="0"/>
              <a:t> 2025/3068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1AB7275-2162-0441-2D23-887194E30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4CC91-F09A-4F5A-BB07-0020C8970CD5}" type="slidenum">
              <a:rPr lang="sr-Latn-RS" dirty="0" smtClean="0"/>
              <a:t>1</a:t>
            </a:fld>
            <a:r>
              <a:rPr lang="sr-Latn-RS"/>
              <a:t>/9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5089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630A4-40E8-4746-536A-17978E9D8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Flow Manycore </a:t>
            </a:r>
            <a:r>
              <a:rPr lang="en-US" dirty="0" err="1"/>
              <a:t>парадигма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D2C0C2-821C-6CBE-6DD6-AFEE4BC7C4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i="1" dirty="0"/>
              <a:t>Control Flow Multicore</a:t>
            </a:r>
            <a:r>
              <a:rPr lang="en-US" dirty="0"/>
              <a:t> – 4-32 </a:t>
            </a:r>
            <a:r>
              <a:rPr lang="en-US" dirty="0" err="1"/>
              <a:t>моћна</a:t>
            </a:r>
            <a:r>
              <a:rPr lang="en-US" dirty="0"/>
              <a:t> </a:t>
            </a:r>
            <a:r>
              <a:rPr lang="en-US" dirty="0" err="1"/>
              <a:t>језгра</a:t>
            </a:r>
            <a:r>
              <a:rPr lang="en-US" dirty="0"/>
              <a:t> </a:t>
            </a:r>
            <a:r>
              <a:rPr lang="en-US" dirty="0" err="1"/>
              <a:t>опште</a:t>
            </a:r>
            <a:r>
              <a:rPr lang="en-US" dirty="0"/>
              <a:t> </a:t>
            </a:r>
            <a:r>
              <a:rPr lang="en-US" dirty="0" err="1"/>
              <a:t>намене</a:t>
            </a:r>
            <a:endParaRPr lang="en-US" dirty="0"/>
          </a:p>
          <a:p>
            <a:r>
              <a:rPr lang="en-US" i="1" dirty="0"/>
              <a:t>Control Flow Manycore</a:t>
            </a:r>
            <a:r>
              <a:rPr lang="en-US" dirty="0"/>
              <a:t> – </a:t>
            </a:r>
            <a:r>
              <a:rPr lang="en-US" dirty="0" err="1"/>
              <a:t>хиљаде</a:t>
            </a:r>
            <a:r>
              <a:rPr lang="en-US" dirty="0"/>
              <a:t> </a:t>
            </a:r>
            <a:r>
              <a:rPr lang="en-US" dirty="0" err="1"/>
              <a:t>слабијих</a:t>
            </a:r>
            <a:r>
              <a:rPr lang="en-US" dirty="0"/>
              <a:t> </a:t>
            </a:r>
            <a:r>
              <a:rPr lang="en-US" dirty="0" err="1"/>
              <a:t>језгара</a:t>
            </a:r>
          </a:p>
          <a:p>
            <a:r>
              <a:rPr lang="en-US" dirty="0"/>
              <a:t>Циљ </a:t>
            </a:r>
            <a:r>
              <a:rPr lang="en-US" dirty="0" err="1"/>
              <a:t>није</a:t>
            </a:r>
            <a:r>
              <a:rPr lang="en-US" dirty="0"/>
              <a:t> </a:t>
            </a:r>
            <a:r>
              <a:rPr lang="en-US" dirty="0" err="1"/>
              <a:t>општа</a:t>
            </a:r>
            <a:r>
              <a:rPr lang="en-US" dirty="0"/>
              <a:t> </a:t>
            </a:r>
            <a:r>
              <a:rPr lang="en-US" dirty="0" err="1"/>
              <a:t>намена</a:t>
            </a:r>
            <a:r>
              <a:rPr lang="en-US" dirty="0"/>
              <a:t>, </a:t>
            </a:r>
            <a:r>
              <a:rPr lang="en-US" dirty="0" err="1"/>
              <a:t>већ</a:t>
            </a:r>
            <a:r>
              <a:rPr lang="en-US" dirty="0"/>
              <a:t> </a:t>
            </a:r>
            <a:r>
              <a:rPr lang="en-US" dirty="0" err="1"/>
              <a:t>масовна</a:t>
            </a:r>
            <a:r>
              <a:rPr lang="en-US" dirty="0"/>
              <a:t> </a:t>
            </a:r>
            <a:r>
              <a:rPr lang="en-US" dirty="0" err="1"/>
              <a:t>паралелизација</a:t>
            </a:r>
            <a:r>
              <a:rPr lang="en-US" dirty="0"/>
              <a:t> </a:t>
            </a:r>
            <a:r>
              <a:rPr lang="en-US" dirty="0" err="1"/>
              <a:t>обраде</a:t>
            </a:r>
            <a:r>
              <a:rPr lang="en-US" dirty="0"/>
              <a:t> </a:t>
            </a:r>
            <a:r>
              <a:rPr lang="en-US" dirty="0" err="1"/>
              <a:t>велике</a:t>
            </a:r>
            <a:r>
              <a:rPr lang="en-US" dirty="0"/>
              <a:t> </a:t>
            </a:r>
            <a:r>
              <a:rPr lang="en-US" dirty="0" err="1"/>
              <a:t>количине</a:t>
            </a:r>
            <a:r>
              <a:rPr lang="en-US" dirty="0"/>
              <a:t> </a:t>
            </a:r>
            <a:r>
              <a:rPr lang="en-US" dirty="0" err="1"/>
              <a:t>података</a:t>
            </a:r>
            <a:endParaRPr lang="en-US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B4C4B6-31C5-9AC3-DADE-1E91B6BBE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4CC91-F09A-4F5A-BB07-0020C8970CD5}" type="slidenum">
              <a:rPr lang="sr-Latn-RS" dirty="0" smtClean="0"/>
              <a:t>2</a:t>
            </a:fld>
            <a:r>
              <a:rPr lang="sr-Latn-RS"/>
              <a:t>/9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0143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E633D-9C1D-D687-3D7C-A01619D8D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NVIDIA GPU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2ABB51-A0A8-07EC-F28C-9187733389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NVIDIA GPU (</a:t>
            </a:r>
            <a:r>
              <a:rPr lang="en-US" i="1" dirty="0"/>
              <a:t>Graphical Processing Unit</a:t>
            </a:r>
            <a:r>
              <a:rPr lang="en-US" dirty="0"/>
              <a:t>) </a:t>
            </a:r>
            <a:r>
              <a:rPr lang="en-US" dirty="0" err="1"/>
              <a:t>је</a:t>
            </a:r>
            <a:r>
              <a:rPr lang="en-US" dirty="0"/>
              <a:t> </a:t>
            </a:r>
            <a:r>
              <a:rPr lang="en-US" dirty="0" err="1"/>
              <a:t>одличан</a:t>
            </a:r>
            <a:r>
              <a:rPr lang="en-US" dirty="0"/>
              <a:t> </a:t>
            </a:r>
            <a:r>
              <a:rPr lang="en-US" dirty="0" err="1"/>
              <a:t>пример</a:t>
            </a:r>
            <a:r>
              <a:rPr lang="en-US" dirty="0"/>
              <a:t> </a:t>
            </a:r>
            <a:r>
              <a:rPr lang="en-US" dirty="0" err="1"/>
              <a:t>хардвера</a:t>
            </a:r>
            <a:r>
              <a:rPr lang="en-US" dirty="0"/>
              <a:t> </a:t>
            </a:r>
            <a:r>
              <a:rPr lang="en-US" dirty="0" err="1"/>
              <a:t>који</a:t>
            </a:r>
            <a:r>
              <a:rPr lang="en-US" dirty="0"/>
              <a:t> </a:t>
            </a:r>
            <a:r>
              <a:rPr lang="en-US" dirty="0" err="1"/>
              <a:t>користи</a:t>
            </a:r>
            <a:r>
              <a:rPr lang="en-US" dirty="0"/>
              <a:t> manycore </a:t>
            </a:r>
            <a:r>
              <a:rPr lang="en-US" dirty="0" err="1"/>
              <a:t>парадигму</a:t>
            </a:r>
          </a:p>
          <a:p>
            <a:r>
              <a:rPr lang="en-US" dirty="0" err="1"/>
              <a:t>Хиљаде</a:t>
            </a:r>
            <a:r>
              <a:rPr lang="en-US" dirty="0"/>
              <a:t> CUDA </a:t>
            </a:r>
            <a:r>
              <a:rPr lang="en-US" dirty="0" err="1"/>
              <a:t>језгара</a:t>
            </a:r>
            <a:r>
              <a:rPr lang="en-US" dirty="0"/>
              <a:t> </a:t>
            </a:r>
            <a:r>
              <a:rPr lang="en-US" dirty="0" err="1"/>
              <a:t>груписаних</a:t>
            </a:r>
            <a:r>
              <a:rPr lang="en-US" dirty="0"/>
              <a:t> у SM (</a:t>
            </a:r>
            <a:r>
              <a:rPr lang="en-US" i="1" dirty="0"/>
              <a:t>Streaming Multiprocessors)</a:t>
            </a:r>
            <a:endParaRPr lang="en-US" dirty="0"/>
          </a:p>
          <a:p>
            <a:r>
              <a:rPr lang="en-US" dirty="0"/>
              <a:t>SIMT (</a:t>
            </a:r>
            <a:r>
              <a:rPr lang="en-US" i="1" dirty="0"/>
              <a:t>Single Instruction Multiple Threads</a:t>
            </a:r>
            <a:r>
              <a:rPr lang="en-US" dirty="0"/>
              <a:t>) </a:t>
            </a:r>
            <a:r>
              <a:rPr lang="en-US" dirty="0" err="1"/>
              <a:t>извршавање</a:t>
            </a:r>
          </a:p>
          <a:p>
            <a:r>
              <a:rPr lang="en-US" dirty="0"/>
              <a:t>SM-</a:t>
            </a:r>
            <a:r>
              <a:rPr lang="en-US" dirty="0" err="1"/>
              <a:t>ови</a:t>
            </a:r>
            <a:r>
              <a:rPr lang="en-US" dirty="0"/>
              <a:t> </a:t>
            </a:r>
            <a:r>
              <a:rPr lang="en-US" dirty="0" err="1"/>
              <a:t>извршавају</a:t>
            </a:r>
            <a:r>
              <a:rPr lang="en-US" dirty="0"/>
              <a:t> </a:t>
            </a:r>
            <a:r>
              <a:rPr lang="en-US" dirty="0" err="1"/>
              <a:t>истовремено</a:t>
            </a:r>
            <a:r>
              <a:rPr lang="en-US" dirty="0"/>
              <a:t> </a:t>
            </a:r>
            <a:r>
              <a:rPr lang="en-US" dirty="0" err="1"/>
              <a:t>велики</a:t>
            </a:r>
            <a:r>
              <a:rPr lang="en-US" dirty="0"/>
              <a:t> </a:t>
            </a:r>
            <a:r>
              <a:rPr lang="en-US" dirty="0" err="1"/>
              <a:t>број</a:t>
            </a:r>
            <a:r>
              <a:rPr lang="en-US" dirty="0"/>
              <a:t> </a:t>
            </a:r>
            <a:r>
              <a:rPr lang="en-US" i="1" dirty="0"/>
              <a:t>warp</a:t>
            </a:r>
            <a:r>
              <a:rPr lang="en-US" dirty="0"/>
              <a:t>-</a:t>
            </a:r>
            <a:r>
              <a:rPr lang="en-US" dirty="0" err="1"/>
              <a:t>ова</a:t>
            </a:r>
            <a:r>
              <a:rPr lang="en-US" dirty="0"/>
              <a:t> </a:t>
            </a:r>
            <a:r>
              <a:rPr lang="en-US" dirty="0" err="1"/>
              <a:t>нити</a:t>
            </a:r>
            <a:r>
              <a:rPr lang="en-US" dirty="0"/>
              <a:t>, </a:t>
            </a:r>
            <a:r>
              <a:rPr lang="en-US" dirty="0" err="1"/>
              <a:t>односно</a:t>
            </a:r>
            <a:r>
              <a:rPr lang="en-US" dirty="0"/>
              <a:t> </a:t>
            </a:r>
            <a:r>
              <a:rPr lang="en-US" dirty="0" err="1"/>
              <a:t>групе</a:t>
            </a:r>
            <a:r>
              <a:rPr lang="en-US" dirty="0"/>
              <a:t> </a:t>
            </a:r>
            <a:r>
              <a:rPr lang="en-US" dirty="0" err="1"/>
              <a:t>од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32 </a:t>
            </a:r>
            <a:r>
              <a:rPr lang="en-US" dirty="0" err="1"/>
              <a:t>нити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25ABF3-0FE2-B384-5B15-27981221D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4CC91-F09A-4F5A-BB07-0020C8970CD5}" type="slidenum">
              <a:rPr lang="sr-Latn-RS" dirty="0" smtClean="0"/>
              <a:t>3</a:t>
            </a:fld>
            <a:r>
              <a:rPr lang="sr-Latn-RS"/>
              <a:t>/9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449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8781B-3142-7C82-F42D-DE81E58F9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CUDA </a:t>
            </a:r>
            <a:r>
              <a:rPr lang="en-US" dirty="0" err="1"/>
              <a:t>програмски</a:t>
            </a:r>
            <a:r>
              <a:rPr lang="en-US" dirty="0"/>
              <a:t> </a:t>
            </a:r>
            <a:r>
              <a:rPr lang="en-US" dirty="0" err="1"/>
              <a:t>модел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C48C6-CE22-75C7-3738-B599EBCF2D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/>
          </a:bodyPr>
          <a:lstStyle/>
          <a:p>
            <a:r>
              <a:rPr lang="en-US" dirty="0" err="1">
                <a:ea typeface="+mn-lt"/>
                <a:cs typeface="+mn-lt"/>
              </a:rPr>
              <a:t>Постоје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i="1" dirty="0">
                <a:ea typeface="+mn-lt"/>
                <a:cs typeface="+mn-lt"/>
              </a:rPr>
              <a:t>Host</a:t>
            </a:r>
            <a:r>
              <a:rPr lang="en-US" dirty="0">
                <a:ea typeface="+mn-lt"/>
                <a:cs typeface="+mn-lt"/>
              </a:rPr>
              <a:t> (CPU) и </a:t>
            </a:r>
            <a:r>
              <a:rPr lang="en-US" i="1" dirty="0">
                <a:ea typeface="+mn-lt"/>
                <a:cs typeface="+mn-lt"/>
              </a:rPr>
              <a:t>Device </a:t>
            </a:r>
            <a:r>
              <a:rPr lang="en-US" dirty="0">
                <a:ea typeface="+mn-lt"/>
                <a:cs typeface="+mn-lt"/>
              </a:rPr>
              <a:t>(GPU) </a:t>
            </a:r>
            <a:r>
              <a:rPr lang="en-US" dirty="0" err="1">
                <a:ea typeface="+mn-lt"/>
                <a:cs typeface="+mn-lt"/>
              </a:rPr>
              <a:t>одвојени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меморијски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простори</a:t>
            </a:r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Трансфер </a:t>
            </a:r>
            <a:r>
              <a:rPr lang="en-US" dirty="0" err="1">
                <a:ea typeface="+mn-lt"/>
                <a:cs typeface="+mn-lt"/>
              </a:rPr>
              <a:t>података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са</a:t>
            </a:r>
            <a:r>
              <a:rPr lang="en-US" dirty="0">
                <a:ea typeface="+mn-lt"/>
                <a:cs typeface="+mn-lt"/>
              </a:rPr>
              <a:t> CPU </a:t>
            </a:r>
            <a:r>
              <a:rPr lang="en-US" dirty="0" err="1">
                <a:ea typeface="+mn-lt"/>
                <a:cs typeface="+mn-lt"/>
              </a:rPr>
              <a:t>na</a:t>
            </a:r>
            <a:r>
              <a:rPr lang="en-US" dirty="0">
                <a:ea typeface="+mn-lt"/>
                <a:cs typeface="+mn-lt"/>
              </a:rPr>
              <a:t> GPU </a:t>
            </a:r>
            <a:r>
              <a:rPr lang="en-US" dirty="0" err="1">
                <a:ea typeface="+mn-lt"/>
                <a:cs typeface="+mn-lt"/>
              </a:rPr>
              <a:t>је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неопходан</a:t>
            </a:r>
            <a:r>
              <a:rPr lang="en-US" dirty="0">
                <a:ea typeface="+mn-lt"/>
                <a:cs typeface="+mn-lt"/>
              </a:rPr>
              <a:t> - </a:t>
            </a:r>
            <a:r>
              <a:rPr lang="en-US" dirty="0" err="1">
                <a:ea typeface="+mn-lt"/>
                <a:cs typeface="+mn-lt"/>
              </a:rPr>
              <a:t>спорија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операција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приметна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на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мањим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проблемима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не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на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већим</a:t>
            </a:r>
            <a:endParaRPr lang="en-US" dirty="0">
              <a:ea typeface="+mn-lt"/>
              <a:cs typeface="+mn-lt"/>
            </a:endParaRPr>
          </a:p>
          <a:p>
            <a:r>
              <a:rPr lang="en-US" dirty="0"/>
              <a:t>Хијерархија </a:t>
            </a:r>
            <a:r>
              <a:rPr lang="en-US" dirty="0" err="1"/>
              <a:t>нити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GPU: </a:t>
            </a:r>
            <a:r>
              <a:rPr lang="en-US" i="1" dirty="0"/>
              <a:t>Grid </a:t>
            </a:r>
            <a:r>
              <a:rPr lang="en-US" dirty="0"/>
              <a:t>→ </a:t>
            </a:r>
            <a:r>
              <a:rPr lang="en-US" i="1" dirty="0"/>
              <a:t>Block </a:t>
            </a:r>
            <a:r>
              <a:rPr lang="en-US" dirty="0"/>
              <a:t>→ </a:t>
            </a:r>
            <a:r>
              <a:rPr lang="en-US" i="1" dirty="0"/>
              <a:t>Thread</a:t>
            </a:r>
          </a:p>
          <a:p>
            <a:r>
              <a:rPr lang="en-US" dirty="0" err="1">
                <a:ea typeface="+mn-lt"/>
                <a:cs typeface="+mn-lt"/>
              </a:rPr>
              <a:t>Меморијска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хијерархија</a:t>
            </a:r>
            <a:r>
              <a:rPr lang="en-US" dirty="0">
                <a:ea typeface="+mn-lt"/>
                <a:cs typeface="+mn-lt"/>
              </a:rPr>
              <a:t>: </a:t>
            </a:r>
            <a:r>
              <a:rPr lang="en-US" dirty="0" err="1">
                <a:ea typeface="+mn-lt"/>
                <a:cs typeface="+mn-lt"/>
              </a:rPr>
              <a:t>глобална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меморија</a:t>
            </a:r>
            <a:r>
              <a:rPr lang="en-US" dirty="0">
                <a:ea typeface="+mn-lt"/>
                <a:cs typeface="+mn-lt"/>
              </a:rPr>
              <a:t> (</a:t>
            </a:r>
            <a:r>
              <a:rPr lang="en-US" dirty="0" err="1">
                <a:ea typeface="+mn-lt"/>
                <a:cs typeface="+mn-lt"/>
              </a:rPr>
              <a:t>споро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читање</a:t>
            </a:r>
            <a:r>
              <a:rPr lang="en-US" dirty="0">
                <a:ea typeface="+mn-lt"/>
                <a:cs typeface="+mn-lt"/>
              </a:rPr>
              <a:t>, ~400 </a:t>
            </a:r>
            <a:r>
              <a:rPr lang="en-US" dirty="0" err="1">
                <a:ea typeface="+mn-lt"/>
                <a:cs typeface="+mn-lt"/>
              </a:rPr>
              <a:t>циклуса</a:t>
            </a:r>
            <a:r>
              <a:rPr lang="en-US" dirty="0">
                <a:ea typeface="+mn-lt"/>
                <a:cs typeface="+mn-lt"/>
              </a:rPr>
              <a:t>) → </a:t>
            </a:r>
            <a:r>
              <a:rPr lang="en-US" dirty="0" err="1">
                <a:ea typeface="+mn-lt"/>
                <a:cs typeface="+mn-lt"/>
              </a:rPr>
              <a:t>дељена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меморија</a:t>
            </a:r>
            <a:r>
              <a:rPr lang="en-US" dirty="0">
                <a:ea typeface="+mn-lt"/>
                <a:cs typeface="+mn-lt"/>
              </a:rPr>
              <a:t> (</a:t>
            </a:r>
            <a:r>
              <a:rPr lang="en-US" dirty="0" err="1">
                <a:ea typeface="+mn-lt"/>
                <a:cs typeface="+mn-lt"/>
              </a:rPr>
              <a:t>брзо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читање</a:t>
            </a:r>
            <a:r>
              <a:rPr lang="en-US" dirty="0">
                <a:ea typeface="+mn-lt"/>
                <a:cs typeface="+mn-lt"/>
              </a:rPr>
              <a:t>, ~5 </a:t>
            </a:r>
            <a:r>
              <a:rPr lang="en-US" dirty="0" err="1">
                <a:ea typeface="+mn-lt"/>
                <a:cs typeface="+mn-lt"/>
              </a:rPr>
              <a:t>циклуса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приватна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по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блоку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нити</a:t>
            </a:r>
            <a:r>
              <a:rPr lang="en-US" dirty="0">
                <a:ea typeface="+mn-lt"/>
                <a:cs typeface="+mn-lt"/>
              </a:rPr>
              <a:t>) → </a:t>
            </a:r>
            <a:r>
              <a:rPr lang="en-US" dirty="0" err="1">
                <a:ea typeface="+mn-lt"/>
                <a:cs typeface="+mn-lt"/>
              </a:rPr>
              <a:t>регистри</a:t>
            </a:r>
            <a:r>
              <a:rPr lang="en-US" dirty="0">
                <a:ea typeface="+mn-lt"/>
                <a:cs typeface="+mn-lt"/>
              </a:rPr>
              <a:t> (</a:t>
            </a:r>
            <a:r>
              <a:rPr lang="en-US" dirty="0" err="1">
                <a:ea typeface="+mn-lt"/>
                <a:cs typeface="+mn-lt"/>
              </a:rPr>
              <a:t>најбрже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читање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приватни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за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сваку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нит</a:t>
            </a:r>
            <a:r>
              <a:rPr lang="en-US" dirty="0">
                <a:ea typeface="+mn-lt"/>
                <a:cs typeface="+mn-lt"/>
              </a:rPr>
              <a:t>)</a:t>
            </a:r>
          </a:p>
          <a:p>
            <a:r>
              <a:rPr lang="en-US" dirty="0"/>
              <a:t>Кернел </a:t>
            </a:r>
            <a:r>
              <a:rPr lang="en-US" dirty="0" err="1"/>
              <a:t>функција</a:t>
            </a:r>
            <a:r>
              <a:rPr lang="en-US" dirty="0"/>
              <a:t> (__</a:t>
            </a:r>
            <a:r>
              <a:rPr lang="en-US" b="1" dirty="0">
                <a:ea typeface="+mn-lt"/>
                <a:cs typeface="+mn-lt"/>
              </a:rPr>
              <a:t>global__</a:t>
            </a:r>
            <a:r>
              <a:rPr lang="en-US" dirty="0">
                <a:ea typeface="+mn-lt"/>
                <a:cs typeface="+mn-lt"/>
              </a:rPr>
              <a:t>) </a:t>
            </a:r>
            <a:r>
              <a:rPr lang="en-US" dirty="0" err="1">
                <a:ea typeface="+mn-lt"/>
                <a:cs typeface="+mn-lt"/>
              </a:rPr>
              <a:t>дефинише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задатак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једне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нити</a:t>
            </a:r>
            <a:r>
              <a:rPr lang="en-US" dirty="0">
                <a:ea typeface="+mn-lt"/>
                <a:cs typeface="+mn-lt"/>
              </a:rPr>
              <a:t>, а GPU </a:t>
            </a:r>
            <a:r>
              <a:rPr lang="en-US" dirty="0" err="1">
                <a:ea typeface="+mn-lt"/>
                <a:cs typeface="+mn-lt"/>
              </a:rPr>
              <a:t>извршава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ову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функцију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на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хиљадама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нити</a:t>
            </a:r>
            <a:r>
              <a:rPr lang="en-US" dirty="0">
                <a:ea typeface="+mn-lt"/>
                <a:cs typeface="+mn-lt"/>
              </a:rPr>
              <a:t> у </a:t>
            </a:r>
            <a:r>
              <a:rPr lang="en-US" dirty="0" err="1">
                <a:ea typeface="+mn-lt"/>
                <a:cs typeface="+mn-lt"/>
              </a:rPr>
              <a:t>паралели</a:t>
            </a:r>
            <a:endParaRPr lang="en-US" dirty="0" err="1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625248-1DE5-90FF-08EB-F0BA4ECAB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4CC91-F09A-4F5A-BB07-0020C8970CD5}" type="slidenum">
              <a:rPr lang="sr-Latn-RS" dirty="0" smtClean="0"/>
              <a:t>4</a:t>
            </a:fld>
            <a:r>
              <a:rPr lang="sr-Latn-RS"/>
              <a:t>/9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6920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D5E5E-2D21-9385-61E4-04BB088DA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Множење </a:t>
            </a:r>
            <a:r>
              <a:rPr lang="en-US" err="1"/>
              <a:t>матрица</a:t>
            </a:r>
            <a:r>
              <a:rPr lang="en-US" dirty="0"/>
              <a:t> - CUDA </a:t>
            </a:r>
            <a:r>
              <a:rPr lang="en-US" err="1"/>
              <a:t>кернел</a:t>
            </a:r>
            <a:endParaRPr lang="en-US"/>
          </a:p>
        </p:txBody>
      </p:sp>
      <p:pic>
        <p:nvPicPr>
          <p:cNvPr id="4" name="Content Placeholder 3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4D26CCE7-2E1F-196A-4E4B-D5208323FB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90217" y="1825625"/>
            <a:ext cx="8211566" cy="4351338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0CE460A-D451-63D4-AC2E-6AD6E9E38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4CC91-F09A-4F5A-BB07-0020C8970CD5}" type="slidenum">
              <a:rPr lang="sr-Latn-RS" dirty="0" smtClean="0"/>
              <a:t>5</a:t>
            </a:fld>
            <a:r>
              <a:rPr lang="sr-Latn-RS"/>
              <a:t>/9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7231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95FD55-0499-73B6-7AB4-DAD13904D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graph of a number&#10;&#10;AI-generated content may be incorrect.">
            <a:extLst>
              <a:ext uri="{FF2B5EF4-FFF2-40B4-BE49-F238E27FC236}">
                <a16:creationId xmlns:a16="http://schemas.microsoft.com/office/drawing/2014/main" id="{7A14A08A-32D2-9CA1-34DF-815601182B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71332" y="743626"/>
            <a:ext cx="9049336" cy="5370745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9FFA03A-3024-3AEC-6BD6-801F1497D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4CC91-F09A-4F5A-BB07-0020C8970CD5}" type="slidenum">
              <a:rPr lang="sr-Latn-RS" dirty="0" smtClean="0"/>
              <a:t>6</a:t>
            </a:fld>
            <a:r>
              <a:rPr lang="sr-Latn-RS"/>
              <a:t>/9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6378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43481A-7C8D-41F4-5DA1-0E617A464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graph of a number&#10;&#10;AI-generated content may be incorrect.">
            <a:extLst>
              <a:ext uri="{FF2B5EF4-FFF2-40B4-BE49-F238E27FC236}">
                <a16:creationId xmlns:a16="http://schemas.microsoft.com/office/drawing/2014/main" id="{0661C341-3E5B-3640-1BF6-526CEC4E8D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71332" y="743626"/>
            <a:ext cx="9049336" cy="5370745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F50C85-8251-D551-BB42-7231D3BD7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4CC91-F09A-4F5A-BB07-0020C8970CD5}" type="slidenum">
              <a:rPr lang="sr-Latn-RS" dirty="0" smtClean="0"/>
              <a:t>7</a:t>
            </a:fld>
            <a:r>
              <a:rPr lang="sr-Latn-RS"/>
              <a:t>/9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6111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C6D473-5ED0-1A17-DAFA-1A9794909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graph of a number&#10;&#10;AI-generated content may be incorrect.">
            <a:extLst>
              <a:ext uri="{FF2B5EF4-FFF2-40B4-BE49-F238E27FC236}">
                <a16:creationId xmlns:a16="http://schemas.microsoft.com/office/drawing/2014/main" id="{6EE31244-619F-5EC0-4F6E-4E9329D756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71332" y="743626"/>
            <a:ext cx="9049336" cy="5370745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9901E63-A82E-3C94-CAC9-DBC2D8F18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4CC91-F09A-4F5A-BB07-0020C8970CD5}" type="slidenum">
              <a:rPr lang="sr-Latn-RS" dirty="0" smtClean="0"/>
              <a:t>8</a:t>
            </a:fld>
            <a:r>
              <a:rPr lang="sr-Latn-RS"/>
              <a:t>/9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243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9F3F5F-83F8-EF50-E5B9-57F059DFA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graph with lines and numbers&#10;&#10;AI-generated content may be incorrect.">
            <a:extLst>
              <a:ext uri="{FF2B5EF4-FFF2-40B4-BE49-F238E27FC236}">
                <a16:creationId xmlns:a16="http://schemas.microsoft.com/office/drawing/2014/main" id="{319ECAED-7D88-5F22-1DEC-781A296F0E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71332" y="743626"/>
            <a:ext cx="9049336" cy="5370745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C861C39-80D6-C7E5-D04B-AD19137F2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4CC91-F09A-4F5A-BB07-0020C8970CD5}" type="slidenum">
              <a:rPr lang="sr-Latn-RS" dirty="0" smtClean="0"/>
              <a:t>9</a:t>
            </a:fld>
            <a:r>
              <a:rPr lang="sr-Latn-RS"/>
              <a:t>/9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7521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462</Words>
  <Application>Microsoft Office PowerPoint</Application>
  <PresentationFormat>Widescreen</PresentationFormat>
  <Paragraphs>116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Control Flow Manycore парадигма</vt:lpstr>
      <vt:lpstr>NVIDIA GPU</vt:lpstr>
      <vt:lpstr>CUDA програмски модел</vt:lpstr>
      <vt:lpstr>Множење матрица - CUDA кернел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Никола Николић</dc:creator>
  <cp:lastModifiedBy>Никола Николић</cp:lastModifiedBy>
  <cp:revision>413</cp:revision>
  <dcterms:created xsi:type="dcterms:W3CDTF">2026-05-07T09:48:56Z</dcterms:created>
  <dcterms:modified xsi:type="dcterms:W3CDTF">2026-05-08T14:50:54Z</dcterms:modified>
</cp:coreProperties>
</file>