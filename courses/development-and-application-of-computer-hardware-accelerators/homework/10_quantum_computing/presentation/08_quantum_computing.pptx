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81" r:id="rId3"/>
    <p:sldId id="257" r:id="rId4"/>
    <p:sldId id="289" r:id="rId5"/>
    <p:sldId id="290" r:id="rId6"/>
    <p:sldId id="291" r:id="rId7"/>
    <p:sldId id="292" r:id="rId8"/>
    <p:sldId id="265" r:id="rId9"/>
    <p:sldId id="266" r:id="rId1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0594C6-91E8-00E8-E5FA-787D0A8A6A08}" v="1028" dt="2026-06-19T13:34:47.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B2C382D-3878-48DB-90A3-A21B3898E5EA}" type="datetimeFigureOut">
              <a:t>6/19/2026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B6EC119-86D4-419D-A1D4-5F1C40B2E8B5}" type="slidenum">
              <a:t>‹#›</a:t>
            </a:fld>
            <a:endParaRPr lang="en-US"/>
          </a:p>
        </p:txBody>
      </p:sp>
    </p:spTree>
    <p:extLst>
      <p:ext uri="{BB962C8B-B14F-4D97-AF65-F5344CB8AC3E}">
        <p14:creationId xmlns:p14="http://schemas.microsoft.com/office/powerpoint/2010/main" val="953918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0A83D-71BC-2929-C2BC-2BC291BB6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9DD1D-06BE-FE6C-4486-323F75103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A7B62-8E55-0AA0-9329-EFFFFB40ED23}"/>
              </a:ext>
            </a:extLst>
          </p:cNvPr>
          <p:cNvSpPr>
            <a:spLocks noGrp="1"/>
          </p:cNvSpPr>
          <p:nvPr>
            <p:ph type="body" idx="1"/>
          </p:nvPr>
        </p:nvSpPr>
        <p:spPr/>
        <p:txBody>
          <a:bodyPr/>
          <a:lstStyle/>
          <a:p>
            <a:pPr marL="171450" indent="-171450">
              <a:buFont typeface="Calibri"/>
              <a:buChar char="-"/>
            </a:pP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1FFAE633-C686-31CC-96EB-C65DE2D3EE93}"/>
              </a:ext>
            </a:extLst>
          </p:cNvPr>
          <p:cNvSpPr>
            <a:spLocks noGrp="1"/>
          </p:cNvSpPr>
          <p:nvPr>
            <p:ph type="sldNum" sz="quarter" idx="5"/>
          </p:nvPr>
        </p:nvSpPr>
        <p:spPr/>
        <p:txBody>
          <a:bodyPr/>
          <a:lstStyle/>
          <a:p>
            <a:fld id="{CB6EC119-86D4-419D-A1D4-5F1C40B2E8B5}" type="slidenum">
              <a:t>2</a:t>
            </a:fld>
            <a:endParaRPr lang="en-US"/>
          </a:p>
        </p:txBody>
      </p:sp>
    </p:spTree>
    <p:extLst>
      <p:ext uri="{BB962C8B-B14F-4D97-AF65-F5344CB8AC3E}">
        <p14:creationId xmlns:p14="http://schemas.microsoft.com/office/powerpoint/2010/main" val="3138167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Kvantno</a:t>
            </a:r>
            <a:r>
              <a:rPr lang="en-US" dirty="0"/>
              <a:t> </a:t>
            </a:r>
            <a:r>
              <a:rPr lang="en-US" dirty="0" err="1"/>
              <a:t>računarstvo</a:t>
            </a:r>
            <a:r>
              <a:rPr lang="en-US" dirty="0"/>
              <a:t> se </a:t>
            </a:r>
            <a:r>
              <a:rPr lang="en-US" dirty="0" err="1"/>
              <a:t>zasniva</a:t>
            </a:r>
            <a:r>
              <a:rPr lang="en-US" dirty="0"/>
              <a:t> </a:t>
            </a:r>
            <a:r>
              <a:rPr lang="en-US" dirty="0" err="1"/>
              <a:t>na</a:t>
            </a:r>
            <a:r>
              <a:rPr lang="en-US" dirty="0"/>
              <a:t> </a:t>
            </a:r>
            <a:r>
              <a:rPr lang="en-US" dirty="0" err="1"/>
              <a:t>potpuno</a:t>
            </a:r>
            <a:r>
              <a:rPr lang="en-US" dirty="0"/>
              <a:t> </a:t>
            </a:r>
            <a:r>
              <a:rPr lang="en-US" dirty="0" err="1"/>
              <a:t>drugačijem</a:t>
            </a:r>
            <a:r>
              <a:rPr lang="en-US" dirty="0"/>
              <a:t> </a:t>
            </a:r>
            <a:r>
              <a:rPr lang="en-US" dirty="0" err="1"/>
              <a:t>modelu</a:t>
            </a:r>
            <a:r>
              <a:rPr lang="en-US" dirty="0"/>
              <a:t> od </a:t>
            </a:r>
            <a:r>
              <a:rPr lang="en-US" dirty="0" err="1"/>
              <a:t>klasičnog</a:t>
            </a:r>
            <a:r>
              <a:rPr lang="en-US" dirty="0"/>
              <a:t>. </a:t>
            </a:r>
          </a:p>
          <a:p>
            <a:endParaRPr lang="en-US" dirty="0"/>
          </a:p>
          <a:p>
            <a:r>
              <a:rPr lang="en-US" dirty="0"/>
              <a:t>Umesto </a:t>
            </a:r>
            <a:r>
              <a:rPr lang="en-US" err="1"/>
              <a:t>logičkih</a:t>
            </a:r>
            <a:r>
              <a:rPr lang="en-US" dirty="0"/>
              <a:t> </a:t>
            </a:r>
            <a:r>
              <a:rPr lang="en-US" err="1"/>
              <a:t>operacija</a:t>
            </a:r>
            <a:r>
              <a:rPr lang="en-US" dirty="0"/>
              <a:t> </a:t>
            </a:r>
            <a:r>
              <a:rPr lang="en-US" err="1"/>
              <a:t>nad</a:t>
            </a:r>
            <a:r>
              <a:rPr lang="en-US" dirty="0"/>
              <a:t> </a:t>
            </a:r>
            <a:r>
              <a:rPr lang="en-US" err="1"/>
              <a:t>bitovima</a:t>
            </a:r>
            <a:r>
              <a:rPr lang="en-US" dirty="0"/>
              <a:t>, </a:t>
            </a:r>
            <a:r>
              <a:rPr lang="en-US" err="1"/>
              <a:t>sistem</a:t>
            </a:r>
            <a:r>
              <a:rPr lang="en-US" dirty="0"/>
              <a:t> </a:t>
            </a:r>
            <a:r>
              <a:rPr lang="en-US" err="1"/>
              <a:t>evoluira</a:t>
            </a:r>
            <a:r>
              <a:rPr lang="en-US" dirty="0"/>
              <a:t> </a:t>
            </a:r>
            <a:r>
              <a:rPr lang="en-US" err="1"/>
              <a:t>kroz</a:t>
            </a:r>
            <a:r>
              <a:rPr lang="en-US" dirty="0"/>
              <a:t> </a:t>
            </a:r>
            <a:r>
              <a:rPr lang="en-US" err="1"/>
              <a:t>linearne</a:t>
            </a:r>
            <a:r>
              <a:rPr lang="en-US" dirty="0"/>
              <a:t>, </a:t>
            </a:r>
            <a:r>
              <a:rPr lang="en-US" err="1"/>
              <a:t>unitarnе</a:t>
            </a:r>
            <a:r>
              <a:rPr lang="en-US" dirty="0"/>
              <a:t> </a:t>
            </a:r>
            <a:r>
              <a:rPr lang="en-US" err="1"/>
              <a:t>transformacije</a:t>
            </a:r>
            <a:r>
              <a:rPr lang="en-US" dirty="0"/>
              <a:t> </a:t>
            </a:r>
            <a:r>
              <a:rPr lang="en-US" err="1"/>
              <a:t>nad</a:t>
            </a:r>
            <a:r>
              <a:rPr lang="en-US" dirty="0"/>
              <a:t> </a:t>
            </a:r>
            <a:r>
              <a:rPr lang="en-US" err="1"/>
              <a:t>kvantnim</a:t>
            </a:r>
            <a:r>
              <a:rPr lang="en-US" dirty="0"/>
              <a:t> </a:t>
            </a:r>
            <a:r>
              <a:rPr lang="en-US" err="1"/>
              <a:t>stanjima</a:t>
            </a:r>
            <a:r>
              <a:rPr lang="en-US" dirty="0"/>
              <a:t>. </a:t>
            </a:r>
          </a:p>
          <a:p>
            <a:endParaRPr lang="en-US" dirty="0"/>
          </a:p>
          <a:p>
            <a:r>
              <a:rPr lang="en-US" dirty="0" err="1"/>
              <a:t>Pošto</a:t>
            </a:r>
            <a:r>
              <a:rPr lang="en-US" dirty="0"/>
              <a:t> je </a:t>
            </a:r>
            <a:r>
              <a:rPr lang="en-US" dirty="0" err="1"/>
              <a:t>i</a:t>
            </a:r>
            <a:r>
              <a:rPr lang="en-US" dirty="0"/>
              <a:t> </a:t>
            </a:r>
            <a:r>
              <a:rPr lang="en-US" dirty="0" err="1"/>
              <a:t>sama</a:t>
            </a:r>
            <a:r>
              <a:rPr lang="en-US" dirty="0"/>
              <a:t> </a:t>
            </a:r>
            <a:r>
              <a:rPr lang="en-US" dirty="0" err="1"/>
              <a:t>linearna</a:t>
            </a:r>
            <a:r>
              <a:rPr lang="en-US" dirty="0"/>
              <a:t> algebra </a:t>
            </a:r>
            <a:r>
              <a:rPr lang="en-US" dirty="0" err="1"/>
              <a:t>zasnovana</a:t>
            </a:r>
            <a:r>
              <a:rPr lang="en-US" dirty="0"/>
              <a:t> </a:t>
            </a:r>
            <a:r>
              <a:rPr lang="en-US" dirty="0" err="1"/>
              <a:t>na</a:t>
            </a:r>
            <a:r>
              <a:rPr lang="en-US" dirty="0"/>
              <a:t> </a:t>
            </a:r>
            <a:r>
              <a:rPr lang="en-US" dirty="0" err="1"/>
              <a:t>linearnim</a:t>
            </a:r>
            <a:r>
              <a:rPr lang="en-US" dirty="0"/>
              <a:t> </a:t>
            </a:r>
            <a:r>
              <a:rPr lang="en-US" dirty="0" err="1"/>
              <a:t>transformacijama</a:t>
            </a:r>
            <a:r>
              <a:rPr lang="en-US" dirty="0"/>
              <a:t>, </a:t>
            </a:r>
            <a:r>
              <a:rPr lang="en-US" dirty="0" err="1"/>
              <a:t>postoji</a:t>
            </a:r>
            <a:r>
              <a:rPr lang="en-US" dirty="0"/>
              <a:t> </a:t>
            </a:r>
            <a:r>
              <a:rPr lang="en-US" dirty="0" err="1"/>
              <a:t>prirodna</a:t>
            </a:r>
            <a:r>
              <a:rPr lang="en-US" dirty="0"/>
              <a:t> </a:t>
            </a:r>
            <a:r>
              <a:rPr lang="en-US" dirty="0" err="1"/>
              <a:t>sličnost</a:t>
            </a:r>
            <a:r>
              <a:rPr lang="en-US" dirty="0"/>
              <a:t> </a:t>
            </a:r>
            <a:r>
              <a:rPr lang="en-US" dirty="0" err="1"/>
              <a:t>između</a:t>
            </a:r>
            <a:r>
              <a:rPr lang="en-US" dirty="0"/>
              <a:t> </a:t>
            </a:r>
            <a:r>
              <a:rPr lang="en-US" dirty="0" err="1"/>
              <a:t>kvantnog</a:t>
            </a:r>
            <a:r>
              <a:rPr lang="en-US" dirty="0"/>
              <a:t> </a:t>
            </a:r>
            <a:r>
              <a:rPr lang="en-US" dirty="0" err="1"/>
              <a:t>modela</a:t>
            </a:r>
            <a:r>
              <a:rPr lang="en-US" dirty="0"/>
              <a:t> </a:t>
            </a:r>
            <a:r>
              <a:rPr lang="en-US" dirty="0" err="1"/>
              <a:t>i</a:t>
            </a:r>
            <a:r>
              <a:rPr lang="en-US" dirty="0"/>
              <a:t> </a:t>
            </a:r>
            <a:r>
              <a:rPr lang="en-US" dirty="0" err="1"/>
              <a:t>problema</a:t>
            </a:r>
            <a:r>
              <a:rPr lang="en-US" dirty="0"/>
              <a:t> </a:t>
            </a:r>
            <a:r>
              <a:rPr lang="en-US" dirty="0" err="1"/>
              <a:t>kao</a:t>
            </a:r>
            <a:r>
              <a:rPr lang="en-US" dirty="0"/>
              <a:t> </a:t>
            </a:r>
            <a:r>
              <a:rPr lang="en-US" dirty="0" err="1"/>
              <a:t>što</a:t>
            </a:r>
            <a:r>
              <a:rPr lang="en-US" dirty="0"/>
              <a:t> </a:t>
            </a:r>
            <a:r>
              <a:rPr lang="en-US" dirty="0" err="1"/>
              <a:t>su</a:t>
            </a:r>
            <a:r>
              <a:rPr lang="en-US" dirty="0"/>
              <a:t> </a:t>
            </a:r>
            <a:r>
              <a:rPr lang="en-US" dirty="0" err="1"/>
              <a:t>operacije</a:t>
            </a:r>
            <a:r>
              <a:rPr lang="en-US" dirty="0"/>
              <a:t> </a:t>
            </a:r>
            <a:r>
              <a:rPr lang="en-US" dirty="0" err="1"/>
              <a:t>nad</a:t>
            </a:r>
            <a:r>
              <a:rPr lang="en-US" dirty="0"/>
              <a:t> </a:t>
            </a:r>
            <a:r>
              <a:rPr lang="en-US" dirty="0" err="1"/>
              <a:t>matricama</a:t>
            </a:r>
            <a:r>
              <a:rPr lang="en-US" dirty="0"/>
              <a:t> </a:t>
            </a:r>
            <a:r>
              <a:rPr lang="en-US" dirty="0" err="1"/>
              <a:t>i</a:t>
            </a:r>
            <a:r>
              <a:rPr lang="en-US" dirty="0"/>
              <a:t> </a:t>
            </a:r>
            <a:r>
              <a:rPr lang="en-US" dirty="0" err="1"/>
              <a:t>vektorima</a:t>
            </a:r>
            <a:r>
              <a:rPr lang="en-US" dirty="0"/>
              <a:t>.</a:t>
            </a:r>
            <a:endParaRPr lang="en-US">
              <a:ea typeface="Calibri"/>
              <a:cs typeface="Calibri"/>
            </a:endParaRPr>
          </a:p>
        </p:txBody>
      </p:sp>
      <p:sp>
        <p:nvSpPr>
          <p:cNvPr id="4" name="Slide Number Placeholder 3"/>
          <p:cNvSpPr>
            <a:spLocks noGrp="1"/>
          </p:cNvSpPr>
          <p:nvPr>
            <p:ph type="sldNum" sz="quarter" idx="5"/>
          </p:nvPr>
        </p:nvSpPr>
        <p:spPr/>
        <p:txBody>
          <a:bodyPr/>
          <a:lstStyle/>
          <a:p>
            <a:fld id="{CB6EC119-86D4-419D-A1D4-5F1C40B2E8B5}" type="slidenum">
              <a:t>3</a:t>
            </a:fld>
            <a:endParaRPr lang="en-US"/>
          </a:p>
        </p:txBody>
      </p:sp>
    </p:spTree>
    <p:extLst>
      <p:ext uri="{BB962C8B-B14F-4D97-AF65-F5344CB8AC3E}">
        <p14:creationId xmlns:p14="http://schemas.microsoft.com/office/powerpoint/2010/main" val="1021720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2A897-5E07-CA1B-861B-5229F5C30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A5B64-F91B-99F2-2E61-F7853F3C8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0A9CF-C5A0-834A-ED3E-0FB39E2059E7}"/>
              </a:ext>
            </a:extLst>
          </p:cNvPr>
          <p:cNvSpPr>
            <a:spLocks noGrp="1"/>
          </p:cNvSpPr>
          <p:nvPr>
            <p:ph type="body" idx="1"/>
          </p:nvPr>
        </p:nvSpPr>
        <p:spPr/>
        <p:txBody>
          <a:bodyPr/>
          <a:lstStyle/>
          <a:p>
            <a:r>
              <a:rPr lang="en-US" dirty="0" err="1"/>
              <a:t>Osnovna</a:t>
            </a:r>
            <a:r>
              <a:rPr lang="en-US" dirty="0"/>
              <a:t> </a:t>
            </a:r>
            <a:r>
              <a:rPr lang="en-US" dirty="0" err="1"/>
              <a:t>jedinica</a:t>
            </a:r>
            <a:r>
              <a:rPr lang="en-US" dirty="0"/>
              <a:t> je qubit, koji se ne </a:t>
            </a:r>
            <a:r>
              <a:rPr lang="en-US" dirty="0" err="1"/>
              <a:t>nalazi</a:t>
            </a:r>
            <a:r>
              <a:rPr lang="en-US" dirty="0"/>
              <a:t> </a:t>
            </a:r>
            <a:r>
              <a:rPr lang="en-US" dirty="0" err="1"/>
              <a:t>samo</a:t>
            </a:r>
            <a:r>
              <a:rPr lang="en-US" dirty="0"/>
              <a:t> u </a:t>
            </a:r>
            <a:r>
              <a:rPr lang="en-US" dirty="0" err="1"/>
              <a:t>stanju</a:t>
            </a:r>
            <a:r>
              <a:rPr lang="en-US" dirty="0"/>
              <a:t> </a:t>
            </a:r>
            <a:r>
              <a:rPr lang="en-US" dirty="0" err="1"/>
              <a:t>nula</a:t>
            </a:r>
            <a:r>
              <a:rPr lang="en-US" dirty="0"/>
              <a:t> </a:t>
            </a:r>
            <a:r>
              <a:rPr lang="en-US" dirty="0" err="1"/>
              <a:t>ili</a:t>
            </a:r>
            <a:r>
              <a:rPr lang="en-US" dirty="0"/>
              <a:t> </a:t>
            </a:r>
            <a:r>
              <a:rPr lang="en-US" dirty="0" err="1"/>
              <a:t>jedan</a:t>
            </a:r>
            <a:r>
              <a:rPr lang="en-US" dirty="0"/>
              <a:t>, </a:t>
            </a:r>
            <a:r>
              <a:rPr lang="en-US" dirty="0" err="1"/>
              <a:t>već</a:t>
            </a:r>
            <a:r>
              <a:rPr lang="en-US" dirty="0"/>
              <a:t> u </a:t>
            </a:r>
            <a:r>
              <a:rPr lang="en-US" dirty="0" err="1"/>
              <a:t>superpoziciji</a:t>
            </a:r>
            <a:r>
              <a:rPr lang="en-US" dirty="0"/>
              <a:t> ta </a:t>
            </a:r>
            <a:r>
              <a:rPr lang="en-US" dirty="0" err="1"/>
              <a:t>dva</a:t>
            </a:r>
            <a:r>
              <a:rPr lang="en-US" dirty="0"/>
              <a:t> </a:t>
            </a:r>
            <a:r>
              <a:rPr lang="en-US" dirty="0" err="1"/>
              <a:t>stanja</a:t>
            </a:r>
            <a:r>
              <a:rPr lang="en-US" dirty="0"/>
              <a:t>. </a:t>
            </a:r>
          </a:p>
          <a:p>
            <a:endParaRPr lang="en-US" dirty="0"/>
          </a:p>
          <a:p>
            <a:r>
              <a:rPr lang="en-US" dirty="0" err="1"/>
              <a:t>Sistem</a:t>
            </a:r>
            <a:r>
              <a:rPr lang="en-US" dirty="0"/>
              <a:t> od n qubit-a </a:t>
            </a:r>
            <a:r>
              <a:rPr lang="en-US" dirty="0" err="1"/>
              <a:t>opisuje</a:t>
            </a:r>
            <a:r>
              <a:rPr lang="en-US" dirty="0"/>
              <a:t> se </a:t>
            </a:r>
            <a:r>
              <a:rPr lang="en-US" dirty="0" err="1"/>
              <a:t>kao</a:t>
            </a:r>
            <a:r>
              <a:rPr lang="en-US" dirty="0"/>
              <a:t> </a:t>
            </a:r>
            <a:r>
              <a:rPr lang="en-US" dirty="0" err="1"/>
              <a:t>vektor</a:t>
            </a:r>
            <a:r>
              <a:rPr lang="en-US" dirty="0"/>
              <a:t> u 2 </a:t>
            </a:r>
            <a:r>
              <a:rPr lang="en-US" dirty="0" err="1"/>
              <a:t>na</a:t>
            </a:r>
            <a:r>
              <a:rPr lang="en-US" dirty="0"/>
              <a:t> n-</a:t>
            </a:r>
            <a:r>
              <a:rPr lang="en-US" dirty="0" err="1"/>
              <a:t>dimenzionalnom</a:t>
            </a:r>
            <a:r>
              <a:rPr lang="en-US" dirty="0"/>
              <a:t> </a:t>
            </a:r>
            <a:r>
              <a:rPr lang="en-US" dirty="0" err="1"/>
              <a:t>kompleksnom</a:t>
            </a:r>
            <a:r>
              <a:rPr lang="en-US" dirty="0"/>
              <a:t> </a:t>
            </a:r>
            <a:r>
              <a:rPr lang="en-US" dirty="0" err="1"/>
              <a:t>prostoru</a:t>
            </a:r>
            <a:r>
              <a:rPr lang="en-US" dirty="0"/>
              <a:t>. </a:t>
            </a:r>
          </a:p>
          <a:p>
            <a:endParaRPr lang="en-US" dirty="0"/>
          </a:p>
          <a:p>
            <a:r>
              <a:rPr lang="en-US" dirty="0" err="1"/>
              <a:t>Ključna</a:t>
            </a:r>
            <a:r>
              <a:rPr lang="en-US" dirty="0"/>
              <a:t> </a:t>
            </a:r>
            <a:r>
              <a:rPr lang="en-US" dirty="0" err="1"/>
              <a:t>ideja</a:t>
            </a:r>
            <a:r>
              <a:rPr lang="en-US" dirty="0"/>
              <a:t> je da se </a:t>
            </a:r>
            <a:r>
              <a:rPr lang="en-US" dirty="0" err="1"/>
              <a:t>informacije</a:t>
            </a:r>
            <a:r>
              <a:rPr lang="en-US" dirty="0"/>
              <a:t> ne </a:t>
            </a:r>
            <a:r>
              <a:rPr lang="en-US" dirty="0" err="1"/>
              <a:t>čuvaju</a:t>
            </a:r>
            <a:r>
              <a:rPr lang="en-US" dirty="0"/>
              <a:t> </a:t>
            </a:r>
            <a:r>
              <a:rPr lang="en-US" dirty="0" err="1"/>
              <a:t>direktno</a:t>
            </a:r>
            <a:r>
              <a:rPr lang="en-US" dirty="0"/>
              <a:t> </a:t>
            </a:r>
            <a:r>
              <a:rPr lang="en-US" dirty="0" err="1"/>
              <a:t>kao</a:t>
            </a:r>
            <a:r>
              <a:rPr lang="en-US" dirty="0"/>
              <a:t> </a:t>
            </a:r>
            <a:r>
              <a:rPr lang="en-US" dirty="0" err="1"/>
              <a:t>klasične</a:t>
            </a:r>
            <a:r>
              <a:rPr lang="en-US" dirty="0"/>
              <a:t> </a:t>
            </a:r>
            <a:r>
              <a:rPr lang="en-US" dirty="0" err="1"/>
              <a:t>vrednosti</a:t>
            </a:r>
            <a:r>
              <a:rPr lang="en-US" dirty="0"/>
              <a:t>, </a:t>
            </a:r>
            <a:r>
              <a:rPr lang="en-US" dirty="0" err="1"/>
              <a:t>već</a:t>
            </a:r>
            <a:r>
              <a:rPr lang="en-US" dirty="0"/>
              <a:t> u </a:t>
            </a:r>
            <a:r>
              <a:rPr lang="en-US" dirty="0" err="1"/>
              <a:t>amplitudama</a:t>
            </a:r>
            <a:r>
              <a:rPr lang="en-US" dirty="0"/>
              <a:t> tog </a:t>
            </a:r>
            <a:r>
              <a:rPr lang="en-US" dirty="0" err="1"/>
              <a:t>vektora</a:t>
            </a:r>
            <a:r>
              <a:rPr lang="en-US" dirty="0"/>
              <a:t>, </a:t>
            </a:r>
            <a:r>
              <a:rPr lang="en-US" dirty="0" err="1"/>
              <a:t>što</a:t>
            </a:r>
            <a:r>
              <a:rPr lang="en-US" dirty="0"/>
              <a:t> </a:t>
            </a:r>
            <a:r>
              <a:rPr lang="en-US" dirty="0" err="1"/>
              <a:t>omogućava</a:t>
            </a:r>
            <a:r>
              <a:rPr lang="en-US" dirty="0"/>
              <a:t> </a:t>
            </a:r>
            <a:r>
              <a:rPr lang="en-US" dirty="0" err="1"/>
              <a:t>paralelnu</a:t>
            </a:r>
            <a:r>
              <a:rPr lang="en-US" dirty="0"/>
              <a:t> </a:t>
            </a:r>
            <a:r>
              <a:rPr lang="en-US" dirty="0" err="1"/>
              <a:t>evoluciju</a:t>
            </a:r>
            <a:r>
              <a:rPr lang="en-US" dirty="0"/>
              <a:t> </a:t>
            </a:r>
            <a:r>
              <a:rPr lang="en-US" dirty="0" err="1"/>
              <a:t>velikog</a:t>
            </a:r>
            <a:r>
              <a:rPr lang="en-US" dirty="0"/>
              <a:t> </a:t>
            </a:r>
            <a:r>
              <a:rPr lang="en-US" dirty="0" err="1"/>
              <a:t>broja</a:t>
            </a:r>
            <a:r>
              <a:rPr lang="en-US" dirty="0"/>
              <a:t> </a:t>
            </a:r>
            <a:r>
              <a:rPr lang="en-US" dirty="0" err="1"/>
              <a:t>komponenti</a:t>
            </a:r>
            <a:r>
              <a:rPr lang="en-US" dirty="0"/>
              <a:t>.</a:t>
            </a:r>
            <a:endParaRPr lang="en-US" dirty="0">
              <a:ea typeface="Calibri"/>
              <a:cs typeface="Calibri"/>
            </a:endParaRPr>
          </a:p>
        </p:txBody>
      </p:sp>
      <p:sp>
        <p:nvSpPr>
          <p:cNvPr id="4" name="Slide Number Placeholder 3">
            <a:extLst>
              <a:ext uri="{FF2B5EF4-FFF2-40B4-BE49-F238E27FC236}">
                <a16:creationId xmlns:a16="http://schemas.microsoft.com/office/drawing/2014/main" id="{C5EC5BAB-DC5A-226A-EA69-EF8AC5ED0110}"/>
              </a:ext>
            </a:extLst>
          </p:cNvPr>
          <p:cNvSpPr>
            <a:spLocks noGrp="1"/>
          </p:cNvSpPr>
          <p:nvPr>
            <p:ph type="sldNum" sz="quarter" idx="5"/>
          </p:nvPr>
        </p:nvSpPr>
        <p:spPr/>
        <p:txBody>
          <a:bodyPr/>
          <a:lstStyle/>
          <a:p>
            <a:fld id="{CB6EC119-86D4-419D-A1D4-5F1C40B2E8B5}" type="slidenum">
              <a:t>4</a:t>
            </a:fld>
            <a:endParaRPr lang="en-US"/>
          </a:p>
        </p:txBody>
      </p:sp>
    </p:spTree>
    <p:extLst>
      <p:ext uri="{BB962C8B-B14F-4D97-AF65-F5344CB8AC3E}">
        <p14:creationId xmlns:p14="http://schemas.microsoft.com/office/powerpoint/2010/main" val="471487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2AB86-D6AA-F57A-50E8-79C53F98B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EB54C-946B-0079-1EF4-9589B5A3B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103B9-3A17-8C17-25BB-5814AF83D852}"/>
              </a:ext>
            </a:extLst>
          </p:cNvPr>
          <p:cNvSpPr>
            <a:spLocks noGrp="1"/>
          </p:cNvSpPr>
          <p:nvPr>
            <p:ph type="body" idx="1"/>
          </p:nvPr>
        </p:nvSpPr>
        <p:spPr/>
        <p:txBody>
          <a:bodyPr/>
          <a:lstStyle/>
          <a:p>
            <a:r>
              <a:rPr lang="en-US" dirty="0" err="1"/>
              <a:t>Manipulacija</a:t>
            </a:r>
            <a:r>
              <a:rPr lang="en-US" dirty="0"/>
              <a:t> </a:t>
            </a:r>
            <a:r>
              <a:rPr lang="en-US" dirty="0" err="1"/>
              <a:t>podacima</a:t>
            </a:r>
            <a:r>
              <a:rPr lang="en-US" dirty="0"/>
              <a:t> u </a:t>
            </a:r>
            <a:r>
              <a:rPr lang="en-US" dirty="0" err="1"/>
              <a:t>kvantnom</a:t>
            </a:r>
            <a:r>
              <a:rPr lang="en-US" dirty="0"/>
              <a:t> </a:t>
            </a:r>
            <a:r>
              <a:rPr lang="en-US" dirty="0" err="1"/>
              <a:t>računaru</a:t>
            </a:r>
            <a:r>
              <a:rPr lang="en-US" dirty="0"/>
              <a:t> se </a:t>
            </a:r>
            <a:r>
              <a:rPr lang="en-US" dirty="0" err="1"/>
              <a:t>vrši</a:t>
            </a:r>
            <a:r>
              <a:rPr lang="en-US" dirty="0"/>
              <a:t> </a:t>
            </a:r>
            <a:r>
              <a:rPr lang="en-US" dirty="0" err="1"/>
              <a:t>unitarnim</a:t>
            </a:r>
            <a:r>
              <a:rPr lang="en-US" dirty="0"/>
              <a:t> </a:t>
            </a:r>
            <a:r>
              <a:rPr lang="en-US" dirty="0" err="1"/>
              <a:t>matricama</a:t>
            </a:r>
            <a:r>
              <a:rPr lang="en-US" dirty="0"/>
              <a:t>, </a:t>
            </a:r>
            <a:r>
              <a:rPr lang="en-US" dirty="0" err="1"/>
              <a:t>što</a:t>
            </a:r>
            <a:r>
              <a:rPr lang="en-US" dirty="0"/>
              <a:t> </a:t>
            </a:r>
            <a:r>
              <a:rPr lang="en-US" dirty="0" err="1"/>
              <a:t>znači</a:t>
            </a:r>
            <a:r>
              <a:rPr lang="en-US" dirty="0"/>
              <a:t> da </a:t>
            </a:r>
            <a:r>
              <a:rPr lang="en-US" dirty="0" err="1"/>
              <a:t>su</a:t>
            </a:r>
            <a:r>
              <a:rPr lang="en-US" dirty="0"/>
              <a:t> </a:t>
            </a:r>
            <a:r>
              <a:rPr lang="en-US" dirty="0" err="1"/>
              <a:t>sve</a:t>
            </a:r>
            <a:r>
              <a:rPr lang="en-US" dirty="0"/>
              <a:t> </a:t>
            </a:r>
            <a:r>
              <a:rPr lang="en-US" dirty="0" err="1"/>
              <a:t>operacije</a:t>
            </a:r>
            <a:r>
              <a:rPr lang="en-US" dirty="0"/>
              <a:t> </a:t>
            </a:r>
            <a:r>
              <a:rPr lang="en-US" dirty="0" err="1"/>
              <a:t>reverzibilne</a:t>
            </a:r>
            <a:r>
              <a:rPr lang="en-US" dirty="0"/>
              <a:t> </a:t>
            </a:r>
            <a:r>
              <a:rPr lang="en-US" dirty="0" err="1"/>
              <a:t>i</a:t>
            </a:r>
            <a:r>
              <a:rPr lang="en-US" dirty="0"/>
              <a:t> </a:t>
            </a:r>
            <a:r>
              <a:rPr lang="en-US" dirty="0" err="1"/>
              <a:t>čuvaju</a:t>
            </a:r>
            <a:r>
              <a:rPr lang="en-US" dirty="0"/>
              <a:t> </a:t>
            </a:r>
            <a:r>
              <a:rPr lang="en-US" dirty="0" err="1"/>
              <a:t>ukupnu</a:t>
            </a:r>
            <a:r>
              <a:rPr lang="en-US" dirty="0"/>
              <a:t> </a:t>
            </a:r>
            <a:r>
              <a:rPr lang="en-US" dirty="0" err="1"/>
              <a:t>verovatnoću</a:t>
            </a:r>
            <a:r>
              <a:rPr lang="en-US" dirty="0"/>
              <a:t>. </a:t>
            </a:r>
          </a:p>
          <a:p>
            <a:endParaRPr lang="en-US" dirty="0"/>
          </a:p>
          <a:p>
            <a:r>
              <a:rPr lang="en-US" dirty="0" err="1"/>
              <a:t>Tokom</a:t>
            </a:r>
            <a:r>
              <a:rPr lang="en-US" dirty="0"/>
              <a:t> </a:t>
            </a:r>
            <a:r>
              <a:rPr lang="en-US" dirty="0" err="1"/>
              <a:t>računanja</a:t>
            </a:r>
            <a:r>
              <a:rPr lang="en-US" dirty="0"/>
              <a:t> </a:t>
            </a:r>
            <a:r>
              <a:rPr lang="en-US" dirty="0" err="1"/>
              <a:t>dolazi</a:t>
            </a:r>
            <a:r>
              <a:rPr lang="en-US" dirty="0"/>
              <a:t> do </a:t>
            </a:r>
            <a:r>
              <a:rPr lang="en-US" dirty="0" err="1"/>
              <a:t>interferencije</a:t>
            </a:r>
            <a:r>
              <a:rPr lang="en-US" dirty="0"/>
              <a:t> </a:t>
            </a:r>
            <a:r>
              <a:rPr lang="en-US" dirty="0" err="1"/>
              <a:t>amplituda</a:t>
            </a:r>
            <a:r>
              <a:rPr lang="en-US" dirty="0"/>
              <a:t>, </a:t>
            </a:r>
            <a:r>
              <a:rPr lang="en-US" dirty="0" err="1"/>
              <a:t>gde</a:t>
            </a:r>
            <a:r>
              <a:rPr lang="en-US" dirty="0"/>
              <a:t> se </a:t>
            </a:r>
            <a:r>
              <a:rPr lang="en-US" dirty="0" err="1"/>
              <a:t>određena</a:t>
            </a:r>
            <a:r>
              <a:rPr lang="en-US" dirty="0"/>
              <a:t> </a:t>
            </a:r>
            <a:r>
              <a:rPr lang="en-US" dirty="0" err="1"/>
              <a:t>rešenja</a:t>
            </a:r>
            <a:r>
              <a:rPr lang="en-US" dirty="0"/>
              <a:t> </a:t>
            </a:r>
            <a:r>
              <a:rPr lang="en-US" dirty="0" err="1"/>
              <a:t>pojačavaju</a:t>
            </a:r>
            <a:r>
              <a:rPr lang="en-US" dirty="0"/>
              <a:t>, a </a:t>
            </a:r>
            <a:r>
              <a:rPr lang="en-US" dirty="0" err="1"/>
              <a:t>druga</a:t>
            </a:r>
            <a:r>
              <a:rPr lang="en-US" dirty="0"/>
              <a:t> </a:t>
            </a:r>
            <a:r>
              <a:rPr lang="en-US" dirty="0" err="1"/>
              <a:t>poništavaju</a:t>
            </a:r>
            <a:r>
              <a:rPr lang="en-US" dirty="0"/>
              <a:t>. </a:t>
            </a:r>
            <a:endParaRPr lang="en-US"/>
          </a:p>
          <a:p>
            <a:endParaRPr lang="en-US" dirty="0"/>
          </a:p>
          <a:p>
            <a:r>
              <a:rPr lang="en-US" dirty="0"/>
              <a:t>Na </a:t>
            </a:r>
            <a:r>
              <a:rPr lang="en-US" dirty="0" err="1"/>
              <a:t>kraju</a:t>
            </a:r>
            <a:r>
              <a:rPr lang="en-US" dirty="0"/>
              <a:t>, </a:t>
            </a:r>
            <a:r>
              <a:rPr lang="en-US" dirty="0" err="1"/>
              <a:t>merenjem</a:t>
            </a:r>
            <a:r>
              <a:rPr lang="en-US" dirty="0"/>
              <a:t> se </a:t>
            </a:r>
            <a:r>
              <a:rPr lang="en-US" dirty="0" err="1"/>
              <a:t>kvantno</a:t>
            </a:r>
            <a:r>
              <a:rPr lang="en-US" dirty="0"/>
              <a:t> </a:t>
            </a:r>
            <a:r>
              <a:rPr lang="en-US" dirty="0" err="1"/>
              <a:t>stanje</a:t>
            </a:r>
            <a:r>
              <a:rPr lang="en-US" dirty="0"/>
              <a:t> </a:t>
            </a:r>
            <a:r>
              <a:rPr lang="en-US" dirty="0" err="1"/>
              <a:t>kolapsira</a:t>
            </a:r>
            <a:r>
              <a:rPr lang="en-US" dirty="0"/>
              <a:t> u </a:t>
            </a:r>
            <a:r>
              <a:rPr lang="en-US" dirty="0" err="1"/>
              <a:t>klasičan</a:t>
            </a:r>
            <a:r>
              <a:rPr lang="en-US" dirty="0"/>
              <a:t> </a:t>
            </a:r>
            <a:r>
              <a:rPr lang="en-US" dirty="0" err="1"/>
              <a:t>rezultat</a:t>
            </a:r>
            <a:r>
              <a:rPr lang="en-US" dirty="0"/>
              <a:t>, </a:t>
            </a:r>
            <a:r>
              <a:rPr lang="en-US" dirty="0" err="1"/>
              <a:t>što</a:t>
            </a:r>
            <a:r>
              <a:rPr lang="en-US" dirty="0"/>
              <a:t> je </a:t>
            </a:r>
            <a:r>
              <a:rPr lang="en-US" dirty="0" err="1"/>
              <a:t>jedini</a:t>
            </a:r>
            <a:r>
              <a:rPr lang="en-US" dirty="0"/>
              <a:t> </a:t>
            </a:r>
            <a:r>
              <a:rPr lang="en-US" dirty="0" err="1"/>
              <a:t>trenutak</a:t>
            </a:r>
            <a:r>
              <a:rPr lang="en-US" dirty="0"/>
              <a:t> </a:t>
            </a:r>
            <a:r>
              <a:rPr lang="en-US" dirty="0" err="1"/>
              <a:t>kada</a:t>
            </a:r>
            <a:r>
              <a:rPr lang="en-US" dirty="0"/>
              <a:t> </a:t>
            </a:r>
            <a:r>
              <a:rPr lang="en-US" dirty="0" err="1"/>
              <a:t>dobijamo</a:t>
            </a:r>
            <a:r>
              <a:rPr lang="en-US" dirty="0"/>
              <a:t> </a:t>
            </a:r>
            <a:r>
              <a:rPr lang="en-US" dirty="0" err="1"/>
              <a:t>eksplicitnu</a:t>
            </a:r>
            <a:r>
              <a:rPr lang="en-US" dirty="0"/>
              <a:t> </a:t>
            </a:r>
            <a:r>
              <a:rPr lang="en-US" dirty="0" err="1"/>
              <a:t>vrednost</a:t>
            </a:r>
            <a:r>
              <a:rPr lang="en-US" dirty="0"/>
              <a:t>.</a:t>
            </a:r>
            <a:endParaRPr lang="en-US" dirty="0">
              <a:ea typeface="Calibri"/>
              <a:cs typeface="Calibri"/>
            </a:endParaRPr>
          </a:p>
        </p:txBody>
      </p:sp>
      <p:sp>
        <p:nvSpPr>
          <p:cNvPr id="4" name="Slide Number Placeholder 3">
            <a:extLst>
              <a:ext uri="{FF2B5EF4-FFF2-40B4-BE49-F238E27FC236}">
                <a16:creationId xmlns:a16="http://schemas.microsoft.com/office/drawing/2014/main" id="{8675ACCE-80EE-7E32-26E0-87D605F9CC4D}"/>
              </a:ext>
            </a:extLst>
          </p:cNvPr>
          <p:cNvSpPr>
            <a:spLocks noGrp="1"/>
          </p:cNvSpPr>
          <p:nvPr>
            <p:ph type="sldNum" sz="quarter" idx="5"/>
          </p:nvPr>
        </p:nvSpPr>
        <p:spPr/>
        <p:txBody>
          <a:bodyPr/>
          <a:lstStyle/>
          <a:p>
            <a:fld id="{CB6EC119-86D4-419D-A1D4-5F1C40B2E8B5}" type="slidenum">
              <a:t>5</a:t>
            </a:fld>
            <a:endParaRPr lang="en-US"/>
          </a:p>
        </p:txBody>
      </p:sp>
    </p:spTree>
    <p:extLst>
      <p:ext uri="{BB962C8B-B14F-4D97-AF65-F5344CB8AC3E}">
        <p14:creationId xmlns:p14="http://schemas.microsoft.com/office/powerpoint/2010/main" val="2602511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7048B-5E7C-81DD-F84D-187BD2F57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056FB-8950-CDCC-FC0F-16168B5B06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5305E-5852-46DA-7194-D8F6A7C7537C}"/>
              </a:ext>
            </a:extLst>
          </p:cNvPr>
          <p:cNvSpPr>
            <a:spLocks noGrp="1"/>
          </p:cNvSpPr>
          <p:nvPr>
            <p:ph type="body" idx="1"/>
          </p:nvPr>
        </p:nvSpPr>
        <p:spPr/>
        <p:txBody>
          <a:bodyPr/>
          <a:lstStyle/>
          <a:p>
            <a:r>
              <a:rPr lang="en-US" dirty="0" err="1"/>
              <a:t>Umesto</a:t>
            </a:r>
            <a:r>
              <a:rPr lang="en-US" dirty="0"/>
              <a:t> </a:t>
            </a:r>
            <a:r>
              <a:rPr lang="en-US" dirty="0" err="1"/>
              <a:t>direktnog</a:t>
            </a:r>
            <a:r>
              <a:rPr lang="en-US" dirty="0"/>
              <a:t> </a:t>
            </a:r>
            <a:r>
              <a:rPr lang="en-US" dirty="0" err="1"/>
              <a:t>klasičnog</a:t>
            </a:r>
            <a:r>
              <a:rPr lang="en-US" dirty="0"/>
              <a:t> </a:t>
            </a:r>
            <a:r>
              <a:rPr lang="en-US" dirty="0" err="1"/>
              <a:t>množenja</a:t>
            </a:r>
            <a:r>
              <a:rPr lang="en-US" dirty="0"/>
              <a:t> </a:t>
            </a:r>
            <a:r>
              <a:rPr lang="en-US" dirty="0" err="1"/>
              <a:t>matrica</a:t>
            </a:r>
            <a:r>
              <a:rPr lang="en-US" dirty="0"/>
              <a:t>, </a:t>
            </a:r>
            <a:r>
              <a:rPr lang="en-US" dirty="0" err="1"/>
              <a:t>kvantni</a:t>
            </a:r>
            <a:r>
              <a:rPr lang="en-US" dirty="0"/>
              <a:t> </a:t>
            </a:r>
            <a:r>
              <a:rPr lang="en-US" dirty="0" err="1"/>
              <a:t>algoritmi</a:t>
            </a:r>
            <a:r>
              <a:rPr lang="en-US" dirty="0"/>
              <a:t> </a:t>
            </a:r>
            <a:r>
              <a:rPr lang="en-US" dirty="0" err="1"/>
              <a:t>kodiraju</a:t>
            </a:r>
            <a:r>
              <a:rPr lang="en-US" dirty="0"/>
              <a:t> </a:t>
            </a:r>
            <a:r>
              <a:rPr lang="en-US" dirty="0" err="1"/>
              <a:t>podatke</a:t>
            </a:r>
            <a:r>
              <a:rPr lang="en-US" dirty="0"/>
              <a:t> u </a:t>
            </a:r>
            <a:r>
              <a:rPr lang="en-US" dirty="0" err="1"/>
              <a:t>kvantna</a:t>
            </a:r>
            <a:r>
              <a:rPr lang="en-US" dirty="0"/>
              <a:t> </a:t>
            </a:r>
            <a:r>
              <a:rPr lang="en-US" dirty="0" err="1"/>
              <a:t>stanja</a:t>
            </a:r>
            <a:r>
              <a:rPr lang="en-US" dirty="0"/>
              <a:t>. </a:t>
            </a:r>
          </a:p>
          <a:p>
            <a:endParaRPr lang="en-US" dirty="0"/>
          </a:p>
          <a:p>
            <a:r>
              <a:rPr lang="en-US" dirty="0"/>
              <a:t>Postoji </a:t>
            </a:r>
            <a:r>
              <a:rPr lang="en-US" dirty="0" err="1"/>
              <a:t>više</a:t>
            </a:r>
            <a:r>
              <a:rPr lang="en-US" dirty="0"/>
              <a:t> </a:t>
            </a:r>
            <a:r>
              <a:rPr lang="en-US" dirty="0" err="1"/>
              <a:t>metoda</a:t>
            </a:r>
            <a:r>
              <a:rPr lang="en-US" dirty="0"/>
              <a:t> </a:t>
            </a:r>
            <a:r>
              <a:rPr lang="en-US" dirty="0" err="1"/>
              <a:t>kodiranja</a:t>
            </a:r>
            <a:r>
              <a:rPr lang="en-US" dirty="0"/>
              <a:t>, </a:t>
            </a:r>
            <a:r>
              <a:rPr lang="en-US" dirty="0" err="1"/>
              <a:t>kao</a:t>
            </a:r>
            <a:r>
              <a:rPr lang="en-US" dirty="0"/>
              <a:t> </a:t>
            </a:r>
            <a:r>
              <a:rPr lang="en-US" dirty="0" err="1"/>
              <a:t>što</a:t>
            </a:r>
            <a:r>
              <a:rPr lang="en-US" dirty="0"/>
              <a:t> je amplitude encoding, </a:t>
            </a:r>
            <a:r>
              <a:rPr lang="en-US" dirty="0" err="1"/>
              <a:t>gde</a:t>
            </a:r>
            <a:r>
              <a:rPr lang="en-US" dirty="0"/>
              <a:t> se </a:t>
            </a:r>
            <a:r>
              <a:rPr lang="en-US" dirty="0" err="1"/>
              <a:t>elementi</a:t>
            </a:r>
            <a:r>
              <a:rPr lang="en-US" dirty="0"/>
              <a:t> </a:t>
            </a:r>
            <a:r>
              <a:rPr lang="en-US" dirty="0" err="1"/>
              <a:t>matrice</a:t>
            </a:r>
            <a:r>
              <a:rPr lang="en-US" dirty="0"/>
              <a:t> </a:t>
            </a:r>
            <a:r>
              <a:rPr lang="en-US" dirty="0" err="1"/>
              <a:t>smeštaju</a:t>
            </a:r>
            <a:r>
              <a:rPr lang="en-US" dirty="0"/>
              <a:t> u </a:t>
            </a:r>
            <a:r>
              <a:rPr lang="en-US" dirty="0" err="1"/>
              <a:t>amplitudе</a:t>
            </a:r>
            <a:r>
              <a:rPr lang="en-US" dirty="0"/>
              <a:t>. </a:t>
            </a:r>
            <a:endParaRPr lang="en-US"/>
          </a:p>
          <a:p>
            <a:endParaRPr lang="en-US" dirty="0"/>
          </a:p>
          <a:p>
            <a:r>
              <a:rPr lang="en-US" dirty="0" err="1"/>
              <a:t>Zatim</a:t>
            </a:r>
            <a:r>
              <a:rPr lang="en-US" dirty="0"/>
              <a:t> se </a:t>
            </a:r>
            <a:r>
              <a:rPr lang="en-US" dirty="0" err="1"/>
              <a:t>linearne</a:t>
            </a:r>
            <a:r>
              <a:rPr lang="en-US" dirty="0"/>
              <a:t> </a:t>
            </a:r>
            <a:r>
              <a:rPr lang="en-US" dirty="0" err="1"/>
              <a:t>operacije</a:t>
            </a:r>
            <a:r>
              <a:rPr lang="en-US" dirty="0"/>
              <a:t> </a:t>
            </a:r>
            <a:r>
              <a:rPr lang="en-US" dirty="0" err="1"/>
              <a:t>implementiraju</a:t>
            </a:r>
            <a:r>
              <a:rPr lang="en-US" dirty="0"/>
              <a:t> </a:t>
            </a:r>
            <a:r>
              <a:rPr lang="en-US" dirty="0" err="1"/>
              <a:t>kao</a:t>
            </a:r>
            <a:r>
              <a:rPr lang="en-US" dirty="0"/>
              <a:t> </a:t>
            </a:r>
            <a:r>
              <a:rPr lang="en-US" dirty="0" err="1"/>
              <a:t>kvantne</a:t>
            </a:r>
            <a:r>
              <a:rPr lang="en-US" dirty="0"/>
              <a:t> </a:t>
            </a:r>
            <a:r>
              <a:rPr lang="en-US" dirty="0" err="1"/>
              <a:t>transformacije</a:t>
            </a:r>
            <a:r>
              <a:rPr lang="en-US" dirty="0"/>
              <a:t>. </a:t>
            </a:r>
          </a:p>
          <a:p>
            <a:endParaRPr lang="en-US" dirty="0"/>
          </a:p>
          <a:p>
            <a:r>
              <a:rPr lang="en-US" dirty="0"/>
              <a:t>HHL </a:t>
            </a:r>
            <a:r>
              <a:rPr lang="en-US" dirty="0" err="1"/>
              <a:t>algoritam</a:t>
            </a:r>
            <a:r>
              <a:rPr lang="en-US" dirty="0"/>
              <a:t> </a:t>
            </a:r>
            <a:r>
              <a:rPr lang="en-US" dirty="0" err="1"/>
              <a:t>rešava</a:t>
            </a:r>
            <a:r>
              <a:rPr lang="en-US" dirty="0"/>
              <a:t> </a:t>
            </a:r>
            <a:r>
              <a:rPr lang="en-US" dirty="0" err="1"/>
              <a:t>linearne</a:t>
            </a:r>
            <a:r>
              <a:rPr lang="en-US" dirty="0"/>
              <a:t> </a:t>
            </a:r>
            <a:r>
              <a:rPr lang="en-US" dirty="0" err="1"/>
              <a:t>sisteme</a:t>
            </a:r>
            <a:r>
              <a:rPr lang="en-US" dirty="0"/>
              <a:t> </a:t>
            </a:r>
            <a:r>
              <a:rPr lang="en-US" dirty="0" err="1"/>
              <a:t>tipa</a:t>
            </a:r>
            <a:r>
              <a:rPr lang="en-US" dirty="0"/>
              <a:t> Ax </a:t>
            </a:r>
            <a:r>
              <a:rPr lang="en-US" dirty="0" err="1"/>
              <a:t>jednako</a:t>
            </a:r>
            <a:r>
              <a:rPr lang="en-US" dirty="0"/>
              <a:t> b, </a:t>
            </a:r>
            <a:r>
              <a:rPr lang="en-US" dirty="0" err="1"/>
              <a:t>dok</a:t>
            </a:r>
            <a:r>
              <a:rPr lang="en-US" dirty="0"/>
              <a:t> Quantum Singular Value Transformation </a:t>
            </a:r>
            <a:r>
              <a:rPr lang="en-US" dirty="0" err="1"/>
              <a:t>predstavlja</a:t>
            </a:r>
            <a:r>
              <a:rPr lang="en-US" dirty="0"/>
              <a:t> </a:t>
            </a:r>
            <a:r>
              <a:rPr lang="en-US" dirty="0" err="1"/>
              <a:t>opšti</a:t>
            </a:r>
            <a:r>
              <a:rPr lang="en-US" dirty="0"/>
              <a:t> </a:t>
            </a:r>
            <a:r>
              <a:rPr lang="en-US" dirty="0" err="1"/>
              <a:t>okvir</a:t>
            </a:r>
            <a:r>
              <a:rPr lang="en-US" dirty="0"/>
              <a:t> za </a:t>
            </a:r>
            <a:r>
              <a:rPr lang="en-US" dirty="0" err="1"/>
              <a:t>manipulaciju</a:t>
            </a:r>
            <a:r>
              <a:rPr lang="en-US" dirty="0"/>
              <a:t> </a:t>
            </a:r>
            <a:r>
              <a:rPr lang="en-US" dirty="0" err="1"/>
              <a:t>singularnim</a:t>
            </a:r>
            <a:r>
              <a:rPr lang="en-US" dirty="0"/>
              <a:t> </a:t>
            </a:r>
            <a:r>
              <a:rPr lang="en-US" dirty="0" err="1"/>
              <a:t>vrednostima</a:t>
            </a:r>
            <a:r>
              <a:rPr lang="en-US" dirty="0"/>
              <a:t> </a:t>
            </a:r>
            <a:r>
              <a:rPr lang="en-US" dirty="0" err="1"/>
              <a:t>i</a:t>
            </a:r>
            <a:r>
              <a:rPr lang="en-US" dirty="0"/>
              <a:t> time </a:t>
            </a:r>
            <a:r>
              <a:rPr lang="en-US" dirty="0" err="1"/>
              <a:t>indirektno</a:t>
            </a:r>
            <a:r>
              <a:rPr lang="en-US" dirty="0"/>
              <a:t> </a:t>
            </a:r>
            <a:r>
              <a:rPr lang="en-US" dirty="0" err="1"/>
              <a:t>omogućava</a:t>
            </a:r>
            <a:r>
              <a:rPr lang="en-US" dirty="0"/>
              <a:t> </a:t>
            </a:r>
            <a:r>
              <a:rPr lang="en-US" dirty="0" err="1"/>
              <a:t>efikasne</a:t>
            </a:r>
            <a:r>
              <a:rPr lang="en-US" dirty="0"/>
              <a:t> </a:t>
            </a:r>
            <a:r>
              <a:rPr lang="en-US" dirty="0" err="1"/>
              <a:t>linearno-algebarske</a:t>
            </a:r>
            <a:r>
              <a:rPr lang="en-US" dirty="0"/>
              <a:t> </a:t>
            </a:r>
            <a:r>
              <a:rPr lang="en-US" dirty="0" err="1"/>
              <a:t>operacije</a:t>
            </a:r>
            <a:r>
              <a:rPr lang="en-US" dirty="0"/>
              <a:t>.</a:t>
            </a:r>
            <a:endParaRPr lang="en-US">
              <a:ea typeface="Calibri"/>
              <a:cs typeface="Calibri"/>
            </a:endParaRPr>
          </a:p>
        </p:txBody>
      </p:sp>
      <p:sp>
        <p:nvSpPr>
          <p:cNvPr id="4" name="Slide Number Placeholder 3">
            <a:extLst>
              <a:ext uri="{FF2B5EF4-FFF2-40B4-BE49-F238E27FC236}">
                <a16:creationId xmlns:a16="http://schemas.microsoft.com/office/drawing/2014/main" id="{9231721A-4965-ECDF-07B9-73DB693093C2}"/>
              </a:ext>
            </a:extLst>
          </p:cNvPr>
          <p:cNvSpPr>
            <a:spLocks noGrp="1"/>
          </p:cNvSpPr>
          <p:nvPr>
            <p:ph type="sldNum" sz="quarter" idx="5"/>
          </p:nvPr>
        </p:nvSpPr>
        <p:spPr/>
        <p:txBody>
          <a:bodyPr/>
          <a:lstStyle/>
          <a:p>
            <a:fld id="{CB6EC119-86D4-419D-A1D4-5F1C40B2E8B5}" type="slidenum">
              <a:t>6</a:t>
            </a:fld>
            <a:endParaRPr lang="en-US"/>
          </a:p>
        </p:txBody>
      </p:sp>
    </p:spTree>
    <p:extLst>
      <p:ext uri="{BB962C8B-B14F-4D97-AF65-F5344CB8AC3E}">
        <p14:creationId xmlns:p14="http://schemas.microsoft.com/office/powerpoint/2010/main" val="261502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A753-B1AC-66DE-EA66-B5510B013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65AE7-3D4F-D54E-5426-196501376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AC2FA-3B40-19D9-CB44-83739C98C2F6}"/>
              </a:ext>
            </a:extLst>
          </p:cNvPr>
          <p:cNvSpPr>
            <a:spLocks noGrp="1"/>
          </p:cNvSpPr>
          <p:nvPr>
            <p:ph type="body" idx="1"/>
          </p:nvPr>
        </p:nvSpPr>
        <p:spPr/>
        <p:txBody>
          <a:bodyPr/>
          <a:lstStyle/>
          <a:p>
            <a:r>
              <a:rPr lang="en-US" dirty="0"/>
              <a:t>Iako </a:t>
            </a:r>
            <a:r>
              <a:rPr lang="en-US" dirty="0" err="1"/>
              <a:t>kvantni</a:t>
            </a:r>
            <a:r>
              <a:rPr lang="en-US" dirty="0"/>
              <a:t> </a:t>
            </a:r>
            <a:r>
              <a:rPr lang="en-US" dirty="0" err="1"/>
              <a:t>algoritmi</a:t>
            </a:r>
            <a:r>
              <a:rPr lang="en-US" dirty="0"/>
              <a:t> u </a:t>
            </a:r>
            <a:r>
              <a:rPr lang="en-US" dirty="0" err="1"/>
              <a:t>teoriji</a:t>
            </a:r>
            <a:r>
              <a:rPr lang="en-US" dirty="0"/>
              <a:t> </a:t>
            </a:r>
            <a:r>
              <a:rPr lang="en-US" dirty="0" err="1"/>
              <a:t>mogu</a:t>
            </a:r>
            <a:r>
              <a:rPr lang="en-US" dirty="0"/>
              <a:t> da </a:t>
            </a:r>
            <a:r>
              <a:rPr lang="en-US" dirty="0" err="1"/>
              <a:t>daju</a:t>
            </a:r>
            <a:r>
              <a:rPr lang="en-US" dirty="0"/>
              <a:t> </a:t>
            </a:r>
            <a:r>
              <a:rPr lang="en-US" dirty="0" err="1"/>
              <a:t>velika</a:t>
            </a:r>
            <a:r>
              <a:rPr lang="en-US" dirty="0"/>
              <a:t> </a:t>
            </a:r>
            <a:r>
              <a:rPr lang="en-US" dirty="0" err="1"/>
              <a:t>ubrzanja</a:t>
            </a:r>
            <a:r>
              <a:rPr lang="en-US" dirty="0"/>
              <a:t>, u </a:t>
            </a:r>
            <a:r>
              <a:rPr lang="en-US" dirty="0" err="1"/>
              <a:t>praksi</a:t>
            </a:r>
            <a:r>
              <a:rPr lang="en-US" dirty="0"/>
              <a:t> </a:t>
            </a:r>
            <a:r>
              <a:rPr lang="en-US" dirty="0" err="1"/>
              <a:t>postoje</a:t>
            </a:r>
            <a:r>
              <a:rPr lang="en-US" dirty="0"/>
              <a:t> </a:t>
            </a:r>
            <a:r>
              <a:rPr lang="en-US" dirty="0" err="1"/>
              <a:t>ozbiljna</a:t>
            </a:r>
            <a:r>
              <a:rPr lang="en-US" dirty="0"/>
              <a:t> </a:t>
            </a:r>
            <a:r>
              <a:rPr lang="en-US" dirty="0" err="1"/>
              <a:t>ograničenja</a:t>
            </a:r>
            <a:r>
              <a:rPr lang="en-US" dirty="0"/>
              <a:t>.</a:t>
            </a:r>
          </a:p>
          <a:p>
            <a:endParaRPr lang="en-US" dirty="0"/>
          </a:p>
          <a:p>
            <a:r>
              <a:rPr lang="en-US" dirty="0" err="1"/>
              <a:t>Prvo</a:t>
            </a:r>
            <a:r>
              <a:rPr lang="en-US" dirty="0"/>
              <a:t>, problem je </a:t>
            </a:r>
            <a:r>
              <a:rPr lang="en-US" dirty="0" err="1"/>
              <a:t>kako</a:t>
            </a:r>
            <a:r>
              <a:rPr lang="en-US" dirty="0"/>
              <a:t> </a:t>
            </a:r>
            <a:r>
              <a:rPr lang="en-US" dirty="0" err="1"/>
              <a:t>uopšte</a:t>
            </a:r>
            <a:r>
              <a:rPr lang="en-US" dirty="0"/>
              <a:t> </a:t>
            </a:r>
            <a:r>
              <a:rPr lang="en-US" dirty="0" err="1"/>
              <a:t>ubaciti</a:t>
            </a:r>
            <a:r>
              <a:rPr lang="en-US" dirty="0"/>
              <a:t> </a:t>
            </a:r>
            <a:r>
              <a:rPr lang="en-US" dirty="0" err="1"/>
              <a:t>podatke</a:t>
            </a:r>
            <a:r>
              <a:rPr lang="en-US" dirty="0"/>
              <a:t> u </a:t>
            </a:r>
            <a:r>
              <a:rPr lang="en-US" dirty="0" err="1"/>
              <a:t>kvantni</a:t>
            </a:r>
            <a:r>
              <a:rPr lang="en-US" dirty="0"/>
              <a:t> </a:t>
            </a:r>
            <a:r>
              <a:rPr lang="en-US" dirty="0" err="1"/>
              <a:t>računar</a:t>
            </a:r>
            <a:r>
              <a:rPr lang="en-US" dirty="0"/>
              <a:t>. </a:t>
            </a:r>
          </a:p>
          <a:p>
            <a:r>
              <a:rPr lang="en-US" dirty="0"/>
              <a:t>To se </a:t>
            </a:r>
            <a:r>
              <a:rPr lang="en-US" dirty="0" err="1"/>
              <a:t>zove</a:t>
            </a:r>
            <a:r>
              <a:rPr lang="en-US" dirty="0"/>
              <a:t> </a:t>
            </a:r>
            <a:r>
              <a:rPr lang="en-US" dirty="0" err="1"/>
              <a:t>učitavanje</a:t>
            </a:r>
            <a:r>
              <a:rPr lang="en-US" dirty="0"/>
              <a:t> </a:t>
            </a:r>
            <a:r>
              <a:rPr lang="en-US" dirty="0" err="1"/>
              <a:t>podataka</a:t>
            </a:r>
            <a:r>
              <a:rPr lang="en-US" dirty="0"/>
              <a:t> </a:t>
            </a:r>
            <a:r>
              <a:rPr lang="en-US" dirty="0" err="1"/>
              <a:t>i</a:t>
            </a:r>
            <a:r>
              <a:rPr lang="en-US" dirty="0"/>
              <a:t> </a:t>
            </a:r>
            <a:r>
              <a:rPr lang="en-US" dirty="0" err="1"/>
              <a:t>često</a:t>
            </a:r>
            <a:r>
              <a:rPr lang="en-US" dirty="0"/>
              <a:t> </a:t>
            </a:r>
            <a:r>
              <a:rPr lang="en-US" dirty="0" err="1"/>
              <a:t>traje</a:t>
            </a:r>
            <a:r>
              <a:rPr lang="en-US" dirty="0"/>
              <a:t> </a:t>
            </a:r>
            <a:r>
              <a:rPr lang="en-US" dirty="0" err="1"/>
              <a:t>toliko</a:t>
            </a:r>
            <a:r>
              <a:rPr lang="en-US" dirty="0"/>
              <a:t> </a:t>
            </a:r>
            <a:r>
              <a:rPr lang="en-US" dirty="0" err="1"/>
              <a:t>dugo</a:t>
            </a:r>
            <a:r>
              <a:rPr lang="en-US" dirty="0"/>
              <a:t> da </a:t>
            </a:r>
            <a:r>
              <a:rPr lang="en-US" dirty="0" err="1"/>
              <a:t>poništi</a:t>
            </a:r>
            <a:r>
              <a:rPr lang="en-US" dirty="0"/>
              <a:t> </a:t>
            </a:r>
            <a:r>
              <a:rPr lang="en-US" dirty="0" err="1"/>
              <a:t>svaku</a:t>
            </a:r>
            <a:r>
              <a:rPr lang="en-US" dirty="0"/>
              <a:t> </a:t>
            </a:r>
            <a:r>
              <a:rPr lang="en-US" dirty="0" err="1"/>
              <a:t>potencijalnu</a:t>
            </a:r>
            <a:r>
              <a:rPr lang="en-US" dirty="0"/>
              <a:t> </a:t>
            </a:r>
            <a:r>
              <a:rPr lang="en-US" dirty="0" err="1"/>
              <a:t>dobit</a:t>
            </a:r>
            <a:r>
              <a:rPr lang="en-US" dirty="0"/>
              <a:t> od </a:t>
            </a:r>
            <a:r>
              <a:rPr lang="en-US" dirty="0" err="1"/>
              <a:t>ubrzanja</a:t>
            </a:r>
            <a:r>
              <a:rPr lang="en-US" dirty="0"/>
              <a:t>.</a:t>
            </a:r>
          </a:p>
          <a:p>
            <a:endParaRPr lang="en-US" dirty="0"/>
          </a:p>
          <a:p>
            <a:r>
              <a:rPr lang="en-US" dirty="0" err="1"/>
              <a:t>Drugo</a:t>
            </a:r>
            <a:r>
              <a:rPr lang="en-US" dirty="0"/>
              <a:t>, </a:t>
            </a:r>
            <a:r>
              <a:rPr lang="en-US" dirty="0" err="1"/>
              <a:t>kvantni</a:t>
            </a:r>
            <a:r>
              <a:rPr lang="en-US" dirty="0"/>
              <a:t> </a:t>
            </a:r>
            <a:r>
              <a:rPr lang="en-US" dirty="0" err="1"/>
              <a:t>algoritmi</a:t>
            </a:r>
            <a:r>
              <a:rPr lang="en-US" dirty="0"/>
              <a:t> ne </a:t>
            </a:r>
            <a:r>
              <a:rPr lang="en-US" dirty="0" err="1"/>
              <a:t>ubrzavaju</a:t>
            </a:r>
            <a:r>
              <a:rPr lang="en-US" dirty="0"/>
              <a:t> </a:t>
            </a:r>
            <a:r>
              <a:rPr lang="en-US" dirty="0" err="1"/>
              <a:t>MatMul</a:t>
            </a:r>
            <a:r>
              <a:rPr lang="en-US" dirty="0"/>
              <a:t> u </a:t>
            </a:r>
            <a:r>
              <a:rPr lang="en-US" dirty="0" err="1"/>
              <a:t>opštem</a:t>
            </a:r>
            <a:r>
              <a:rPr lang="en-US" dirty="0"/>
              <a:t> </a:t>
            </a:r>
            <a:r>
              <a:rPr lang="en-US" dirty="0" err="1"/>
              <a:t>slučaju</a:t>
            </a:r>
            <a:r>
              <a:rPr lang="en-US" dirty="0"/>
              <a:t>. </a:t>
            </a:r>
          </a:p>
          <a:p>
            <a:r>
              <a:rPr lang="en-US" dirty="0"/>
              <a:t>Oni </a:t>
            </a:r>
            <a:r>
              <a:rPr lang="en-US" dirty="0" err="1"/>
              <a:t>rade</a:t>
            </a:r>
            <a:r>
              <a:rPr lang="en-US" dirty="0"/>
              <a:t> </a:t>
            </a:r>
            <a:r>
              <a:rPr lang="en-US" dirty="0" err="1"/>
              <a:t>samo</a:t>
            </a:r>
            <a:r>
              <a:rPr lang="en-US" dirty="0"/>
              <a:t> u </a:t>
            </a:r>
            <a:r>
              <a:rPr lang="en-US" dirty="0" err="1"/>
              <a:t>posebnim</a:t>
            </a:r>
            <a:r>
              <a:rPr lang="en-US" dirty="0"/>
              <a:t> </a:t>
            </a:r>
            <a:r>
              <a:rPr lang="en-US" dirty="0" err="1"/>
              <a:t>situacijama</a:t>
            </a:r>
            <a:r>
              <a:rPr lang="en-US" dirty="0"/>
              <a:t>, </a:t>
            </a:r>
            <a:r>
              <a:rPr lang="en-US" dirty="0" err="1"/>
              <a:t>kada</a:t>
            </a:r>
            <a:r>
              <a:rPr lang="en-US" dirty="0"/>
              <a:t> </a:t>
            </a:r>
            <a:r>
              <a:rPr lang="en-US" dirty="0" err="1"/>
              <a:t>su</a:t>
            </a:r>
            <a:r>
              <a:rPr lang="en-US" dirty="0"/>
              <a:t> </a:t>
            </a:r>
            <a:r>
              <a:rPr lang="en-US" dirty="0" err="1"/>
              <a:t>podaci</a:t>
            </a:r>
            <a:r>
              <a:rPr lang="en-US" dirty="0"/>
              <a:t> </a:t>
            </a:r>
            <a:r>
              <a:rPr lang="en-US" dirty="0" err="1"/>
              <a:t>specifično</a:t>
            </a:r>
            <a:r>
              <a:rPr lang="en-US" dirty="0"/>
              <a:t> </a:t>
            </a:r>
            <a:r>
              <a:rPr lang="en-US" dirty="0" err="1"/>
              <a:t>strukturirani</a:t>
            </a:r>
            <a:r>
              <a:rPr lang="en-US" dirty="0"/>
              <a:t> </a:t>
            </a:r>
            <a:r>
              <a:rPr lang="en-US" dirty="0" err="1"/>
              <a:t>ili</a:t>
            </a:r>
            <a:r>
              <a:rPr lang="en-US" dirty="0"/>
              <a:t> </a:t>
            </a:r>
            <a:r>
              <a:rPr lang="en-US" dirty="0" err="1"/>
              <a:t>kada</a:t>
            </a:r>
            <a:r>
              <a:rPr lang="en-US" dirty="0"/>
              <a:t> se problem </a:t>
            </a:r>
            <a:r>
              <a:rPr lang="en-US" dirty="0" err="1"/>
              <a:t>može</a:t>
            </a:r>
            <a:r>
              <a:rPr lang="en-US" dirty="0"/>
              <a:t> </a:t>
            </a:r>
            <a:r>
              <a:rPr lang="en-US" dirty="0" err="1"/>
              <a:t>preformulisati</a:t>
            </a:r>
            <a:r>
              <a:rPr lang="en-US" dirty="0"/>
              <a:t> u </a:t>
            </a:r>
            <a:r>
              <a:rPr lang="en-US" dirty="0" err="1"/>
              <a:t>linearni</a:t>
            </a:r>
            <a:r>
              <a:rPr lang="en-US" dirty="0"/>
              <a:t> </a:t>
            </a:r>
            <a:r>
              <a:rPr lang="en-US" dirty="0" err="1"/>
              <a:t>sistem</a:t>
            </a:r>
            <a:r>
              <a:rPr lang="en-US" dirty="0"/>
              <a:t>.</a:t>
            </a:r>
            <a:endParaRPr lang="en-US">
              <a:ea typeface="Calibri"/>
              <a:cs typeface="Calibri"/>
            </a:endParaRPr>
          </a:p>
          <a:p>
            <a:endParaRPr lang="en-US" dirty="0"/>
          </a:p>
          <a:p>
            <a:r>
              <a:rPr lang="en-US" dirty="0" err="1"/>
              <a:t>Treće</a:t>
            </a:r>
            <a:r>
              <a:rPr lang="en-US" dirty="0"/>
              <a:t>, </a:t>
            </a:r>
            <a:r>
              <a:rPr lang="en-US" dirty="0" err="1"/>
              <a:t>današnji</a:t>
            </a:r>
            <a:r>
              <a:rPr lang="en-US" dirty="0"/>
              <a:t> </a:t>
            </a:r>
            <a:r>
              <a:rPr lang="en-US" dirty="0" err="1"/>
              <a:t>kvantni</a:t>
            </a:r>
            <a:r>
              <a:rPr lang="en-US" dirty="0"/>
              <a:t> </a:t>
            </a:r>
            <a:r>
              <a:rPr lang="en-US" dirty="0" err="1"/>
              <a:t>računari</a:t>
            </a:r>
            <a:r>
              <a:rPr lang="en-US" dirty="0"/>
              <a:t> </a:t>
            </a:r>
            <a:r>
              <a:rPr lang="en-US" dirty="0" err="1"/>
              <a:t>su</a:t>
            </a:r>
            <a:r>
              <a:rPr lang="en-US" dirty="0"/>
              <a:t> u </a:t>
            </a:r>
            <a:r>
              <a:rPr lang="en-US" dirty="0" err="1"/>
              <a:t>ranoj</a:t>
            </a:r>
            <a:r>
              <a:rPr lang="en-US" dirty="0"/>
              <a:t> </a:t>
            </a:r>
            <a:r>
              <a:rPr lang="en-US" dirty="0" err="1"/>
              <a:t>fazi</a:t>
            </a:r>
            <a:r>
              <a:rPr lang="en-US" dirty="0"/>
              <a:t> </a:t>
            </a:r>
            <a:r>
              <a:rPr lang="en-US" dirty="0" err="1"/>
              <a:t>razvoja</a:t>
            </a:r>
            <a:r>
              <a:rPr lang="en-US" dirty="0"/>
              <a:t>. </a:t>
            </a:r>
          </a:p>
          <a:p>
            <a:r>
              <a:rPr lang="en-US" dirty="0" err="1"/>
              <a:t>Zovu</a:t>
            </a:r>
            <a:r>
              <a:rPr lang="en-US" dirty="0"/>
              <a:t> se NISQ </a:t>
            </a:r>
            <a:r>
              <a:rPr lang="en-US" dirty="0" err="1"/>
              <a:t>uređaji</a:t>
            </a:r>
            <a:r>
              <a:rPr lang="en-US" dirty="0"/>
              <a:t>, </a:t>
            </a:r>
            <a:r>
              <a:rPr lang="en-US" dirty="0" err="1"/>
              <a:t>što</a:t>
            </a:r>
            <a:r>
              <a:rPr lang="en-US" dirty="0"/>
              <a:t> </a:t>
            </a:r>
            <a:r>
              <a:rPr lang="en-US" dirty="0" err="1"/>
              <a:t>znači</a:t>
            </a:r>
            <a:r>
              <a:rPr lang="en-US" dirty="0"/>
              <a:t> da </a:t>
            </a:r>
            <a:r>
              <a:rPr lang="en-US" dirty="0" err="1"/>
              <a:t>su</a:t>
            </a:r>
            <a:r>
              <a:rPr lang="en-US" dirty="0"/>
              <a:t> </a:t>
            </a:r>
            <a:r>
              <a:rPr lang="en-US" dirty="0" err="1"/>
              <a:t>mali</a:t>
            </a:r>
            <a:r>
              <a:rPr lang="en-US" dirty="0"/>
              <a:t> </a:t>
            </a:r>
            <a:r>
              <a:rPr lang="en-US" dirty="0" err="1"/>
              <a:t>i</a:t>
            </a:r>
            <a:r>
              <a:rPr lang="en-US" dirty="0"/>
              <a:t> </a:t>
            </a:r>
            <a:r>
              <a:rPr lang="en-US" dirty="0" err="1"/>
              <a:t>podložni</a:t>
            </a:r>
            <a:r>
              <a:rPr lang="en-US" dirty="0"/>
              <a:t> </a:t>
            </a:r>
            <a:r>
              <a:rPr lang="en-US" dirty="0" err="1"/>
              <a:t>greškama</a:t>
            </a:r>
            <a:r>
              <a:rPr lang="en-US" dirty="0"/>
              <a:t>. </a:t>
            </a:r>
            <a:endParaRPr lang="en-US"/>
          </a:p>
          <a:p>
            <a:r>
              <a:rPr lang="en-US" dirty="0"/>
              <a:t>Qubit-</a:t>
            </a:r>
            <a:r>
              <a:rPr lang="en-US" dirty="0" err="1"/>
              <a:t>i</a:t>
            </a:r>
            <a:r>
              <a:rPr lang="en-US" dirty="0"/>
              <a:t> </a:t>
            </a:r>
            <a:r>
              <a:rPr lang="en-US" dirty="0" err="1"/>
              <a:t>su</a:t>
            </a:r>
            <a:r>
              <a:rPr lang="en-US" dirty="0"/>
              <a:t> </a:t>
            </a:r>
            <a:r>
              <a:rPr lang="en-US" dirty="0" err="1"/>
              <a:t>veoma</a:t>
            </a:r>
            <a:r>
              <a:rPr lang="en-US" dirty="0"/>
              <a:t> </a:t>
            </a:r>
            <a:r>
              <a:rPr lang="en-US" dirty="0" err="1"/>
              <a:t>osetljivi</a:t>
            </a:r>
            <a:r>
              <a:rPr lang="en-US" dirty="0"/>
              <a:t> </a:t>
            </a:r>
            <a:r>
              <a:rPr lang="en-US" dirty="0" err="1"/>
              <a:t>i</a:t>
            </a:r>
            <a:r>
              <a:rPr lang="en-US" dirty="0"/>
              <a:t> </a:t>
            </a:r>
            <a:r>
              <a:rPr lang="en-US" dirty="0" err="1"/>
              <a:t>brzo</a:t>
            </a:r>
            <a:r>
              <a:rPr lang="en-US" dirty="0"/>
              <a:t> </a:t>
            </a:r>
            <a:r>
              <a:rPr lang="en-US" dirty="0" err="1"/>
              <a:t>gube</a:t>
            </a:r>
            <a:r>
              <a:rPr lang="en-US" dirty="0"/>
              <a:t> </a:t>
            </a:r>
            <a:r>
              <a:rPr lang="en-US" dirty="0" err="1"/>
              <a:t>svoje</a:t>
            </a:r>
            <a:r>
              <a:rPr lang="en-US" dirty="0"/>
              <a:t> </a:t>
            </a:r>
            <a:r>
              <a:rPr lang="en-US" dirty="0" err="1"/>
              <a:t>kvantno</a:t>
            </a:r>
            <a:r>
              <a:rPr lang="en-US" dirty="0"/>
              <a:t> </a:t>
            </a:r>
            <a:r>
              <a:rPr lang="en-US" dirty="0" err="1"/>
              <a:t>stanje</a:t>
            </a:r>
            <a:r>
              <a:rPr lang="en-US" dirty="0"/>
              <a:t> </a:t>
            </a:r>
            <a:r>
              <a:rPr lang="en-US" dirty="0" err="1"/>
              <a:t>zbog</a:t>
            </a:r>
            <a:r>
              <a:rPr lang="en-US" dirty="0"/>
              <a:t> </a:t>
            </a:r>
            <a:r>
              <a:rPr lang="en-US" dirty="0" err="1"/>
              <a:t>spoljašnjeg</a:t>
            </a:r>
            <a:r>
              <a:rPr lang="en-US" dirty="0"/>
              <a:t> </a:t>
            </a:r>
            <a:r>
              <a:rPr lang="en-US" dirty="0" err="1"/>
              <a:t>šuma</a:t>
            </a:r>
            <a:r>
              <a:rPr lang="en-US" dirty="0"/>
              <a:t> </a:t>
            </a:r>
            <a:r>
              <a:rPr lang="en-US" dirty="0" err="1"/>
              <a:t>iz</a:t>
            </a:r>
            <a:r>
              <a:rPr lang="en-US" dirty="0"/>
              <a:t> </a:t>
            </a:r>
            <a:r>
              <a:rPr lang="en-US" dirty="0" err="1"/>
              <a:t>okoline</a:t>
            </a:r>
            <a:r>
              <a:rPr lang="en-US" dirty="0"/>
              <a:t>, </a:t>
            </a:r>
            <a:r>
              <a:rPr lang="en-US" dirty="0" err="1"/>
              <a:t>što</a:t>
            </a:r>
            <a:r>
              <a:rPr lang="en-US" dirty="0"/>
              <a:t> se </a:t>
            </a:r>
            <a:r>
              <a:rPr lang="en-US" dirty="0" err="1"/>
              <a:t>zove</a:t>
            </a:r>
            <a:r>
              <a:rPr lang="en-US" dirty="0"/>
              <a:t> </a:t>
            </a:r>
            <a:r>
              <a:rPr lang="en-US" dirty="0" err="1"/>
              <a:t>dekohorencija</a:t>
            </a:r>
            <a:r>
              <a:rPr lang="en-US" dirty="0"/>
              <a:t>.</a:t>
            </a:r>
            <a:endParaRPr lang="en-US">
              <a:ea typeface="Calibri"/>
              <a:cs typeface="Calibri"/>
            </a:endParaRPr>
          </a:p>
          <a:p>
            <a:endParaRPr lang="en-US" dirty="0"/>
          </a:p>
          <a:p>
            <a:r>
              <a:rPr lang="en-US" dirty="0" err="1"/>
              <a:t>Zbog</a:t>
            </a:r>
            <a:r>
              <a:rPr lang="en-US" dirty="0"/>
              <a:t> </a:t>
            </a:r>
            <a:r>
              <a:rPr lang="en-US" dirty="0" err="1"/>
              <a:t>svih</a:t>
            </a:r>
            <a:r>
              <a:rPr lang="en-US" dirty="0"/>
              <a:t> </a:t>
            </a:r>
            <a:r>
              <a:rPr lang="en-US" dirty="0" err="1"/>
              <a:t>ovih</a:t>
            </a:r>
            <a:r>
              <a:rPr lang="en-US" dirty="0"/>
              <a:t> </a:t>
            </a:r>
            <a:r>
              <a:rPr lang="en-US" dirty="0" err="1"/>
              <a:t>razloga</a:t>
            </a:r>
            <a:r>
              <a:rPr lang="en-US" dirty="0"/>
              <a:t>, </a:t>
            </a:r>
            <a:r>
              <a:rPr lang="en-US" dirty="0" err="1"/>
              <a:t>kvantni</a:t>
            </a:r>
            <a:r>
              <a:rPr lang="en-US" dirty="0"/>
              <a:t> </a:t>
            </a:r>
            <a:r>
              <a:rPr lang="en-US" dirty="0" err="1"/>
              <a:t>računari</a:t>
            </a:r>
            <a:r>
              <a:rPr lang="en-US" dirty="0"/>
              <a:t> </a:t>
            </a:r>
            <a:r>
              <a:rPr lang="en-US" dirty="0" err="1"/>
              <a:t>trenutno</a:t>
            </a:r>
            <a:r>
              <a:rPr lang="en-US" dirty="0"/>
              <a:t> ne </a:t>
            </a:r>
            <a:r>
              <a:rPr lang="en-US" dirty="0" err="1"/>
              <a:t>mogu</a:t>
            </a:r>
            <a:r>
              <a:rPr lang="en-US" dirty="0"/>
              <a:t> da </a:t>
            </a:r>
            <a:r>
              <a:rPr lang="en-US" dirty="0" err="1"/>
              <a:t>nadmaše</a:t>
            </a:r>
            <a:r>
              <a:rPr lang="en-US" dirty="0"/>
              <a:t> </a:t>
            </a:r>
            <a:r>
              <a:rPr lang="en-US" dirty="0" err="1"/>
              <a:t>klasične</a:t>
            </a:r>
            <a:r>
              <a:rPr lang="en-US" dirty="0"/>
              <a:t> </a:t>
            </a:r>
            <a:r>
              <a:rPr lang="en-US" dirty="0" err="1"/>
              <a:t>računare</a:t>
            </a:r>
            <a:r>
              <a:rPr lang="en-US" dirty="0"/>
              <a:t> u </a:t>
            </a:r>
            <a:r>
              <a:rPr lang="en-US" dirty="0" err="1"/>
              <a:t>realnim</a:t>
            </a:r>
            <a:r>
              <a:rPr lang="en-US" dirty="0"/>
              <a:t> </a:t>
            </a:r>
            <a:r>
              <a:rPr lang="en-US" dirty="0" err="1"/>
              <a:t>zadacima</a:t>
            </a:r>
            <a:r>
              <a:rPr lang="en-US" dirty="0"/>
              <a:t> </a:t>
            </a:r>
            <a:r>
              <a:rPr lang="en-US" dirty="0" err="1"/>
              <a:t>kao</a:t>
            </a:r>
            <a:r>
              <a:rPr lang="en-US" dirty="0"/>
              <a:t> </a:t>
            </a:r>
            <a:r>
              <a:rPr lang="en-US" dirty="0" err="1"/>
              <a:t>što</a:t>
            </a:r>
            <a:r>
              <a:rPr lang="en-US" dirty="0"/>
              <a:t> je </a:t>
            </a:r>
            <a:r>
              <a:rPr lang="en-US" dirty="0" err="1"/>
              <a:t>matrično</a:t>
            </a:r>
            <a:r>
              <a:rPr lang="en-US" dirty="0"/>
              <a:t> </a:t>
            </a:r>
            <a:r>
              <a:rPr lang="en-US" dirty="0" err="1"/>
              <a:t>množenje</a:t>
            </a:r>
            <a:r>
              <a:rPr lang="en-US" dirty="0"/>
              <a:t>.</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7A40B49-5E35-3C68-C496-8A3E7A9479E4}"/>
              </a:ext>
            </a:extLst>
          </p:cNvPr>
          <p:cNvSpPr>
            <a:spLocks noGrp="1"/>
          </p:cNvSpPr>
          <p:nvPr>
            <p:ph type="sldNum" sz="quarter" idx="5"/>
          </p:nvPr>
        </p:nvSpPr>
        <p:spPr/>
        <p:txBody>
          <a:bodyPr/>
          <a:lstStyle/>
          <a:p>
            <a:fld id="{CB6EC119-86D4-419D-A1D4-5F1C40B2E8B5}" type="slidenum">
              <a:t>7</a:t>
            </a:fld>
            <a:endParaRPr lang="en-US"/>
          </a:p>
        </p:txBody>
      </p:sp>
    </p:spTree>
    <p:extLst>
      <p:ext uri="{BB962C8B-B14F-4D97-AF65-F5344CB8AC3E}">
        <p14:creationId xmlns:p14="http://schemas.microsoft.com/office/powerpoint/2010/main" val="1638339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3"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4"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p>
        </p:txBody>
      </p:sp>
      <p:sp>
        <p:nvSpPr>
          <p:cNvPr id="5"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6"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p>
        </p:txBody>
      </p:sp>
      <p:sp>
        <p:nvSpPr>
          <p:cNvPr id="7" name="PlaceHolder 6"/>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 </a:t>
            </a:r>
            <a:endParaRPr lang="sr-Latn-RS" sz="1200" b="0" u="none" strike="noStrike">
              <a:solidFill>
                <a:srgbClr val="000000"/>
              </a:solidFill>
              <a:effectLst/>
              <a:uFillTx/>
              <a:latin typeface="Times New Roman"/>
            </a:endParaRPr>
          </a:p>
        </p:txBody>
      </p:sp>
      <p:sp>
        <p:nvSpPr>
          <p:cNvPr id="8" name="PlaceHolder 7"/>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 </a:t>
            </a:r>
          </a:p>
        </p:txBody>
      </p:sp>
      <p:sp>
        <p:nvSpPr>
          <p:cNvPr id="9" name="PlaceHolder 8"/>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AEFF85F5-1184-4151-8EF8-91EBDE176C9C}"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11" name="PlaceHolder 2"/>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 </a:t>
            </a:r>
            <a:endParaRPr lang="sr-Latn-RS" sz="1200" b="0" u="none" strike="noStrike">
              <a:solidFill>
                <a:srgbClr val="000000"/>
              </a:solidFill>
              <a:effectLst/>
              <a:uFillTx/>
              <a:latin typeface="Times New Roman"/>
            </a:endParaRPr>
          </a:p>
        </p:txBody>
      </p:sp>
      <p:sp>
        <p:nvSpPr>
          <p:cNvPr id="12" name="PlaceHolder 3"/>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 </a:t>
            </a:r>
          </a:p>
        </p:txBody>
      </p:sp>
      <p:sp>
        <p:nvSpPr>
          <p:cNvPr id="13" name="PlaceHolder 4"/>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A342D4E8-6DB7-4E40-A888-500F322235B6}"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4" name="PlaceHolder 1"/>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 </a:t>
            </a:r>
            <a:endParaRPr lang="sr-Latn-RS" sz="1200" b="0" u="none" strike="noStrike">
              <a:solidFill>
                <a:srgbClr val="000000"/>
              </a:solidFill>
              <a:effectLst/>
              <a:uFillTx/>
              <a:latin typeface="Times New Roman"/>
            </a:endParaRPr>
          </a:p>
        </p:txBody>
      </p:sp>
      <p:sp>
        <p:nvSpPr>
          <p:cNvPr id="15" name="PlaceHolder 2"/>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 </a:t>
            </a:r>
          </a:p>
        </p:txBody>
      </p:sp>
      <p:sp>
        <p:nvSpPr>
          <p:cNvPr id="16" name="PlaceHolder 3"/>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3018C9E7-A05E-4BAD-A3EA-2D652C146E50}"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
        <p:nvSpPr>
          <p:cNvPr id="17"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sr-Latn-RS" sz="4400" b="0" u="none" strike="noStrike">
                <a:solidFill>
                  <a:schemeClr val="dk1"/>
                </a:solidFill>
                <a:effectLst/>
                <a:uFillTx/>
                <a:latin typeface="Aptos Display"/>
              </a:defRPr>
            </a:lvl1pPr>
          </a:lstStyle>
          <a:p>
            <a:pPr indent="0" algn="l" defTabSz="914400">
              <a:lnSpc>
                <a:spcPct val="90000"/>
              </a:lnSpc>
              <a:buNone/>
              <a:tabLst>
                <a:tab pos="0" algn="l"/>
              </a:tabLst>
            </a:pPr>
            <a:r>
              <a:rPr lang="sr-Latn-RS" sz="4400" b="0" u="none" strike="noStrike">
                <a:solidFill>
                  <a:schemeClr val="dk1"/>
                </a:solidFill>
                <a:effectLst/>
                <a:uFillTx/>
                <a:latin typeface="Aptos Display"/>
              </a:rPr>
              <a:t>Click to edit the title text format</a:t>
            </a:r>
          </a:p>
        </p:txBody>
      </p:sp>
      <p:sp>
        <p:nvSpPr>
          <p:cNvPr id="18"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sr-Latn-R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sr-Latn-R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sr-Latn-R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sr-Latn-R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sr-Latn-R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sr-Latn-R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sr-Latn-R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sr-Latn-RS" sz="2800" b="0" u="none" strike="noStrike">
                <a:solidFill>
                  <a:schemeClr val="dk1"/>
                </a:solidFill>
                <a:effectLst/>
                <a:uFillTx/>
                <a:latin typeface="Aptos"/>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sr-Latn-RS" sz="2400" b="0" u="none" strike="noStrike">
                <a:solidFill>
                  <a:schemeClr val="dk1"/>
                </a:solidFill>
                <a:effectLst/>
                <a:uFillTx/>
                <a:latin typeface="Aptos"/>
              </a:rPr>
              <a:t>Second Outline Level</a:t>
            </a:r>
          </a:p>
          <a:p>
            <a:pPr marL="1296000" lvl="2" indent="-288000" algn="l" defTabSz="914400">
              <a:lnSpc>
                <a:spcPct val="90000"/>
              </a:lnSpc>
              <a:spcBef>
                <a:spcPts val="499"/>
              </a:spcBef>
              <a:buClr>
                <a:srgbClr val="000000"/>
              </a:buClr>
              <a:buSzPct val="45000"/>
              <a:buFont typeface="Wingdings" charset="2"/>
              <a:buChar char=""/>
            </a:pPr>
            <a:r>
              <a:rPr lang="sr-Latn-RS" sz="2000" b="0" u="none" strike="noStrike">
                <a:solidFill>
                  <a:schemeClr val="dk1"/>
                </a:solidFill>
                <a:effectLst/>
                <a:uFillTx/>
                <a:latin typeface="Aptos"/>
              </a:rPr>
              <a:t>Third Outline Level</a:t>
            </a:r>
          </a:p>
          <a:p>
            <a:pPr marL="1728000" lvl="3" indent="-216000" algn="l" defTabSz="914400">
              <a:lnSpc>
                <a:spcPct val="90000"/>
              </a:lnSpc>
              <a:spcBef>
                <a:spcPts val="499"/>
              </a:spcBef>
              <a:buClr>
                <a:srgbClr val="000000"/>
              </a:buClr>
              <a:buSzPct val="75000"/>
              <a:buFont typeface="Symbol" charset="2"/>
              <a:buChar char=""/>
            </a:pPr>
            <a:r>
              <a:rPr lang="sr-Latn-RS" sz="1800" b="0" u="none" strike="noStrike">
                <a:solidFill>
                  <a:schemeClr val="dk1"/>
                </a:solidFill>
                <a:effectLst/>
                <a:uFillTx/>
                <a:latin typeface="Aptos"/>
              </a:rPr>
              <a:t>Fourth Outline Level</a:t>
            </a:r>
          </a:p>
          <a:p>
            <a:pPr marL="2160000" lvl="4" indent="-216000" algn="l" defTabSz="914400">
              <a:lnSpc>
                <a:spcPct val="90000"/>
              </a:lnSpc>
              <a:spcBef>
                <a:spcPts val="499"/>
              </a:spcBef>
              <a:buClr>
                <a:srgbClr val="000000"/>
              </a:buClr>
              <a:buSzPct val="45000"/>
              <a:buFont typeface="Wingdings" charset="2"/>
              <a:buChar char=""/>
            </a:pPr>
            <a:r>
              <a:rPr lang="sr-Latn-RS" sz="1800" b="0" u="none" strike="noStrike">
                <a:solidFill>
                  <a:schemeClr val="dk1"/>
                </a:solidFill>
                <a:effectLst/>
                <a:uFillTx/>
                <a:latin typeface="Aptos"/>
              </a:rPr>
              <a:t>Fifth Outline Level</a:t>
            </a:r>
          </a:p>
          <a:p>
            <a:pPr marL="2592000" lvl="5" indent="-216000" algn="l" defTabSz="914400">
              <a:lnSpc>
                <a:spcPct val="90000"/>
              </a:lnSpc>
              <a:spcBef>
                <a:spcPts val="283"/>
              </a:spcBef>
              <a:buClr>
                <a:srgbClr val="000000"/>
              </a:buClr>
              <a:buSzPct val="45000"/>
              <a:buFont typeface="Wingdings" charset="2"/>
              <a:buChar char=""/>
            </a:pPr>
            <a:r>
              <a:rPr lang="sr-Latn-RS" sz="2000" b="0" u="none" strike="noStrike">
                <a:solidFill>
                  <a:schemeClr val="dk1"/>
                </a:solidFill>
                <a:effectLst/>
                <a:uFillTx/>
                <a:latin typeface="Aptos"/>
              </a:rPr>
              <a:t>Sixth Outline Level</a:t>
            </a:r>
          </a:p>
          <a:p>
            <a:pPr marL="3024000" lvl="6" indent="-216000" algn="l" defTabSz="914400">
              <a:lnSpc>
                <a:spcPct val="90000"/>
              </a:lnSpc>
              <a:spcBef>
                <a:spcPts val="283"/>
              </a:spcBef>
              <a:buClr>
                <a:srgbClr val="000000"/>
              </a:buClr>
              <a:buSzPct val="45000"/>
              <a:buFont typeface="Wingdings" charset="2"/>
              <a:buChar char=""/>
            </a:pPr>
            <a:r>
              <a:rPr lang="sr-Latn-RS" sz="2000" b="0" u="none" strike="noStrike">
                <a:solidFill>
                  <a:schemeClr val="dk1"/>
                </a:solidFill>
                <a:effectLst/>
                <a:uFillTx/>
                <a:latin typeface="Aptos"/>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p>
        </p:txBody>
      </p:sp>
      <p:sp>
        <p:nvSpPr>
          <p:cNvPr id="20"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p>
        </p:txBody>
      </p:sp>
      <p:sp>
        <p:nvSpPr>
          <p:cNvPr id="21"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p>
        </p:txBody>
      </p:sp>
      <p:sp>
        <p:nvSpPr>
          <p:cNvPr id="22" name="PlaceHolder 4"/>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23" name="PlaceHolder 5"/>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24" name="PlaceHolder 6"/>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1378632-1E9D-4799-A65A-C2C990E3337D}"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p>
        </p:txBody>
      </p:sp>
      <p:sp>
        <p:nvSpPr>
          <p:cNvPr id="26"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sr-Latn-RS"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tabLst>
                <a:tab pos="0" algn="l"/>
              </a:tabLst>
              <a:defRPr lang="sr-Latn-RS"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tabLst>
                <a:tab pos="0" algn="l"/>
              </a:tabLst>
              <a:defRPr lang="sr-Latn-RS"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tabLst>
                <a:tab pos="0" algn="l"/>
              </a:tabLst>
              <a:defRPr lang="sr-Latn-RS"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tabLst>
                <a:tab pos="0" algn="l"/>
              </a:tabLst>
              <a:defRPr lang="sr-Latn-RS"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tabLst>
                <a:tab pos="0" algn="l"/>
              </a:tabLst>
              <a:defRPr lang="sr-Latn-RS"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tabLst>
                <a:tab pos="0" algn="l"/>
              </a:tabLst>
              <a:defRPr lang="sr-Latn-RS" sz="32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tabLst>
                <a:tab pos="0" algn="l"/>
              </a:tabLst>
            </a:pPr>
            <a:r>
              <a:rPr lang="sr-Latn-R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sr-Latn-RS" sz="3200" b="0" u="none" strike="noStrike">
                <a:solidFill>
                  <a:schemeClr val="dk1"/>
                </a:solidFill>
                <a:effectLst/>
                <a:uFillTx/>
                <a:latin typeface="Aptos"/>
              </a:rPr>
              <a:t>Second Outline Level</a:t>
            </a:r>
          </a:p>
          <a:p>
            <a:pPr marL="914400" lvl="2" indent="-288000" algn="l" defTabSz="914400">
              <a:lnSpc>
                <a:spcPct val="90000"/>
              </a:lnSpc>
              <a:spcBef>
                <a:spcPts val="499"/>
              </a:spcBef>
              <a:buClr>
                <a:srgbClr val="000000"/>
              </a:buClr>
              <a:buSzPct val="45000"/>
              <a:buFont typeface="Wingdings" charset="2"/>
              <a:buChar char=""/>
              <a:tabLst>
                <a:tab pos="0" algn="l"/>
              </a:tabLst>
            </a:pPr>
            <a:r>
              <a:rPr lang="sr-Latn-RS" sz="3200" b="0" u="none" strike="noStrike">
                <a:solidFill>
                  <a:schemeClr val="dk1"/>
                </a:solidFill>
                <a:effectLst/>
                <a:uFillTx/>
                <a:latin typeface="Aptos"/>
              </a:rPr>
              <a:t>Third Outline Level</a:t>
            </a:r>
          </a:p>
          <a:p>
            <a:pPr marL="1371600" lvl="3" indent="-216000" algn="l" defTabSz="914400">
              <a:lnSpc>
                <a:spcPct val="90000"/>
              </a:lnSpc>
              <a:spcBef>
                <a:spcPts val="499"/>
              </a:spcBef>
              <a:buClr>
                <a:srgbClr val="000000"/>
              </a:buClr>
              <a:buSzPct val="75000"/>
              <a:buFont typeface="Symbol" charset="2"/>
              <a:buChar char=""/>
              <a:tabLst>
                <a:tab pos="0" algn="l"/>
              </a:tabLst>
            </a:pPr>
            <a:r>
              <a:rPr lang="sr-Latn-RS" sz="3200" b="0" u="none" strike="noStrike">
                <a:solidFill>
                  <a:schemeClr val="dk1"/>
                </a:solidFill>
                <a:effectLst/>
                <a:uFillTx/>
                <a:latin typeface="Aptos"/>
              </a:rPr>
              <a:t>Fourth Outline Level</a:t>
            </a:r>
          </a:p>
          <a:p>
            <a:pPr marL="1828800" lvl="4" indent="-216000" algn="l" defTabSz="914400">
              <a:lnSpc>
                <a:spcPct val="90000"/>
              </a:lnSpc>
              <a:spcBef>
                <a:spcPts val="499"/>
              </a:spcBef>
              <a:buClr>
                <a:srgbClr val="000000"/>
              </a:buClr>
              <a:buSzPct val="45000"/>
              <a:buFont typeface="Wingdings" charset="2"/>
              <a:buChar char=""/>
              <a:tabLst>
                <a:tab pos="0" algn="l"/>
              </a:tabLst>
            </a:pPr>
            <a:r>
              <a:rPr lang="sr-Latn-RS" sz="3200" b="0" u="none" strike="noStrike">
                <a:solidFill>
                  <a:schemeClr val="dk1"/>
                </a:solidFill>
                <a:effectLst/>
                <a:uFillTx/>
                <a:latin typeface="Aptos"/>
              </a:rPr>
              <a:t>Fifth Outline Level</a:t>
            </a:r>
          </a:p>
          <a:p>
            <a:pPr marL="2286000" lvl="5" indent="-216000" algn="l" defTabSz="914400">
              <a:lnSpc>
                <a:spcPct val="90000"/>
              </a:lnSpc>
              <a:spcBef>
                <a:spcPts val="283"/>
              </a:spcBef>
              <a:buClr>
                <a:srgbClr val="000000"/>
              </a:buClr>
              <a:buSzPct val="45000"/>
              <a:buFont typeface="Wingdings" charset="2"/>
              <a:buChar char=""/>
              <a:tabLst>
                <a:tab pos="0" algn="l"/>
              </a:tabLst>
            </a:pPr>
            <a:r>
              <a:rPr lang="sr-Latn-RS" sz="3200" b="0" u="none" strike="noStrike">
                <a:solidFill>
                  <a:schemeClr val="dk1"/>
                </a:solidFill>
                <a:effectLst/>
                <a:uFillTx/>
                <a:latin typeface="Aptos"/>
              </a:rPr>
              <a:t>Sixth Outline Level</a:t>
            </a:r>
          </a:p>
          <a:p>
            <a:pPr marL="2743200" lvl="6" indent="-216000" algn="l" defTabSz="914400">
              <a:lnSpc>
                <a:spcPct val="90000"/>
              </a:lnSpc>
              <a:spcBef>
                <a:spcPts val="283"/>
              </a:spcBef>
              <a:buClr>
                <a:srgbClr val="000000"/>
              </a:buClr>
              <a:buSzPct val="45000"/>
              <a:buFont typeface="Wingdings" charset="2"/>
              <a:buChar char=""/>
              <a:tabLst>
                <a:tab pos="0" algn="l"/>
              </a:tabLst>
            </a:pPr>
            <a:r>
              <a:rPr lang="sr-Latn-RS" sz="3200" b="0" u="none" strike="noStrike">
                <a:solidFill>
                  <a:schemeClr val="dk1"/>
                </a:solidFill>
                <a:effectLst/>
                <a:uFillTx/>
                <a:latin typeface="Aptos"/>
              </a:rPr>
              <a:t>Seventh Outline Level</a:t>
            </a:r>
          </a:p>
        </p:txBody>
      </p:sp>
      <p:sp>
        <p:nvSpPr>
          <p:cNvPr id="27"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p>
        </p:txBody>
      </p:sp>
      <p:sp>
        <p:nvSpPr>
          <p:cNvPr id="28" name="PlaceHolder 4"/>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29" name="PlaceHolder 5"/>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30" name="PlaceHolder 6"/>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A1FE3DE-923D-41EB-951A-75A1871CB8B2}"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p>
        </p:txBody>
      </p:sp>
      <p:sp>
        <p:nvSpPr>
          <p:cNvPr id="32" name="PlaceHolder 2"/>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34" name="PlaceHolder 4"/>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F06C18A-7F89-4A55-B577-3DE9C15240B3}"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
        <p:nvSpPr>
          <p:cNvPr id="35"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sr-Latn-R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sr-Latn-R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sr-Latn-R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sr-Latn-R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sr-Latn-R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sr-Latn-R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sr-Latn-R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sr-Latn-RS" sz="2800" b="0" u="none" strike="noStrike">
                <a:solidFill>
                  <a:schemeClr val="dk1"/>
                </a:solidFill>
                <a:effectLst/>
                <a:uFillTx/>
                <a:latin typeface="Aptos"/>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sr-Latn-RS" sz="2400" b="0" u="none" strike="noStrike">
                <a:solidFill>
                  <a:schemeClr val="dk1"/>
                </a:solidFill>
                <a:effectLst/>
                <a:uFillTx/>
                <a:latin typeface="Aptos"/>
              </a:rPr>
              <a:t>Second Outline Level</a:t>
            </a:r>
          </a:p>
          <a:p>
            <a:pPr marL="1296000" lvl="2" indent="-288000" algn="l" defTabSz="914400">
              <a:lnSpc>
                <a:spcPct val="90000"/>
              </a:lnSpc>
              <a:spcBef>
                <a:spcPts val="499"/>
              </a:spcBef>
              <a:buClr>
                <a:srgbClr val="000000"/>
              </a:buClr>
              <a:buSzPct val="45000"/>
              <a:buFont typeface="Wingdings" charset="2"/>
              <a:buChar char=""/>
            </a:pPr>
            <a:r>
              <a:rPr lang="sr-Latn-RS" sz="2000" b="0" u="none" strike="noStrike">
                <a:solidFill>
                  <a:schemeClr val="dk1"/>
                </a:solidFill>
                <a:effectLst/>
                <a:uFillTx/>
                <a:latin typeface="Aptos"/>
              </a:rPr>
              <a:t>Third Outline Level</a:t>
            </a:r>
          </a:p>
          <a:p>
            <a:pPr marL="1728000" lvl="3" indent="-216000" algn="l" defTabSz="914400">
              <a:lnSpc>
                <a:spcPct val="90000"/>
              </a:lnSpc>
              <a:spcBef>
                <a:spcPts val="499"/>
              </a:spcBef>
              <a:buClr>
                <a:srgbClr val="000000"/>
              </a:buClr>
              <a:buSzPct val="75000"/>
              <a:buFont typeface="Symbol" charset="2"/>
              <a:buChar char=""/>
            </a:pPr>
            <a:r>
              <a:rPr lang="sr-Latn-RS" sz="1800" b="0" u="none" strike="noStrike">
                <a:solidFill>
                  <a:schemeClr val="dk1"/>
                </a:solidFill>
                <a:effectLst/>
                <a:uFillTx/>
                <a:latin typeface="Aptos"/>
              </a:rPr>
              <a:t>Fourth Outline Level</a:t>
            </a:r>
          </a:p>
          <a:p>
            <a:pPr marL="2160000" lvl="4" indent="-216000" algn="l" defTabSz="914400">
              <a:lnSpc>
                <a:spcPct val="90000"/>
              </a:lnSpc>
              <a:spcBef>
                <a:spcPts val="499"/>
              </a:spcBef>
              <a:buClr>
                <a:srgbClr val="000000"/>
              </a:buClr>
              <a:buSzPct val="45000"/>
              <a:buFont typeface="Wingdings" charset="2"/>
              <a:buChar char=""/>
            </a:pPr>
            <a:r>
              <a:rPr lang="sr-Latn-RS" sz="1800" b="0" u="none" strike="noStrike">
                <a:solidFill>
                  <a:schemeClr val="dk1"/>
                </a:solidFill>
                <a:effectLst/>
                <a:uFillTx/>
                <a:latin typeface="Aptos"/>
              </a:rPr>
              <a:t>Fifth Outline Level</a:t>
            </a:r>
          </a:p>
          <a:p>
            <a:pPr marL="2592000" lvl="5" indent="-216000" algn="l" defTabSz="914400">
              <a:lnSpc>
                <a:spcPct val="90000"/>
              </a:lnSpc>
              <a:spcBef>
                <a:spcPts val="283"/>
              </a:spcBef>
              <a:buClr>
                <a:srgbClr val="000000"/>
              </a:buClr>
              <a:buSzPct val="45000"/>
              <a:buFont typeface="Wingdings" charset="2"/>
              <a:buChar char=""/>
            </a:pPr>
            <a:r>
              <a:rPr lang="sr-Latn-RS" sz="2000" b="0" u="none" strike="noStrike">
                <a:solidFill>
                  <a:schemeClr val="dk1"/>
                </a:solidFill>
                <a:effectLst/>
                <a:uFillTx/>
                <a:latin typeface="Aptos"/>
              </a:rPr>
              <a:t>Sixth Outline Level</a:t>
            </a:r>
          </a:p>
          <a:p>
            <a:pPr marL="3024000" lvl="6" indent="-216000" algn="l" defTabSz="914400">
              <a:lnSpc>
                <a:spcPct val="90000"/>
              </a:lnSpc>
              <a:spcBef>
                <a:spcPts val="283"/>
              </a:spcBef>
              <a:buClr>
                <a:srgbClr val="000000"/>
              </a:buClr>
              <a:buSzPct val="45000"/>
              <a:buFont typeface="Wingdings" charset="2"/>
              <a:buChar char=""/>
            </a:pPr>
            <a:r>
              <a:rPr lang="sr-Latn-RS" sz="2000" b="0" u="none" strike="noStrike">
                <a:solidFill>
                  <a:schemeClr val="dk1"/>
                </a:solidFill>
                <a:effectLst/>
                <a:uFillTx/>
                <a:latin typeface="Aptos"/>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37" name="PlaceHolder 2"/>
          <p:cNvSpPr>
            <a:spLocks noGrp="1"/>
          </p:cNvSpPr>
          <p:nvPr>
            <p:ph type="body"/>
          </p:nvPr>
        </p:nvSpPr>
        <p:spPr>
          <a:xfrm>
            <a:off x="838080" y="1825560"/>
            <a:ext cx="10514880" cy="435060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38"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39"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40"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1407D907-D7C1-4973-A3B7-D3C1F849AEE3}"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724960" y="365040"/>
            <a:ext cx="2628360" cy="5811120"/>
          </a:xfrm>
          <a:prstGeom prst="rect">
            <a:avLst/>
          </a:prstGeom>
          <a:noFill/>
          <a:ln w="0">
            <a:noFill/>
          </a:ln>
        </p:spPr>
        <p:txBody>
          <a:bodyPr vert="eaVert"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42" name="PlaceHolder 2"/>
          <p:cNvSpPr>
            <a:spLocks noGrp="1"/>
          </p:cNvSpPr>
          <p:nvPr>
            <p:ph type="body"/>
          </p:nvPr>
        </p:nvSpPr>
        <p:spPr>
          <a:xfrm>
            <a:off x="838080" y="365040"/>
            <a:ext cx="7733520" cy="581112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43" name="PlaceHolder 3"/>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44" name="PlaceHolder 4"/>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45" name="PlaceHolder 5"/>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AE0A8AF-BC10-4AFA-B17A-58D586609A39}"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47"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48" name="PlaceHolder 3"/>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49" name="PlaceHolder 4"/>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50" name="PlaceHolder 5"/>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E4722356-84BA-4E17-AF7E-958162FAE116}"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52"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53" name="PlaceHolder 3"/>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54" name="PlaceHolder 4"/>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55" name="PlaceHolder 5"/>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EDED8CE-04C9-443A-8252-266CDD03F485}"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Default 1">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57"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58" name="PlaceHolder 3"/>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60" name="PlaceHolder 5"/>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EC2B280-1C84-4BE3-93CA-AB404CF5D627}"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Master title style</a:t>
            </a:r>
          </a:p>
        </p:txBody>
      </p:sp>
      <p:sp>
        <p:nvSpPr>
          <p:cNvPr id="62"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p>
        </p:txBody>
      </p:sp>
      <p:sp>
        <p:nvSpPr>
          <p:cNvPr id="63" name="PlaceHolder 3"/>
          <p:cNvSpPr>
            <a:spLocks noGrp="1"/>
          </p:cNvSpPr>
          <p:nvPr>
            <p:ph type="dt" idx="3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64" name="PlaceHolder 4"/>
          <p:cNvSpPr>
            <a:spLocks noGrp="1"/>
          </p:cNvSpPr>
          <p:nvPr>
            <p:ph type="ftr" idx="3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65" name="PlaceHolder 5"/>
          <p:cNvSpPr>
            <a:spLocks noGrp="1"/>
          </p:cNvSpPr>
          <p:nvPr>
            <p:ph type="sldNum" idx="3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9E285B2-B07D-4F0B-B0AC-395D8322C4D6}"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p>
        </p:txBody>
      </p:sp>
      <p:sp>
        <p:nvSpPr>
          <p:cNvPr id="67"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68"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p>
        </p:txBody>
      </p:sp>
      <p:sp>
        <p:nvSpPr>
          <p:cNvPr id="69" name="PlaceHolder 4"/>
          <p:cNvSpPr>
            <a:spLocks noGrp="1"/>
          </p:cNvSpPr>
          <p:nvPr>
            <p:ph type="dt" idx="3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sr-Latn-RS" sz="1200" b="0" u="none" strike="noStrike">
                <a:solidFill>
                  <a:schemeClr val="dk1">
                    <a:tint val="82000"/>
                  </a:schemeClr>
                </a:solidFill>
                <a:effectLst/>
                <a:uFillTx/>
                <a:latin typeface="Aptos"/>
              </a:rPr>
              <a:t>&lt;date/time&gt;</a:t>
            </a:r>
            <a:endParaRPr lang="sr-Latn-RS" sz="1200" b="0" u="none" strike="noStrike">
              <a:solidFill>
                <a:srgbClr val="000000"/>
              </a:solidFill>
              <a:effectLst/>
              <a:uFillTx/>
              <a:latin typeface="Times New Roman"/>
            </a:endParaRPr>
          </a:p>
        </p:txBody>
      </p:sp>
      <p:sp>
        <p:nvSpPr>
          <p:cNvPr id="70" name="PlaceHolder 5"/>
          <p:cNvSpPr>
            <a:spLocks noGrp="1"/>
          </p:cNvSpPr>
          <p:nvPr>
            <p:ph type="ftr" idx="3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sr-Latn-RS" sz="1400" b="0" u="none" strike="noStrike">
                <a:solidFill>
                  <a:srgbClr val="000000"/>
                </a:solidFill>
                <a:effectLst/>
                <a:uFillTx/>
                <a:latin typeface="Times New Roman"/>
              </a:defRPr>
            </a:lvl1pPr>
          </a:lstStyle>
          <a:p>
            <a:pPr indent="0" algn="ctr">
              <a:lnSpc>
                <a:spcPct val="100000"/>
              </a:lnSpc>
              <a:buNone/>
              <a:tabLst>
                <a:tab pos="0" algn="l"/>
              </a:tabLst>
            </a:pPr>
            <a:r>
              <a:rPr lang="sr-Latn-RS" sz="1400" b="0" u="none" strike="noStrike">
                <a:solidFill>
                  <a:srgbClr val="000000"/>
                </a:solidFill>
                <a:effectLst/>
                <a:uFillTx/>
                <a:latin typeface="Times New Roman"/>
              </a:rPr>
              <a:t>&lt;footer&gt;</a:t>
            </a:r>
          </a:p>
        </p:txBody>
      </p:sp>
      <p:sp>
        <p:nvSpPr>
          <p:cNvPr id="71" name="PlaceHolder 6"/>
          <p:cNvSpPr>
            <a:spLocks noGrp="1"/>
          </p:cNvSpPr>
          <p:nvPr>
            <p:ph type="sldNum" idx="3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sr-Latn-R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D64AA4E-F027-4996-88B7-C92773AF70D0}" type="slidenum">
              <a:rPr lang="sr-Latn-RS" sz="1200" b="0" u="none" strike="noStrike">
                <a:solidFill>
                  <a:schemeClr val="dk1">
                    <a:tint val="82000"/>
                  </a:schemeClr>
                </a:solidFill>
                <a:effectLst/>
                <a:uFillTx/>
                <a:latin typeface="Aptos"/>
              </a:rPr>
              <a:t>‹#›</a:t>
            </a:fld>
            <a:endParaRPr lang="sr-Latn-R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mailto:nn253109m@student.etf.bg.ac.rs" TargetMode="External"/><Relationship Id="rId2" Type="http://schemas.openxmlformats.org/officeDocument/2006/relationships/hyperlink" Target="mailto:sp253068m@student.etf.bg.ac.rs"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900000" y="492840"/>
            <a:ext cx="10799640" cy="2386800"/>
          </a:xfrm>
          <a:prstGeom prst="rect">
            <a:avLst/>
          </a:prstGeom>
          <a:noFill/>
          <a:ln w="0">
            <a:noFill/>
          </a:ln>
        </p:spPr>
        <p:txBody>
          <a:bodyPr lIns="91440" tIns="45720" rIns="91440" bIns="45720" anchor="b">
            <a:normAutofit/>
          </a:bodyPr>
          <a:lstStyle/>
          <a:p>
            <a:r>
              <a:rPr lang="en-US" sz="4650" b="0" u="none" strike="noStrike" dirty="0">
                <a:effectLst/>
                <a:uFillTx/>
                <a:latin typeface="Aptos Display"/>
              </a:rPr>
              <a:t>Множење </a:t>
            </a:r>
            <a:r>
              <a:rPr lang="en-US" sz="4650" b="0" u="none" strike="noStrike" dirty="0" err="1">
                <a:effectLst/>
                <a:uFillTx/>
                <a:latin typeface="Aptos Display"/>
              </a:rPr>
              <a:t>матрица</a:t>
            </a:r>
            <a:r>
              <a:rPr lang="en-US" sz="4650" dirty="0"/>
              <a:t> </a:t>
            </a:r>
            <a:r>
              <a:rPr lang="en-US" sz="4650" dirty="0" err="1"/>
              <a:t>на</a:t>
            </a:r>
            <a:r>
              <a:rPr lang="en-US" sz="4650" dirty="0"/>
              <a:t> </a:t>
            </a:r>
            <a:r>
              <a:rPr lang="en-US" sz="4650" dirty="0" err="1"/>
              <a:t>квантним</a:t>
            </a:r>
            <a:r>
              <a:rPr lang="en-US" sz="4650" dirty="0"/>
              <a:t> </a:t>
            </a:r>
            <a:r>
              <a:rPr lang="en-US" sz="4650" dirty="0" err="1"/>
              <a:t>рачунарима</a:t>
            </a:r>
            <a:endParaRPr lang="en-US" sz="4650" b="0" u="none" strike="noStrike" dirty="0" err="1">
              <a:effectLst/>
              <a:uFillTx/>
              <a:latin typeface="Aptos Display"/>
            </a:endParaRPr>
          </a:p>
        </p:txBody>
      </p:sp>
      <p:sp>
        <p:nvSpPr>
          <p:cNvPr id="73" name="PlaceHolder 2"/>
          <p:cNvSpPr>
            <a:spLocks noGrp="1"/>
          </p:cNvSpPr>
          <p:nvPr>
            <p:ph type="subTitle"/>
          </p:nvPr>
        </p:nvSpPr>
        <p:spPr>
          <a:xfrm>
            <a:off x="1080000" y="4500000"/>
            <a:ext cx="9899640" cy="1619640"/>
          </a:xfrm>
          <a:prstGeom prst="rect">
            <a:avLst/>
          </a:prstGeom>
          <a:noFill/>
          <a:ln w="0">
            <a:noFill/>
          </a:ln>
        </p:spPr>
        <p:txBody>
          <a:bodyPr lIns="91440" tIns="45720" rIns="91440" bIns="45720" anchor="t">
            <a:noAutofit/>
          </a:bodyPr>
          <a:lstStyle/>
          <a:p>
            <a:pPr marL="457200" indent="0" algn="ctr" defTabSz="914400">
              <a:lnSpc>
                <a:spcPct val="90000"/>
              </a:lnSpc>
              <a:spcBef>
                <a:spcPts val="499"/>
              </a:spcBef>
              <a:buNone/>
              <a:tabLst>
                <a:tab pos="0" algn="l"/>
              </a:tabLst>
            </a:pP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r>
              <a:rPr lang="en-US" sz="2800" b="0" u="none" strike="noStrike">
                <a:solidFill>
                  <a:schemeClr val="dk1"/>
                </a:solidFill>
                <a:effectLst/>
                <a:uFillTx/>
                <a:latin typeface="Aptos"/>
                <a:ea typeface="Microsoft YaHei"/>
              </a:rPr>
              <a:t>Електротехнички факултет, Универзитет у Београду</a:t>
            </a:r>
            <a:r>
              <a:rPr lang="en-US" sz="2000" b="0" u="none" strike="noStrike">
                <a:solidFill>
                  <a:schemeClr val="dk1"/>
                </a:solidFill>
                <a:effectLst/>
                <a:uFillTx/>
                <a:latin typeface="Aptos"/>
                <a:ea typeface="Microsoft YaHei"/>
              </a:rPr>
              <a:t> </a:t>
            </a:r>
            <a:endParaRPr lang="sr-Latn-RS" sz="2000" b="0" u="none" strike="noStrike">
              <a:solidFill>
                <a:srgbClr val="000000"/>
              </a:solidFill>
              <a:effectLst/>
              <a:uFillTx/>
              <a:latin typeface="Arial"/>
            </a:endParaRPr>
          </a:p>
          <a:p>
            <a:pPr marL="457200" indent="0" algn="r" defTabSz="914400">
              <a:lnSpc>
                <a:spcPct val="90000"/>
              </a:lnSpc>
              <a:spcBef>
                <a:spcPts val="499"/>
              </a:spcBef>
              <a:buNone/>
              <a:tabLst>
                <a:tab pos="0" algn="l"/>
              </a:tabLst>
            </a:pPr>
            <a:br>
              <a:rPr sz="2000"/>
            </a:br>
            <a:endParaRPr lang="sr-Latn-RS" sz="2000" b="0" u="none" strike="noStrike">
              <a:solidFill>
                <a:srgbClr val="000000"/>
              </a:solidFill>
              <a:effectLst/>
              <a:uFillTx/>
              <a:latin typeface="Arial"/>
            </a:endParaRPr>
          </a:p>
        </p:txBody>
      </p:sp>
      <p:pic>
        <p:nvPicPr>
          <p:cNvPr id="74" name="Picture 73"/>
          <p:cNvPicPr/>
          <p:nvPr/>
        </p:nvPicPr>
        <p:blipFill>
          <a:blip r:embed="rId2"/>
          <a:stretch/>
        </p:blipFill>
        <p:spPr>
          <a:xfrm>
            <a:off x="5400000" y="2880000"/>
            <a:ext cx="1425960" cy="1752480"/>
          </a:xfrm>
          <a:prstGeom prst="rect">
            <a:avLst/>
          </a:prstGeom>
          <a:noFill/>
          <a:ln w="0">
            <a:noFill/>
          </a:ln>
        </p:spPr>
      </p:pic>
      <p:sp>
        <p:nvSpPr>
          <p:cNvPr id="75" name="Rectangle 74"/>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fld id="{A4C668DB-1700-445D-910E-A346D4DDE698}" type="slidenum">
              <a:rPr lang="sr-Latn-RS" sz="2400" b="0" u="none" strike="noStrike">
                <a:solidFill>
                  <a:srgbClr val="000000"/>
                </a:solidFill>
                <a:effectLst/>
                <a:uFillTx/>
                <a:latin typeface="Times New Roman"/>
              </a:rPr>
              <a:t>1</a:t>
            </a:fld>
            <a:r>
              <a:rPr lang="sr-Latn-RS" sz="2400">
                <a:solidFill>
                  <a:srgbClr val="000000"/>
                </a:solidFill>
                <a:latin typeface="Times New Roman"/>
              </a:rPr>
              <a:t>/12</a:t>
            </a:r>
            <a:endParaRPr lang="sr-Latn-RS" sz="24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46441-09D1-AC5B-683B-B1783F21175E}"/>
            </a:ext>
          </a:extLst>
        </p:cNvPr>
        <p:cNvGrpSpPr/>
        <p:nvPr/>
      </p:nvGrpSpPr>
      <p:grpSpPr>
        <a:xfrm>
          <a:off x="0" y="0"/>
          <a:ext cx="0" cy="0"/>
          <a:chOff x="0" y="0"/>
          <a:chExt cx="0" cy="0"/>
        </a:xfrm>
      </p:grpSpPr>
      <p:sp>
        <p:nvSpPr>
          <p:cNvPr id="76" name="PlaceHolder 1">
            <a:extLst>
              <a:ext uri="{FF2B5EF4-FFF2-40B4-BE49-F238E27FC236}">
                <a16:creationId xmlns:a16="http://schemas.microsoft.com/office/drawing/2014/main" id="{B22CA69E-D272-9472-DC0D-E29F56D8D201}"/>
              </a:ext>
            </a:extLst>
          </p:cNvPr>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algn="ctr"/>
            <a:r>
              <a:rPr lang="en-US" dirty="0" err="1"/>
              <a:t>Квантни</a:t>
            </a:r>
            <a:r>
              <a:rPr lang="en-US" dirty="0"/>
              <a:t> </a:t>
            </a:r>
            <a:r>
              <a:rPr lang="en-US" dirty="0" err="1"/>
              <a:t>рачунар</a:t>
            </a:r>
          </a:p>
        </p:txBody>
      </p:sp>
      <p:sp>
        <p:nvSpPr>
          <p:cNvPr id="78" name="Rectangle 77">
            <a:extLst>
              <a:ext uri="{FF2B5EF4-FFF2-40B4-BE49-F238E27FC236}">
                <a16:creationId xmlns:a16="http://schemas.microsoft.com/office/drawing/2014/main" id="{7C0DCE58-7513-BD08-2426-284ADE3FAC4D}"/>
              </a:ext>
            </a:extLst>
          </p:cNvPr>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2</a:t>
            </a:fld>
            <a:r>
              <a:rPr lang="sr-Latn-RS" sz="2400">
                <a:solidFill>
                  <a:srgbClr val="000000"/>
                </a:solidFill>
                <a:latin typeface="Times New Roman"/>
              </a:rPr>
              <a:t>/12</a:t>
            </a:r>
            <a:endParaRPr lang="sr-Latn-RS" sz="2400" b="0" u="none" strike="noStrike">
              <a:solidFill>
                <a:srgbClr val="000000"/>
              </a:solidFill>
              <a:effectLst/>
              <a:uFillTx/>
              <a:latin typeface="Arial"/>
            </a:endParaRPr>
          </a:p>
        </p:txBody>
      </p:sp>
      <p:pic>
        <p:nvPicPr>
          <p:cNvPr id="5" name="Picture 4" descr="A close-up of a machine&#10;&#10;AI-generated content may be incorrect.">
            <a:extLst>
              <a:ext uri="{FF2B5EF4-FFF2-40B4-BE49-F238E27FC236}">
                <a16:creationId xmlns:a16="http://schemas.microsoft.com/office/drawing/2014/main" id="{DD6ABC70-DCCA-286A-0D7E-99855FB03CD1}"/>
              </a:ext>
            </a:extLst>
          </p:cNvPr>
          <p:cNvPicPr>
            <a:picLocks noChangeAspect="1"/>
          </p:cNvPicPr>
          <p:nvPr/>
        </p:nvPicPr>
        <p:blipFill>
          <a:blip r:embed="rId3"/>
          <a:stretch>
            <a:fillRect/>
          </a:stretch>
        </p:blipFill>
        <p:spPr>
          <a:xfrm>
            <a:off x="4252226" y="1697423"/>
            <a:ext cx="3687546" cy="4046456"/>
          </a:xfrm>
          <a:prstGeom prst="rect">
            <a:avLst/>
          </a:prstGeom>
        </p:spPr>
      </p:pic>
    </p:spTree>
    <p:extLst>
      <p:ext uri="{BB962C8B-B14F-4D97-AF65-F5344CB8AC3E}">
        <p14:creationId xmlns:p14="http://schemas.microsoft.com/office/powerpoint/2010/main" val="3369357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algn="ctr"/>
            <a:r>
              <a:rPr lang="en-US" dirty="0" err="1"/>
              <a:t>Квантно</a:t>
            </a:r>
            <a:r>
              <a:rPr lang="en-US" dirty="0"/>
              <a:t> </a:t>
            </a:r>
            <a:r>
              <a:rPr lang="en-US" dirty="0" err="1"/>
              <a:t>рачунарство</a:t>
            </a:r>
          </a:p>
        </p:txBody>
      </p:sp>
      <p:sp>
        <p:nvSpPr>
          <p:cNvPr id="77" name="PlaceHolder 2"/>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marL="228600" indent="-228600">
              <a:spcBef>
                <a:spcPts val="1001"/>
              </a:spcBef>
              <a:buClr>
                <a:srgbClr val="000000"/>
              </a:buClr>
              <a:buFont typeface="Arial"/>
              <a:buChar char="•"/>
            </a:pPr>
            <a:r>
              <a:rPr lang="en-US" sz="2800" dirty="0">
                <a:latin typeface="Aptos"/>
              </a:rPr>
              <a:t>Квантни </a:t>
            </a:r>
            <a:r>
              <a:rPr lang="en-US" sz="2800" dirty="0" err="1">
                <a:latin typeface="Aptos"/>
              </a:rPr>
              <a:t>рачунарски</a:t>
            </a:r>
            <a:r>
              <a:rPr lang="en-US" sz="2800" dirty="0">
                <a:latin typeface="Aptos"/>
              </a:rPr>
              <a:t> </a:t>
            </a:r>
            <a:r>
              <a:rPr lang="en-US" sz="2800" dirty="0" err="1">
                <a:latin typeface="Aptos"/>
              </a:rPr>
              <a:t>модел</a:t>
            </a:r>
            <a:r>
              <a:rPr lang="en-US" sz="2800" dirty="0">
                <a:latin typeface="Aptos"/>
              </a:rPr>
              <a:t> - </a:t>
            </a:r>
            <a:r>
              <a:rPr lang="en-US" sz="2800" dirty="0" err="1">
                <a:latin typeface="Aptos"/>
              </a:rPr>
              <a:t>линеарна</a:t>
            </a:r>
            <a:r>
              <a:rPr lang="en-US" sz="2800" dirty="0">
                <a:latin typeface="Aptos"/>
              </a:rPr>
              <a:t> </a:t>
            </a:r>
            <a:r>
              <a:rPr lang="en-US" sz="2800" dirty="0" err="1">
                <a:latin typeface="Aptos"/>
              </a:rPr>
              <a:t>еволуција</a:t>
            </a:r>
            <a:r>
              <a:rPr lang="en-US" sz="2800" dirty="0">
                <a:latin typeface="Aptos"/>
              </a:rPr>
              <a:t> </a:t>
            </a:r>
            <a:r>
              <a:rPr lang="en-US" sz="2800" dirty="0" err="1">
                <a:latin typeface="Aptos"/>
              </a:rPr>
              <a:t>стања</a:t>
            </a:r>
          </a:p>
          <a:p>
            <a:pPr marL="228600" indent="-228600">
              <a:spcBef>
                <a:spcPts val="1001"/>
              </a:spcBef>
              <a:buClr>
                <a:srgbClr val="000000"/>
              </a:buClr>
              <a:buFont typeface="Arial"/>
              <a:buChar char="•"/>
            </a:pPr>
            <a:r>
              <a:rPr lang="en-US" sz="2800" dirty="0" err="1">
                <a:latin typeface="Aptos"/>
              </a:rPr>
              <a:t>Операције</a:t>
            </a:r>
            <a:r>
              <a:rPr lang="en-US" sz="2800" dirty="0">
                <a:latin typeface="Aptos"/>
              </a:rPr>
              <a:t> - </a:t>
            </a:r>
            <a:r>
              <a:rPr lang="en-US" sz="2800" dirty="0" err="1">
                <a:latin typeface="Aptos"/>
              </a:rPr>
              <a:t>линеарне</a:t>
            </a:r>
            <a:r>
              <a:rPr lang="en-US" sz="2800" dirty="0">
                <a:latin typeface="Aptos"/>
              </a:rPr>
              <a:t> </a:t>
            </a:r>
            <a:r>
              <a:rPr lang="en-US" sz="2800" dirty="0" err="1">
                <a:latin typeface="Aptos"/>
              </a:rPr>
              <a:t>трансформације</a:t>
            </a:r>
            <a:r>
              <a:rPr lang="en-US" sz="2800" dirty="0">
                <a:latin typeface="Aptos"/>
              </a:rPr>
              <a:t> </a:t>
            </a:r>
            <a:r>
              <a:rPr lang="en-US" sz="2800" dirty="0" err="1">
                <a:latin typeface="Aptos"/>
              </a:rPr>
              <a:t>над</a:t>
            </a:r>
            <a:r>
              <a:rPr lang="en-US" sz="2800" dirty="0">
                <a:latin typeface="Aptos"/>
              </a:rPr>
              <a:t> </a:t>
            </a:r>
            <a:r>
              <a:rPr lang="en-US" sz="2800" dirty="0" err="1">
                <a:latin typeface="Aptos"/>
              </a:rPr>
              <a:t>квантним</a:t>
            </a:r>
            <a:r>
              <a:rPr lang="en-US" sz="2800" dirty="0">
                <a:latin typeface="Aptos"/>
              </a:rPr>
              <a:t> </a:t>
            </a:r>
            <a:r>
              <a:rPr lang="en-US" sz="2800" dirty="0" err="1">
                <a:latin typeface="Aptos"/>
              </a:rPr>
              <a:t>стањима</a:t>
            </a:r>
          </a:p>
          <a:p>
            <a:pPr marL="228600" indent="-228600">
              <a:spcBef>
                <a:spcPts val="1001"/>
              </a:spcBef>
              <a:buClr>
                <a:srgbClr val="000000"/>
              </a:buClr>
              <a:buFont typeface="Arial"/>
              <a:buChar char="•"/>
            </a:pPr>
            <a:r>
              <a:rPr lang="en-US" sz="2800" dirty="0" err="1">
                <a:latin typeface="Aptos"/>
              </a:rPr>
              <a:t>Природна</a:t>
            </a:r>
            <a:r>
              <a:rPr lang="en-US" sz="2800" dirty="0">
                <a:latin typeface="Aptos"/>
              </a:rPr>
              <a:t> </a:t>
            </a:r>
            <a:r>
              <a:rPr lang="en-US" sz="2800" dirty="0" err="1">
                <a:latin typeface="Aptos"/>
              </a:rPr>
              <a:t>примена</a:t>
            </a:r>
            <a:r>
              <a:rPr lang="en-US" sz="2800" dirty="0">
                <a:latin typeface="Aptos"/>
              </a:rPr>
              <a:t> </a:t>
            </a:r>
            <a:r>
              <a:rPr lang="en-US" sz="2800" dirty="0" err="1">
                <a:latin typeface="Aptos"/>
              </a:rPr>
              <a:t>за</a:t>
            </a:r>
            <a:r>
              <a:rPr lang="en-US" sz="2800" dirty="0">
                <a:latin typeface="Aptos"/>
              </a:rPr>
              <a:t> </a:t>
            </a:r>
            <a:r>
              <a:rPr lang="en-US" sz="2800" dirty="0" err="1">
                <a:latin typeface="Aptos"/>
              </a:rPr>
              <a:t>линеарну</a:t>
            </a:r>
            <a:r>
              <a:rPr lang="en-US" sz="2800" dirty="0">
                <a:latin typeface="Aptos"/>
              </a:rPr>
              <a:t> </a:t>
            </a:r>
            <a:r>
              <a:rPr lang="en-US" sz="2800" dirty="0" err="1">
                <a:latin typeface="Aptos"/>
              </a:rPr>
              <a:t>алгебру</a:t>
            </a:r>
          </a:p>
          <a:p>
            <a:pPr marL="228600" indent="-228600">
              <a:spcBef>
                <a:spcPts val="1001"/>
              </a:spcBef>
              <a:buClr>
                <a:srgbClr val="000000"/>
              </a:buClr>
              <a:buFont typeface="Arial"/>
              <a:buChar char="•"/>
            </a:pPr>
            <a:r>
              <a:rPr lang="en-US" sz="2800" dirty="0" err="1">
                <a:latin typeface="Aptos"/>
              </a:rPr>
              <a:t>Циљ</a:t>
            </a:r>
            <a:r>
              <a:rPr lang="en-US" sz="2800" dirty="0">
                <a:latin typeface="Aptos"/>
              </a:rPr>
              <a:t>: </a:t>
            </a:r>
            <a:r>
              <a:rPr lang="en-US" sz="2800" dirty="0" err="1">
                <a:latin typeface="Aptos"/>
              </a:rPr>
              <a:t>убрзање</a:t>
            </a:r>
            <a:r>
              <a:rPr lang="en-US" sz="2800" dirty="0">
                <a:latin typeface="Aptos"/>
              </a:rPr>
              <a:t> </a:t>
            </a:r>
            <a:r>
              <a:rPr lang="en-US" sz="2800" dirty="0" err="1">
                <a:latin typeface="Aptos"/>
              </a:rPr>
              <a:t>операција</a:t>
            </a:r>
            <a:r>
              <a:rPr lang="en-US" sz="2800" dirty="0">
                <a:latin typeface="Aptos"/>
              </a:rPr>
              <a:t> </a:t>
            </a:r>
            <a:r>
              <a:rPr lang="en-US" sz="2800" dirty="0" err="1">
                <a:latin typeface="Aptos"/>
              </a:rPr>
              <a:t>над</a:t>
            </a:r>
            <a:r>
              <a:rPr lang="en-US" sz="2800" dirty="0">
                <a:latin typeface="Aptos"/>
              </a:rPr>
              <a:t> </a:t>
            </a:r>
            <a:r>
              <a:rPr lang="en-US" sz="2800" dirty="0" err="1">
                <a:latin typeface="Aptos"/>
              </a:rPr>
              <a:t>векторима</a:t>
            </a:r>
            <a:r>
              <a:rPr lang="en-US" sz="2800" dirty="0">
                <a:latin typeface="Aptos"/>
              </a:rPr>
              <a:t> и </a:t>
            </a:r>
            <a:r>
              <a:rPr lang="en-US" sz="2800" dirty="0" err="1">
                <a:latin typeface="Aptos"/>
              </a:rPr>
              <a:t>матрицама</a:t>
            </a:r>
          </a:p>
        </p:txBody>
      </p:sp>
      <p:sp>
        <p:nvSpPr>
          <p:cNvPr id="78" name="Rectangle 77"/>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89999" tIns="45000" rIns="89999"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3</a:t>
            </a:fld>
            <a:r>
              <a:rPr lang="sr-Latn-RS" sz="2400">
                <a:solidFill>
                  <a:srgbClr val="000000"/>
                </a:solidFill>
                <a:latin typeface="Times New Roman"/>
              </a:rPr>
              <a:t>/12</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E989B-64C1-A482-E717-1310DD5F6CBA}"/>
            </a:ext>
          </a:extLst>
        </p:cNvPr>
        <p:cNvGrpSpPr/>
        <p:nvPr/>
      </p:nvGrpSpPr>
      <p:grpSpPr>
        <a:xfrm>
          <a:off x="0" y="0"/>
          <a:ext cx="0" cy="0"/>
          <a:chOff x="0" y="0"/>
          <a:chExt cx="0" cy="0"/>
        </a:xfrm>
      </p:grpSpPr>
      <p:sp>
        <p:nvSpPr>
          <p:cNvPr id="76" name="PlaceHolder 1">
            <a:extLst>
              <a:ext uri="{FF2B5EF4-FFF2-40B4-BE49-F238E27FC236}">
                <a16:creationId xmlns:a16="http://schemas.microsoft.com/office/drawing/2014/main" id="{B267429A-FA63-47AA-7509-97B5C3803836}"/>
              </a:ext>
            </a:extLst>
          </p:cNvPr>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algn="ctr"/>
            <a:r>
              <a:rPr lang="en-US" dirty="0"/>
              <a:t>Квантни </a:t>
            </a:r>
            <a:r>
              <a:rPr lang="en-US" dirty="0" err="1"/>
              <a:t>битови</a:t>
            </a:r>
            <a:r>
              <a:rPr lang="en-US" dirty="0"/>
              <a:t> и </a:t>
            </a:r>
            <a:r>
              <a:rPr lang="en-US" dirty="0" err="1"/>
              <a:t>простор</a:t>
            </a:r>
            <a:r>
              <a:rPr lang="en-US" dirty="0"/>
              <a:t> </a:t>
            </a:r>
            <a:r>
              <a:rPr lang="en-US" dirty="0" err="1"/>
              <a:t>стања</a:t>
            </a:r>
          </a:p>
        </p:txBody>
      </p:sp>
      <p:sp>
        <p:nvSpPr>
          <p:cNvPr id="77" name="PlaceHolder 2">
            <a:extLst>
              <a:ext uri="{FF2B5EF4-FFF2-40B4-BE49-F238E27FC236}">
                <a16:creationId xmlns:a16="http://schemas.microsoft.com/office/drawing/2014/main" id="{2B191473-4B7C-2627-6EF4-962D33342B25}"/>
              </a:ext>
            </a:extLst>
          </p:cNvPr>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marL="228600" indent="-228600">
              <a:spcBef>
                <a:spcPts val="1001"/>
              </a:spcBef>
              <a:buClr>
                <a:srgbClr val="000000"/>
              </a:buClr>
              <a:buFont typeface="Arial"/>
              <a:buChar char="•"/>
            </a:pPr>
            <a:r>
              <a:rPr lang="en-US" sz="2800" dirty="0">
                <a:latin typeface="Aptos"/>
              </a:rPr>
              <a:t>Qubit - </a:t>
            </a:r>
            <a:r>
              <a:rPr lang="en-US" sz="2800" dirty="0" err="1">
                <a:latin typeface="Aptos"/>
              </a:rPr>
              <a:t>суперпозиција</a:t>
            </a:r>
            <a:r>
              <a:rPr lang="en-US" sz="2800" dirty="0">
                <a:latin typeface="Aptos"/>
              </a:rPr>
              <a:t> 0 и 1</a:t>
            </a:r>
          </a:p>
          <a:p>
            <a:pPr marL="228600" indent="-228600">
              <a:spcBef>
                <a:spcPts val="1001"/>
              </a:spcBef>
              <a:buClr>
                <a:srgbClr val="000000"/>
              </a:buClr>
              <a:buFont typeface="Arial"/>
              <a:buChar char="•"/>
            </a:pPr>
            <a:r>
              <a:rPr lang="en-US" sz="2800" dirty="0">
                <a:latin typeface="Aptos"/>
              </a:rPr>
              <a:t>Стање </a:t>
            </a:r>
            <a:r>
              <a:rPr lang="en-US" sz="2800" dirty="0" err="1">
                <a:latin typeface="Aptos"/>
              </a:rPr>
              <a:t>система</a:t>
            </a:r>
            <a:r>
              <a:rPr lang="en-US" sz="2800" dirty="0">
                <a:latin typeface="Aptos"/>
              </a:rPr>
              <a:t> - </a:t>
            </a:r>
            <a:r>
              <a:rPr lang="en-US" sz="2800" dirty="0" err="1">
                <a:latin typeface="Aptos"/>
              </a:rPr>
              <a:t>вектор</a:t>
            </a:r>
            <a:r>
              <a:rPr lang="en-US" sz="2800" dirty="0">
                <a:latin typeface="Aptos"/>
              </a:rPr>
              <a:t> у </a:t>
            </a:r>
            <a:r>
              <a:rPr lang="en-US" sz="2800" dirty="0" err="1">
                <a:latin typeface="Aptos"/>
              </a:rPr>
              <a:t>комплексном</a:t>
            </a:r>
            <a:r>
              <a:rPr lang="en-US" sz="2800" dirty="0">
                <a:latin typeface="Aptos"/>
              </a:rPr>
              <a:t> </a:t>
            </a:r>
            <a:r>
              <a:rPr lang="en-US" sz="2800" dirty="0" err="1">
                <a:latin typeface="Aptos"/>
              </a:rPr>
              <a:t>простору</a:t>
            </a:r>
          </a:p>
          <a:p>
            <a:pPr marL="228600" indent="-228600">
              <a:spcBef>
                <a:spcPts val="1001"/>
              </a:spcBef>
              <a:buClr>
                <a:srgbClr val="000000"/>
              </a:buClr>
              <a:buFont typeface="Arial"/>
              <a:buChar char="•"/>
            </a:pPr>
            <a:r>
              <a:rPr lang="en-US" sz="2800" dirty="0">
                <a:latin typeface="Aptos"/>
              </a:rPr>
              <a:t>N qubit-а &lt;=&gt; 2^N </a:t>
            </a:r>
            <a:r>
              <a:rPr lang="en-US" sz="2800" dirty="0" err="1">
                <a:latin typeface="Aptos"/>
              </a:rPr>
              <a:t>димензионални</a:t>
            </a:r>
            <a:r>
              <a:rPr lang="en-US" sz="2800" dirty="0">
                <a:latin typeface="Aptos"/>
              </a:rPr>
              <a:t> </a:t>
            </a:r>
            <a:r>
              <a:rPr lang="en-US" sz="2800" dirty="0" err="1">
                <a:latin typeface="Aptos"/>
              </a:rPr>
              <a:t>простор</a:t>
            </a:r>
          </a:p>
          <a:p>
            <a:pPr marL="228600" indent="-228600">
              <a:spcBef>
                <a:spcPts val="1001"/>
              </a:spcBef>
              <a:buClr>
                <a:srgbClr val="000000"/>
              </a:buClr>
              <a:buFont typeface="Arial"/>
              <a:buChar char="•"/>
            </a:pPr>
            <a:r>
              <a:rPr lang="en-US" sz="2800" dirty="0" err="1">
                <a:latin typeface="Aptos"/>
              </a:rPr>
              <a:t>Информација</a:t>
            </a:r>
            <a:r>
              <a:rPr lang="en-US" sz="2800" dirty="0">
                <a:latin typeface="Aptos"/>
              </a:rPr>
              <a:t> </a:t>
            </a:r>
            <a:r>
              <a:rPr lang="en-US" sz="2800" dirty="0" err="1">
                <a:latin typeface="Aptos"/>
              </a:rPr>
              <a:t>је</a:t>
            </a:r>
            <a:r>
              <a:rPr lang="en-US" sz="2800" dirty="0">
                <a:latin typeface="Aptos"/>
              </a:rPr>
              <a:t> </a:t>
            </a:r>
            <a:r>
              <a:rPr lang="en-US" sz="2800" dirty="0" err="1">
                <a:latin typeface="Aptos"/>
              </a:rPr>
              <a:t>кодирана</a:t>
            </a:r>
            <a:r>
              <a:rPr lang="en-US" sz="2800" dirty="0">
                <a:latin typeface="Aptos"/>
              </a:rPr>
              <a:t> у </a:t>
            </a:r>
            <a:r>
              <a:rPr lang="en-US" sz="2800" dirty="0" err="1">
                <a:latin typeface="Aptos"/>
              </a:rPr>
              <a:t>амплитудама</a:t>
            </a:r>
            <a:r>
              <a:rPr lang="en-US" sz="2800" dirty="0">
                <a:latin typeface="Aptos"/>
              </a:rPr>
              <a:t>​</a:t>
            </a:r>
          </a:p>
        </p:txBody>
      </p:sp>
      <p:sp>
        <p:nvSpPr>
          <p:cNvPr id="78" name="Rectangle 77">
            <a:extLst>
              <a:ext uri="{FF2B5EF4-FFF2-40B4-BE49-F238E27FC236}">
                <a16:creationId xmlns:a16="http://schemas.microsoft.com/office/drawing/2014/main" id="{AF84442F-EF5F-E300-080C-52B6F792DD98}"/>
              </a:ext>
            </a:extLst>
          </p:cNvPr>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89999" tIns="45000" rIns="89999"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4</a:t>
            </a:fld>
            <a:r>
              <a:rPr lang="sr-Latn-RS" sz="2400">
                <a:solidFill>
                  <a:srgbClr val="000000"/>
                </a:solidFill>
                <a:latin typeface="Times New Roman"/>
              </a:rPr>
              <a:t>/12</a:t>
            </a:r>
            <a:endParaRPr lang="en-US"/>
          </a:p>
        </p:txBody>
      </p:sp>
    </p:spTree>
    <p:extLst>
      <p:ext uri="{BB962C8B-B14F-4D97-AF65-F5344CB8AC3E}">
        <p14:creationId xmlns:p14="http://schemas.microsoft.com/office/powerpoint/2010/main" val="2593372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88476-854F-8040-A4DB-462149E12FBA}"/>
            </a:ext>
          </a:extLst>
        </p:cNvPr>
        <p:cNvGrpSpPr/>
        <p:nvPr/>
      </p:nvGrpSpPr>
      <p:grpSpPr>
        <a:xfrm>
          <a:off x="0" y="0"/>
          <a:ext cx="0" cy="0"/>
          <a:chOff x="0" y="0"/>
          <a:chExt cx="0" cy="0"/>
        </a:xfrm>
      </p:grpSpPr>
      <p:sp>
        <p:nvSpPr>
          <p:cNvPr id="76" name="PlaceHolder 1">
            <a:extLst>
              <a:ext uri="{FF2B5EF4-FFF2-40B4-BE49-F238E27FC236}">
                <a16:creationId xmlns:a16="http://schemas.microsoft.com/office/drawing/2014/main" id="{1155AB22-B010-0A6E-3ABA-C4BE338A2CAD}"/>
              </a:ext>
            </a:extLst>
          </p:cNvPr>
          <p:cNvSpPr>
            <a:spLocks noGrp="1"/>
          </p:cNvSpPr>
          <p:nvPr>
            <p:ph type="title"/>
          </p:nvPr>
        </p:nvSpPr>
        <p:spPr>
          <a:xfrm>
            <a:off x="234231" y="365040"/>
            <a:ext cx="11736955" cy="1339177"/>
          </a:xfrm>
          <a:prstGeom prst="rect">
            <a:avLst/>
          </a:prstGeom>
          <a:noFill/>
          <a:ln w="0">
            <a:noFill/>
          </a:ln>
        </p:spPr>
        <p:txBody>
          <a:bodyPr lIns="91440" tIns="45720" rIns="91440" bIns="45720" anchor="ctr">
            <a:noAutofit/>
          </a:bodyPr>
          <a:lstStyle/>
          <a:p>
            <a:pPr algn="ctr"/>
            <a:r>
              <a:rPr lang="en-US" dirty="0" err="1"/>
              <a:t>Квантна</a:t>
            </a:r>
            <a:r>
              <a:rPr lang="en-US" dirty="0"/>
              <a:t> </a:t>
            </a:r>
            <a:r>
              <a:rPr lang="en-US" dirty="0" err="1"/>
              <a:t>динамика</a:t>
            </a:r>
            <a:r>
              <a:rPr lang="en-US" dirty="0"/>
              <a:t> и </a:t>
            </a:r>
            <a:r>
              <a:rPr lang="en-US" dirty="0" err="1"/>
              <a:t>манипулација</a:t>
            </a:r>
            <a:r>
              <a:rPr lang="en-US" dirty="0"/>
              <a:t> </a:t>
            </a:r>
            <a:r>
              <a:rPr lang="en-US" dirty="0" err="1"/>
              <a:t>подацима</a:t>
            </a:r>
          </a:p>
        </p:txBody>
      </p:sp>
      <p:sp>
        <p:nvSpPr>
          <p:cNvPr id="77" name="PlaceHolder 2">
            <a:extLst>
              <a:ext uri="{FF2B5EF4-FFF2-40B4-BE49-F238E27FC236}">
                <a16:creationId xmlns:a16="http://schemas.microsoft.com/office/drawing/2014/main" id="{D344516E-464A-A5CA-2475-E7482155D51F}"/>
              </a:ext>
            </a:extLst>
          </p:cNvPr>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marL="228600" indent="-228600">
              <a:spcBef>
                <a:spcPts val="1001"/>
              </a:spcBef>
              <a:buClr>
                <a:srgbClr val="000000"/>
              </a:buClr>
              <a:buFont typeface="Arial"/>
              <a:buChar char="•"/>
            </a:pPr>
            <a:r>
              <a:rPr lang="en-US" sz="2800" dirty="0" err="1">
                <a:latin typeface="Aptos"/>
              </a:rPr>
              <a:t>Еволуција</a:t>
            </a:r>
            <a:r>
              <a:rPr lang="en-US" sz="2800" dirty="0">
                <a:latin typeface="Aptos"/>
              </a:rPr>
              <a:t> - </a:t>
            </a:r>
            <a:r>
              <a:rPr lang="en-US" sz="2800" dirty="0" err="1">
                <a:latin typeface="Aptos"/>
              </a:rPr>
              <a:t>унитарне</a:t>
            </a:r>
            <a:r>
              <a:rPr lang="en-US" sz="2800" dirty="0">
                <a:latin typeface="Aptos"/>
              </a:rPr>
              <a:t> </a:t>
            </a:r>
            <a:r>
              <a:rPr lang="en-US" sz="2800" dirty="0" err="1">
                <a:latin typeface="Aptos"/>
              </a:rPr>
              <a:t>матрице</a:t>
            </a:r>
            <a:endParaRPr lang="en-US" sz="2800" dirty="0">
              <a:latin typeface="Aptos"/>
            </a:endParaRPr>
          </a:p>
          <a:p>
            <a:pPr marL="228600" indent="-228600">
              <a:spcBef>
                <a:spcPts val="1001"/>
              </a:spcBef>
              <a:buClr>
                <a:srgbClr val="000000"/>
              </a:buClr>
              <a:buFont typeface="Arial"/>
              <a:buChar char="•"/>
            </a:pPr>
            <a:r>
              <a:rPr lang="en-US" sz="2800" dirty="0" err="1">
                <a:latin typeface="Aptos"/>
              </a:rPr>
              <a:t>Операције</a:t>
            </a:r>
            <a:r>
              <a:rPr lang="en-US" sz="2800" dirty="0">
                <a:latin typeface="Aptos"/>
              </a:rPr>
              <a:t> </a:t>
            </a:r>
            <a:r>
              <a:rPr lang="en-US" sz="2800" dirty="0" err="1">
                <a:latin typeface="Aptos"/>
              </a:rPr>
              <a:t>су</a:t>
            </a:r>
            <a:r>
              <a:rPr lang="en-US" sz="2800" dirty="0">
                <a:latin typeface="Aptos"/>
              </a:rPr>
              <a:t> </a:t>
            </a:r>
            <a:r>
              <a:rPr lang="en-US" sz="2800" dirty="0" err="1">
                <a:latin typeface="Aptos"/>
              </a:rPr>
              <a:t>реверзибилне</a:t>
            </a:r>
            <a:r>
              <a:rPr lang="en-US" sz="2800" dirty="0">
                <a:latin typeface="Aptos"/>
              </a:rPr>
              <a:t>, </a:t>
            </a:r>
            <a:r>
              <a:rPr lang="en-US" sz="2800" dirty="0" err="1">
                <a:latin typeface="Aptos"/>
              </a:rPr>
              <a:t>чувају</a:t>
            </a:r>
            <a:r>
              <a:rPr lang="en-US" sz="2800" dirty="0">
                <a:latin typeface="Aptos"/>
              </a:rPr>
              <a:t> </a:t>
            </a:r>
            <a:r>
              <a:rPr lang="en-US" sz="2800" dirty="0" err="1">
                <a:latin typeface="Aptos"/>
              </a:rPr>
              <a:t>укупну</a:t>
            </a:r>
            <a:r>
              <a:rPr lang="en-US" sz="2800" dirty="0">
                <a:latin typeface="Aptos"/>
              </a:rPr>
              <a:t> </a:t>
            </a:r>
            <a:r>
              <a:rPr lang="en-US" sz="2800" dirty="0" err="1">
                <a:latin typeface="Aptos"/>
              </a:rPr>
              <a:t>вероватно</a:t>
            </a:r>
            <a:r>
              <a:rPr lang="en-US" sz="2800" dirty="0">
                <a:latin typeface="Aptos"/>
              </a:rPr>
              <a:t>ћу</a:t>
            </a:r>
          </a:p>
          <a:p>
            <a:pPr marL="228600" indent="-228600">
              <a:spcBef>
                <a:spcPts val="1001"/>
              </a:spcBef>
              <a:buClr>
                <a:srgbClr val="000000"/>
              </a:buClr>
              <a:buFont typeface="Arial"/>
              <a:buChar char="•"/>
            </a:pPr>
            <a:r>
              <a:rPr lang="en-US" sz="2800" dirty="0" err="1">
                <a:latin typeface="Aptos"/>
              </a:rPr>
              <a:t>Нека</a:t>
            </a:r>
            <a:r>
              <a:rPr lang="en-US" sz="2800" dirty="0">
                <a:latin typeface="Aptos"/>
              </a:rPr>
              <a:t> </a:t>
            </a:r>
            <a:r>
              <a:rPr lang="en-US" sz="2800" dirty="0" err="1">
                <a:latin typeface="Aptos"/>
              </a:rPr>
              <a:t>решења</a:t>
            </a:r>
            <a:r>
              <a:rPr lang="en-US" sz="2800" dirty="0">
                <a:latin typeface="Aptos"/>
              </a:rPr>
              <a:t> </a:t>
            </a:r>
            <a:r>
              <a:rPr lang="en-US" sz="2800" dirty="0" err="1">
                <a:latin typeface="Aptos"/>
              </a:rPr>
              <a:t>се</a:t>
            </a:r>
            <a:r>
              <a:rPr lang="en-US" sz="2800" dirty="0">
                <a:latin typeface="Aptos"/>
              </a:rPr>
              <a:t> </a:t>
            </a:r>
            <a:r>
              <a:rPr lang="en-US" sz="2800" dirty="0" err="1">
                <a:latin typeface="Aptos"/>
              </a:rPr>
              <a:t>појачавају</a:t>
            </a:r>
            <a:r>
              <a:rPr lang="en-US" sz="2800" dirty="0">
                <a:latin typeface="Aptos"/>
              </a:rPr>
              <a:t>, </a:t>
            </a:r>
            <a:r>
              <a:rPr lang="en-US" sz="2800" dirty="0" err="1">
                <a:latin typeface="Aptos"/>
              </a:rPr>
              <a:t>друга</a:t>
            </a:r>
            <a:r>
              <a:rPr lang="en-US" sz="2800" dirty="0">
                <a:latin typeface="Aptos"/>
              </a:rPr>
              <a:t> </a:t>
            </a:r>
            <a:r>
              <a:rPr lang="en-US" sz="2800" dirty="0" err="1">
                <a:latin typeface="Aptos"/>
              </a:rPr>
              <a:t>поништавају</a:t>
            </a:r>
          </a:p>
          <a:p>
            <a:pPr marL="228600" indent="-228600">
              <a:spcBef>
                <a:spcPts val="1001"/>
              </a:spcBef>
              <a:buClr>
                <a:srgbClr val="000000"/>
              </a:buClr>
              <a:buFont typeface="Arial"/>
              <a:buChar char="•"/>
            </a:pPr>
            <a:r>
              <a:rPr lang="en-US" sz="2800" dirty="0" err="1">
                <a:latin typeface="Aptos"/>
              </a:rPr>
              <a:t>Мерењем</a:t>
            </a:r>
            <a:r>
              <a:rPr lang="en-US" sz="2800" dirty="0">
                <a:latin typeface="Aptos"/>
              </a:rPr>
              <a:t> </a:t>
            </a:r>
            <a:r>
              <a:rPr lang="en-US" sz="2800" dirty="0" err="1">
                <a:latin typeface="Aptos"/>
              </a:rPr>
              <a:t>се</a:t>
            </a:r>
            <a:r>
              <a:rPr lang="en-US" sz="2800" dirty="0">
                <a:latin typeface="Aptos"/>
              </a:rPr>
              <a:t> </a:t>
            </a:r>
            <a:r>
              <a:rPr lang="en-US" sz="2800" dirty="0" err="1">
                <a:latin typeface="Aptos"/>
              </a:rPr>
              <a:t>из</a:t>
            </a:r>
            <a:r>
              <a:rPr lang="en-US" sz="2800" dirty="0">
                <a:latin typeface="Aptos"/>
              </a:rPr>
              <a:t> </a:t>
            </a:r>
            <a:r>
              <a:rPr lang="en-US" sz="2800" dirty="0" err="1">
                <a:latin typeface="Aptos"/>
              </a:rPr>
              <a:t>кватног</a:t>
            </a:r>
            <a:r>
              <a:rPr lang="en-US" sz="2800" dirty="0">
                <a:latin typeface="Aptos"/>
              </a:rPr>
              <a:t> </a:t>
            </a:r>
            <a:r>
              <a:rPr lang="en-US" sz="2800" dirty="0" err="1">
                <a:latin typeface="Aptos"/>
              </a:rPr>
              <a:t>стања</a:t>
            </a:r>
            <a:r>
              <a:rPr lang="en-US" sz="2800" dirty="0">
                <a:latin typeface="Aptos"/>
              </a:rPr>
              <a:t> </a:t>
            </a:r>
            <a:r>
              <a:rPr lang="en-US" sz="2800" dirty="0" err="1">
                <a:latin typeface="Aptos"/>
              </a:rPr>
              <a:t>извлачи</a:t>
            </a:r>
            <a:r>
              <a:rPr lang="en-US" sz="2800" dirty="0">
                <a:latin typeface="Aptos"/>
              </a:rPr>
              <a:t> </a:t>
            </a:r>
            <a:r>
              <a:rPr lang="en-US" sz="2800" dirty="0" err="1">
                <a:latin typeface="Aptos"/>
              </a:rPr>
              <a:t>класичан</a:t>
            </a:r>
            <a:r>
              <a:rPr lang="en-US" sz="2800" dirty="0">
                <a:latin typeface="Aptos"/>
              </a:rPr>
              <a:t> </a:t>
            </a:r>
            <a:r>
              <a:rPr lang="en-US" sz="2800" dirty="0" err="1">
                <a:latin typeface="Aptos"/>
              </a:rPr>
              <a:t>резултат</a:t>
            </a:r>
          </a:p>
        </p:txBody>
      </p:sp>
      <p:sp>
        <p:nvSpPr>
          <p:cNvPr id="78" name="Rectangle 77">
            <a:extLst>
              <a:ext uri="{FF2B5EF4-FFF2-40B4-BE49-F238E27FC236}">
                <a16:creationId xmlns:a16="http://schemas.microsoft.com/office/drawing/2014/main" id="{16F1FB08-2305-8D1D-11ED-72E9C051591F}"/>
              </a:ext>
            </a:extLst>
          </p:cNvPr>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89999" tIns="45000" rIns="89999"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5</a:t>
            </a:fld>
            <a:r>
              <a:rPr lang="sr-Latn-RS" sz="2400">
                <a:solidFill>
                  <a:srgbClr val="000000"/>
                </a:solidFill>
                <a:latin typeface="Times New Roman"/>
              </a:rPr>
              <a:t>/12</a:t>
            </a:r>
            <a:endParaRPr lang="en-US"/>
          </a:p>
        </p:txBody>
      </p:sp>
    </p:spTree>
    <p:extLst>
      <p:ext uri="{BB962C8B-B14F-4D97-AF65-F5344CB8AC3E}">
        <p14:creationId xmlns:p14="http://schemas.microsoft.com/office/powerpoint/2010/main" val="404869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84E6F-ACBF-0CC2-7F35-114D80BEEAD2}"/>
            </a:ext>
          </a:extLst>
        </p:cNvPr>
        <p:cNvGrpSpPr/>
        <p:nvPr/>
      </p:nvGrpSpPr>
      <p:grpSpPr>
        <a:xfrm>
          <a:off x="0" y="0"/>
          <a:ext cx="0" cy="0"/>
          <a:chOff x="0" y="0"/>
          <a:chExt cx="0" cy="0"/>
        </a:xfrm>
      </p:grpSpPr>
      <p:sp>
        <p:nvSpPr>
          <p:cNvPr id="76" name="PlaceHolder 1">
            <a:extLst>
              <a:ext uri="{FF2B5EF4-FFF2-40B4-BE49-F238E27FC236}">
                <a16:creationId xmlns:a16="http://schemas.microsoft.com/office/drawing/2014/main" id="{6812E163-4A11-16F4-B9D5-3B7CDA29124A}"/>
              </a:ext>
            </a:extLst>
          </p:cNvPr>
          <p:cNvSpPr>
            <a:spLocks noGrp="1"/>
          </p:cNvSpPr>
          <p:nvPr>
            <p:ph type="title"/>
          </p:nvPr>
        </p:nvSpPr>
        <p:spPr>
          <a:xfrm>
            <a:off x="234231" y="365040"/>
            <a:ext cx="11736955" cy="1339177"/>
          </a:xfrm>
          <a:prstGeom prst="rect">
            <a:avLst/>
          </a:prstGeom>
          <a:noFill/>
          <a:ln w="0">
            <a:noFill/>
          </a:ln>
        </p:spPr>
        <p:txBody>
          <a:bodyPr lIns="91440" tIns="45720" rIns="91440" bIns="45720" anchor="ctr">
            <a:noAutofit/>
          </a:bodyPr>
          <a:lstStyle/>
          <a:p>
            <a:pPr algn="ctr"/>
            <a:r>
              <a:rPr lang="en-US" dirty="0" err="1"/>
              <a:t>Како</a:t>
            </a:r>
            <a:r>
              <a:rPr lang="en-US" dirty="0"/>
              <a:t> </a:t>
            </a:r>
            <a:r>
              <a:rPr lang="en-US" dirty="0" err="1"/>
              <a:t>се</a:t>
            </a:r>
            <a:r>
              <a:rPr lang="en-US" dirty="0"/>
              <a:t> MatMul </a:t>
            </a:r>
            <a:r>
              <a:rPr lang="en-US" dirty="0" err="1"/>
              <a:t>мапира</a:t>
            </a:r>
            <a:r>
              <a:rPr lang="en-US" dirty="0"/>
              <a:t> </a:t>
            </a:r>
            <a:r>
              <a:rPr lang="en-US" dirty="0" err="1"/>
              <a:t>на</a:t>
            </a:r>
            <a:r>
              <a:rPr lang="en-US" dirty="0"/>
              <a:t> </a:t>
            </a:r>
            <a:r>
              <a:rPr lang="en-US" dirty="0" err="1"/>
              <a:t>квантни</a:t>
            </a:r>
            <a:r>
              <a:rPr lang="en-US" dirty="0"/>
              <a:t> </a:t>
            </a:r>
            <a:r>
              <a:rPr lang="en-US" dirty="0" err="1"/>
              <a:t>модел</a:t>
            </a:r>
          </a:p>
        </p:txBody>
      </p:sp>
      <p:sp>
        <p:nvSpPr>
          <p:cNvPr id="77" name="PlaceHolder 2">
            <a:extLst>
              <a:ext uri="{FF2B5EF4-FFF2-40B4-BE49-F238E27FC236}">
                <a16:creationId xmlns:a16="http://schemas.microsoft.com/office/drawing/2014/main" id="{A139B440-34AB-A71C-7D6B-E91B9369950A}"/>
              </a:ext>
            </a:extLst>
          </p:cNvPr>
          <p:cNvSpPr>
            <a:spLocks noGrp="1"/>
          </p:cNvSpPr>
          <p:nvPr>
            <p:ph/>
          </p:nvPr>
        </p:nvSpPr>
        <p:spPr>
          <a:xfrm>
            <a:off x="838080" y="1825560"/>
            <a:ext cx="10514880" cy="4350600"/>
          </a:xfrm>
          <a:prstGeom prst="rect">
            <a:avLst/>
          </a:prstGeom>
          <a:noFill/>
          <a:ln w="0">
            <a:noFill/>
          </a:ln>
        </p:spPr>
        <p:txBody>
          <a:bodyPr lIns="91440" tIns="45720" rIns="91440" bIns="45720" anchor="t">
            <a:noAutofit/>
          </a:bodyPr>
          <a:lstStyle/>
          <a:p>
            <a:pPr marL="228600" indent="-228600">
              <a:spcBef>
                <a:spcPts val="1001"/>
              </a:spcBef>
              <a:buClr>
                <a:srgbClr val="000000"/>
              </a:buClr>
              <a:buFont typeface="Arial"/>
              <a:buChar char="•"/>
            </a:pPr>
            <a:r>
              <a:rPr lang="en-US" sz="2800" dirty="0" err="1">
                <a:latin typeface="Aptos"/>
              </a:rPr>
              <a:t>Кодирање</a:t>
            </a:r>
            <a:r>
              <a:rPr lang="en-US" sz="2800" dirty="0">
                <a:latin typeface="Aptos"/>
              </a:rPr>
              <a:t> </a:t>
            </a:r>
            <a:r>
              <a:rPr lang="en-US" sz="2800" dirty="0" err="1">
                <a:latin typeface="Aptos"/>
              </a:rPr>
              <a:t>матрица</a:t>
            </a:r>
            <a:r>
              <a:rPr lang="en-US" sz="2800" dirty="0">
                <a:latin typeface="Aptos"/>
              </a:rPr>
              <a:t> у </a:t>
            </a:r>
            <a:r>
              <a:rPr lang="en-US" sz="2800" dirty="0" err="1">
                <a:latin typeface="Aptos"/>
              </a:rPr>
              <a:t>квантна</a:t>
            </a:r>
            <a:r>
              <a:rPr lang="en-US" sz="2800" dirty="0">
                <a:latin typeface="Aptos"/>
              </a:rPr>
              <a:t> </a:t>
            </a:r>
            <a:r>
              <a:rPr lang="en-US" sz="2800" dirty="0" err="1">
                <a:latin typeface="Aptos"/>
              </a:rPr>
              <a:t>стања</a:t>
            </a:r>
            <a:endParaRPr lang="en-US" sz="2800" dirty="0">
              <a:latin typeface="Aptos"/>
            </a:endParaRPr>
          </a:p>
          <a:p>
            <a:pPr marL="228600" indent="-228600">
              <a:spcBef>
                <a:spcPts val="1001"/>
              </a:spcBef>
              <a:buClr>
                <a:srgbClr val="000000"/>
              </a:buClr>
              <a:buFont typeface="Arial"/>
              <a:buChar char="•"/>
            </a:pPr>
            <a:r>
              <a:rPr lang="en-US" sz="2800" dirty="0">
                <a:latin typeface="Aptos"/>
              </a:rPr>
              <a:t>Линеарне </a:t>
            </a:r>
            <a:r>
              <a:rPr lang="en-US" sz="2800" dirty="0" err="1">
                <a:latin typeface="Aptos"/>
              </a:rPr>
              <a:t>операције</a:t>
            </a:r>
            <a:r>
              <a:rPr lang="en-US" sz="2800" dirty="0">
                <a:latin typeface="Aptos"/>
              </a:rPr>
              <a:t> -&gt; </a:t>
            </a:r>
            <a:r>
              <a:rPr lang="en-US" sz="2800" dirty="0" err="1">
                <a:latin typeface="Aptos"/>
              </a:rPr>
              <a:t>квантне</a:t>
            </a:r>
            <a:r>
              <a:rPr lang="en-US" sz="2800" dirty="0">
                <a:latin typeface="Aptos"/>
              </a:rPr>
              <a:t> </a:t>
            </a:r>
            <a:r>
              <a:rPr lang="en-US" sz="2800" dirty="0" err="1">
                <a:latin typeface="Aptos"/>
              </a:rPr>
              <a:t>трансформације</a:t>
            </a:r>
          </a:p>
          <a:p>
            <a:pPr marL="228600" indent="-228600">
              <a:spcBef>
                <a:spcPts val="1001"/>
              </a:spcBef>
              <a:buClr>
                <a:srgbClr val="000000"/>
              </a:buClr>
              <a:buFont typeface="Arial"/>
              <a:buChar char="•"/>
            </a:pPr>
            <a:r>
              <a:rPr lang="en-US" sz="2800" dirty="0">
                <a:latin typeface="Aptos"/>
              </a:rPr>
              <a:t>HHL </a:t>
            </a:r>
            <a:r>
              <a:rPr lang="en-US" sz="2800" dirty="0" err="1">
                <a:latin typeface="Aptos"/>
              </a:rPr>
              <a:t>алгоритам</a:t>
            </a:r>
            <a:r>
              <a:rPr lang="en-US" sz="2800" dirty="0">
                <a:latin typeface="Aptos"/>
              </a:rPr>
              <a:t> </a:t>
            </a:r>
            <a:r>
              <a:rPr lang="en-US" sz="2800" dirty="0" err="1">
                <a:latin typeface="Aptos"/>
              </a:rPr>
              <a:t>решава</a:t>
            </a:r>
            <a:r>
              <a:rPr lang="en-US" sz="2800" dirty="0">
                <a:latin typeface="Aptos"/>
              </a:rPr>
              <a:t> </a:t>
            </a:r>
            <a:r>
              <a:rPr lang="en-US" sz="2800" dirty="0" err="1">
                <a:latin typeface="Aptos"/>
              </a:rPr>
              <a:t>линеарне</a:t>
            </a:r>
            <a:r>
              <a:rPr lang="en-US" sz="2800" dirty="0">
                <a:latin typeface="Aptos"/>
              </a:rPr>
              <a:t> </a:t>
            </a:r>
            <a:r>
              <a:rPr lang="en-US" sz="2800" dirty="0" err="1">
                <a:latin typeface="Aptos"/>
              </a:rPr>
              <a:t>системе</a:t>
            </a:r>
            <a:r>
              <a:rPr lang="en-US" sz="2800" dirty="0">
                <a:latin typeface="Aptos"/>
              </a:rPr>
              <a:t> </a:t>
            </a:r>
            <a:r>
              <a:rPr lang="en-US" sz="2800" dirty="0" err="1">
                <a:latin typeface="Aptos"/>
              </a:rPr>
              <a:t>типа</a:t>
            </a:r>
            <a:r>
              <a:rPr lang="en-US" sz="2800" dirty="0">
                <a:latin typeface="Aptos"/>
              </a:rPr>
              <a:t> A * x = b</a:t>
            </a:r>
          </a:p>
          <a:p>
            <a:pPr marL="228600" indent="-228600">
              <a:spcBef>
                <a:spcPts val="1001"/>
              </a:spcBef>
              <a:buClr>
                <a:srgbClr val="000000"/>
              </a:buClr>
              <a:buFont typeface="Arial"/>
              <a:buChar char="•"/>
            </a:pPr>
            <a:r>
              <a:rPr lang="en-US" sz="2800" dirty="0">
                <a:latin typeface="Aptos"/>
              </a:rPr>
              <a:t>QSVT - </a:t>
            </a:r>
            <a:r>
              <a:rPr lang="en-US" sz="2800" dirty="0" err="1">
                <a:latin typeface="Aptos"/>
              </a:rPr>
              <a:t>општи</a:t>
            </a:r>
            <a:r>
              <a:rPr lang="en-US" sz="2800" dirty="0">
                <a:latin typeface="Aptos"/>
              </a:rPr>
              <a:t> </a:t>
            </a:r>
            <a:r>
              <a:rPr lang="en-US" sz="2800" dirty="0" err="1">
                <a:latin typeface="Aptos"/>
              </a:rPr>
              <a:t>оквир</a:t>
            </a:r>
            <a:r>
              <a:rPr lang="en-US" sz="2800" dirty="0">
                <a:latin typeface="Aptos"/>
              </a:rPr>
              <a:t> </a:t>
            </a:r>
            <a:r>
              <a:rPr lang="en-US" sz="2800" dirty="0" err="1">
                <a:latin typeface="Aptos"/>
              </a:rPr>
              <a:t>који</a:t>
            </a:r>
            <a:r>
              <a:rPr lang="en-US" sz="2800" dirty="0">
                <a:latin typeface="Aptos"/>
              </a:rPr>
              <a:t> </a:t>
            </a:r>
            <a:r>
              <a:rPr lang="en-US" sz="2800" dirty="0" err="1">
                <a:latin typeface="Aptos"/>
              </a:rPr>
              <a:t>омогућава</a:t>
            </a:r>
            <a:r>
              <a:rPr lang="en-US" sz="2800" dirty="0">
                <a:latin typeface="Aptos"/>
              </a:rPr>
              <a:t> </a:t>
            </a:r>
            <a:r>
              <a:rPr lang="en-US" sz="2800" dirty="0" err="1">
                <a:latin typeface="Aptos"/>
              </a:rPr>
              <a:t>ефикасне</a:t>
            </a:r>
            <a:r>
              <a:rPr lang="en-US" sz="2800" dirty="0">
                <a:latin typeface="Aptos"/>
              </a:rPr>
              <a:t> </a:t>
            </a:r>
            <a:r>
              <a:rPr lang="en-US" sz="2800" dirty="0" err="1">
                <a:latin typeface="Aptos"/>
              </a:rPr>
              <a:t>операције</a:t>
            </a:r>
          </a:p>
          <a:p>
            <a:pPr marL="228600" indent="-228600">
              <a:spcBef>
                <a:spcPts val="1001"/>
              </a:spcBef>
              <a:buClr>
                <a:srgbClr val="000000"/>
              </a:buClr>
              <a:buFont typeface="Arial"/>
              <a:buChar char="•"/>
            </a:pPr>
            <a:endParaRPr lang="en-US" sz="2800" dirty="0">
              <a:latin typeface="Aptos"/>
            </a:endParaRPr>
          </a:p>
        </p:txBody>
      </p:sp>
      <p:sp>
        <p:nvSpPr>
          <p:cNvPr id="78" name="Rectangle 77">
            <a:extLst>
              <a:ext uri="{FF2B5EF4-FFF2-40B4-BE49-F238E27FC236}">
                <a16:creationId xmlns:a16="http://schemas.microsoft.com/office/drawing/2014/main" id="{2A227ACB-5ADC-24F8-05EF-5455E2921A33}"/>
              </a:ext>
            </a:extLst>
          </p:cNvPr>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89999" tIns="45000" rIns="89999"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6</a:t>
            </a:fld>
            <a:r>
              <a:rPr lang="sr-Latn-RS" sz="2400">
                <a:solidFill>
                  <a:srgbClr val="000000"/>
                </a:solidFill>
                <a:latin typeface="Times New Roman"/>
              </a:rPr>
              <a:t>/12</a:t>
            </a:r>
            <a:endParaRPr lang="en-US"/>
          </a:p>
        </p:txBody>
      </p:sp>
    </p:spTree>
    <p:extLst>
      <p:ext uri="{BB962C8B-B14F-4D97-AF65-F5344CB8AC3E}">
        <p14:creationId xmlns:p14="http://schemas.microsoft.com/office/powerpoint/2010/main" val="995873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35BE7-FE26-9CED-F36D-BEAD21C8EB46}"/>
            </a:ext>
          </a:extLst>
        </p:cNvPr>
        <p:cNvGrpSpPr/>
        <p:nvPr/>
      </p:nvGrpSpPr>
      <p:grpSpPr>
        <a:xfrm>
          <a:off x="0" y="0"/>
          <a:ext cx="0" cy="0"/>
          <a:chOff x="0" y="0"/>
          <a:chExt cx="0" cy="0"/>
        </a:xfrm>
      </p:grpSpPr>
      <p:sp>
        <p:nvSpPr>
          <p:cNvPr id="76" name="PlaceHolder 1">
            <a:extLst>
              <a:ext uri="{FF2B5EF4-FFF2-40B4-BE49-F238E27FC236}">
                <a16:creationId xmlns:a16="http://schemas.microsoft.com/office/drawing/2014/main" id="{AE6422A5-0A33-91E5-483F-1EA1ED0FD3B3}"/>
              </a:ext>
            </a:extLst>
          </p:cNvPr>
          <p:cNvSpPr>
            <a:spLocks noGrp="1"/>
          </p:cNvSpPr>
          <p:nvPr>
            <p:ph type="title"/>
          </p:nvPr>
        </p:nvSpPr>
        <p:spPr>
          <a:xfrm>
            <a:off x="234231" y="365040"/>
            <a:ext cx="11736955" cy="1339177"/>
          </a:xfrm>
          <a:prstGeom prst="rect">
            <a:avLst/>
          </a:prstGeom>
          <a:noFill/>
          <a:ln w="0">
            <a:noFill/>
          </a:ln>
        </p:spPr>
        <p:txBody>
          <a:bodyPr lIns="91440" tIns="45720" rIns="91440" bIns="45720" anchor="ctr">
            <a:noAutofit/>
          </a:bodyPr>
          <a:lstStyle/>
          <a:p>
            <a:pPr algn="ctr"/>
            <a:r>
              <a:rPr lang="en-US" dirty="0" err="1"/>
              <a:t>Ограничења</a:t>
            </a:r>
            <a:r>
              <a:rPr lang="en-US" dirty="0"/>
              <a:t> и </a:t>
            </a:r>
            <a:r>
              <a:rPr lang="en-US" dirty="0" err="1"/>
              <a:t>реална</a:t>
            </a:r>
            <a:r>
              <a:rPr lang="en-US" dirty="0"/>
              <a:t> </a:t>
            </a:r>
            <a:r>
              <a:rPr lang="en-US" dirty="0" err="1"/>
              <a:t>слика</a:t>
            </a:r>
          </a:p>
        </p:txBody>
      </p:sp>
      <p:sp>
        <p:nvSpPr>
          <p:cNvPr id="77" name="PlaceHolder 2">
            <a:extLst>
              <a:ext uri="{FF2B5EF4-FFF2-40B4-BE49-F238E27FC236}">
                <a16:creationId xmlns:a16="http://schemas.microsoft.com/office/drawing/2014/main" id="{6618608E-5BA9-0D1E-044B-554395823DCC}"/>
              </a:ext>
            </a:extLst>
          </p:cNvPr>
          <p:cNvSpPr>
            <a:spLocks noGrp="1"/>
          </p:cNvSpPr>
          <p:nvPr>
            <p:ph/>
          </p:nvPr>
        </p:nvSpPr>
        <p:spPr>
          <a:xfrm>
            <a:off x="838080" y="1763777"/>
            <a:ext cx="11081231" cy="4474166"/>
          </a:xfrm>
          <a:prstGeom prst="rect">
            <a:avLst/>
          </a:prstGeom>
          <a:noFill/>
          <a:ln w="0">
            <a:noFill/>
          </a:ln>
        </p:spPr>
        <p:txBody>
          <a:bodyPr lIns="91440" tIns="45720" rIns="91440" bIns="45720" anchor="t">
            <a:noAutofit/>
          </a:bodyPr>
          <a:lstStyle/>
          <a:p>
            <a:pPr marL="228600" indent="-228600">
              <a:spcBef>
                <a:spcPts val="1001"/>
              </a:spcBef>
              <a:buClr>
                <a:srgbClr val="000000"/>
              </a:buClr>
              <a:buFont typeface="Arial"/>
              <a:buChar char="•"/>
            </a:pPr>
            <a:r>
              <a:rPr lang="en-US" sz="2800" dirty="0">
                <a:latin typeface="Aptos"/>
              </a:rPr>
              <a:t>Скупо </a:t>
            </a:r>
            <a:r>
              <a:rPr lang="en-US" sz="2800" dirty="0" err="1">
                <a:latin typeface="Aptos"/>
              </a:rPr>
              <a:t>учитавање</a:t>
            </a:r>
            <a:r>
              <a:rPr lang="en-US" sz="2800" dirty="0">
                <a:latin typeface="Aptos"/>
              </a:rPr>
              <a:t> </a:t>
            </a:r>
            <a:r>
              <a:rPr lang="en-US" sz="2800" dirty="0" err="1">
                <a:latin typeface="Aptos"/>
              </a:rPr>
              <a:t>података</a:t>
            </a:r>
            <a:r>
              <a:rPr lang="en-US" sz="2800" dirty="0">
                <a:latin typeface="Aptos"/>
              </a:rPr>
              <a:t> у </a:t>
            </a:r>
            <a:r>
              <a:rPr lang="en-US" sz="2800" dirty="0" err="1">
                <a:latin typeface="Aptos"/>
              </a:rPr>
              <a:t>квантни</a:t>
            </a:r>
            <a:r>
              <a:rPr lang="en-US" sz="2800" dirty="0">
                <a:latin typeface="Aptos"/>
              </a:rPr>
              <a:t> </a:t>
            </a:r>
            <a:r>
              <a:rPr lang="en-US" sz="2800" dirty="0" err="1">
                <a:latin typeface="Aptos"/>
              </a:rPr>
              <a:t>рачунар</a:t>
            </a:r>
            <a:r>
              <a:rPr lang="en-US" sz="2800" dirty="0">
                <a:latin typeface="Aptos"/>
              </a:rPr>
              <a:t>​</a:t>
            </a:r>
          </a:p>
          <a:p>
            <a:pPr marL="228600" indent="-228600">
              <a:spcBef>
                <a:spcPts val="1001"/>
              </a:spcBef>
              <a:buClr>
                <a:srgbClr val="000000"/>
              </a:buClr>
              <a:buFont typeface="Arial"/>
              <a:buChar char="•"/>
            </a:pPr>
            <a:r>
              <a:rPr lang="en-US" sz="2800" dirty="0">
                <a:latin typeface="Aptos"/>
              </a:rPr>
              <a:t>Убрзање </a:t>
            </a:r>
            <a:r>
              <a:rPr lang="en-US" sz="2800" dirty="0" err="1">
                <a:latin typeface="Aptos"/>
              </a:rPr>
              <a:t>не</a:t>
            </a:r>
            <a:r>
              <a:rPr lang="en-US" sz="2800" dirty="0">
                <a:latin typeface="Aptos"/>
              </a:rPr>
              <a:t> </a:t>
            </a:r>
            <a:r>
              <a:rPr lang="en-US" sz="2800" dirty="0" err="1">
                <a:latin typeface="Aptos"/>
              </a:rPr>
              <a:t>важи</a:t>
            </a:r>
            <a:r>
              <a:rPr lang="en-US" sz="2800" dirty="0">
                <a:latin typeface="Aptos"/>
              </a:rPr>
              <a:t> </a:t>
            </a:r>
            <a:r>
              <a:rPr lang="en-US" sz="2800" dirty="0" err="1">
                <a:latin typeface="Aptos"/>
              </a:rPr>
              <a:t>за</a:t>
            </a:r>
            <a:r>
              <a:rPr lang="en-US" sz="2800" dirty="0">
                <a:latin typeface="Aptos"/>
              </a:rPr>
              <a:t> </a:t>
            </a:r>
            <a:r>
              <a:rPr lang="en-US" sz="2800" dirty="0" err="1">
                <a:latin typeface="Aptos"/>
              </a:rPr>
              <a:t>све</a:t>
            </a:r>
            <a:r>
              <a:rPr lang="en-US" sz="2800" dirty="0">
                <a:latin typeface="Aptos"/>
              </a:rPr>
              <a:t> </a:t>
            </a:r>
            <a:r>
              <a:rPr lang="en-US" sz="2800" dirty="0" err="1">
                <a:latin typeface="Aptos"/>
              </a:rPr>
              <a:t>случајеве</a:t>
            </a:r>
            <a:r>
              <a:rPr lang="en-US" sz="2800" dirty="0">
                <a:latin typeface="Aptos"/>
              </a:rPr>
              <a:t> MatMul-а </a:t>
            </a:r>
          </a:p>
          <a:p>
            <a:pPr marL="228600" indent="-228600">
              <a:spcBef>
                <a:spcPts val="1001"/>
              </a:spcBef>
              <a:buClr>
                <a:srgbClr val="000000"/>
              </a:buClr>
              <a:buFont typeface="Arial"/>
              <a:buChar char="•"/>
            </a:pPr>
            <a:r>
              <a:rPr lang="en-US" sz="2800" dirty="0">
                <a:latin typeface="Aptos"/>
              </a:rPr>
              <a:t>Данашњи </a:t>
            </a:r>
            <a:r>
              <a:rPr lang="en-US" sz="2800" dirty="0" err="1">
                <a:latin typeface="Aptos"/>
              </a:rPr>
              <a:t>квантни</a:t>
            </a:r>
            <a:r>
              <a:rPr lang="en-US" sz="2800" dirty="0">
                <a:latin typeface="Aptos"/>
              </a:rPr>
              <a:t> </a:t>
            </a:r>
            <a:r>
              <a:rPr lang="en-US" sz="2800" dirty="0" err="1">
                <a:latin typeface="Aptos"/>
              </a:rPr>
              <a:t>рачунари</a:t>
            </a:r>
            <a:r>
              <a:rPr lang="en-US" sz="2800" dirty="0">
                <a:latin typeface="Aptos"/>
              </a:rPr>
              <a:t> </a:t>
            </a:r>
            <a:r>
              <a:rPr lang="en-US" sz="2800" dirty="0" err="1">
                <a:latin typeface="Aptos"/>
              </a:rPr>
              <a:t>имају</a:t>
            </a:r>
            <a:r>
              <a:rPr lang="en-US" sz="2800" dirty="0">
                <a:latin typeface="Aptos"/>
              </a:rPr>
              <a:t> </a:t>
            </a:r>
            <a:r>
              <a:rPr lang="en-US" sz="2800" dirty="0" err="1">
                <a:latin typeface="Aptos"/>
              </a:rPr>
              <a:t>доста</a:t>
            </a:r>
            <a:r>
              <a:rPr lang="en-US" sz="2800" dirty="0">
                <a:latin typeface="Aptos"/>
              </a:rPr>
              <a:t> </a:t>
            </a:r>
            <a:r>
              <a:rPr lang="en-US" sz="2800" dirty="0" err="1">
                <a:latin typeface="Aptos"/>
              </a:rPr>
              <a:t>грешака</a:t>
            </a:r>
            <a:r>
              <a:rPr lang="en-US" sz="2800" dirty="0">
                <a:latin typeface="Aptos"/>
              </a:rPr>
              <a:t> у </a:t>
            </a:r>
            <a:r>
              <a:rPr lang="en-US" sz="2800" dirty="0" err="1">
                <a:latin typeface="Aptos"/>
              </a:rPr>
              <a:t>раду</a:t>
            </a:r>
          </a:p>
          <a:p>
            <a:pPr marL="228600" indent="-228600">
              <a:spcBef>
                <a:spcPts val="1001"/>
              </a:spcBef>
              <a:buClr>
                <a:srgbClr val="000000"/>
              </a:buClr>
              <a:buFont typeface="Arial"/>
              <a:buChar char="•"/>
            </a:pPr>
            <a:r>
              <a:rPr lang="en-US" sz="2800" dirty="0">
                <a:latin typeface="Aptos"/>
              </a:rPr>
              <a:t>Qubit-и </a:t>
            </a:r>
            <a:r>
              <a:rPr lang="en-US" sz="2800" dirty="0" err="1">
                <a:latin typeface="Aptos"/>
              </a:rPr>
              <a:t>брзо</a:t>
            </a:r>
            <a:r>
              <a:rPr lang="en-US" sz="2800" dirty="0">
                <a:latin typeface="Aptos"/>
              </a:rPr>
              <a:t> </a:t>
            </a:r>
            <a:r>
              <a:rPr lang="en-US" sz="2800" dirty="0" err="1">
                <a:latin typeface="Aptos"/>
              </a:rPr>
              <a:t>губе</a:t>
            </a:r>
            <a:r>
              <a:rPr lang="en-US" sz="2800" dirty="0">
                <a:latin typeface="Aptos"/>
              </a:rPr>
              <a:t> </a:t>
            </a:r>
            <a:r>
              <a:rPr lang="en-US" sz="2800" dirty="0" err="1">
                <a:latin typeface="Aptos"/>
              </a:rPr>
              <a:t>стабилнос</a:t>
            </a:r>
            <a:r>
              <a:rPr lang="en-US" sz="2800" dirty="0">
                <a:latin typeface="Aptos"/>
              </a:rPr>
              <a:t>т</a:t>
            </a:r>
          </a:p>
          <a:p>
            <a:pPr marL="228600" indent="-228600">
              <a:spcBef>
                <a:spcPts val="1001"/>
              </a:spcBef>
              <a:buClr>
                <a:srgbClr val="000000"/>
              </a:buClr>
              <a:buFont typeface="Arial"/>
              <a:buChar char="•"/>
            </a:pPr>
            <a:r>
              <a:rPr lang="en-US" sz="2800" dirty="0">
                <a:latin typeface="Aptos"/>
              </a:rPr>
              <a:t>Још </a:t>
            </a:r>
            <a:r>
              <a:rPr lang="en-US" sz="2800" dirty="0" err="1">
                <a:latin typeface="Aptos"/>
              </a:rPr>
              <a:t>увек</a:t>
            </a:r>
            <a:r>
              <a:rPr lang="en-US" sz="2800" dirty="0">
                <a:latin typeface="Aptos"/>
              </a:rPr>
              <a:t> </a:t>
            </a:r>
            <a:r>
              <a:rPr lang="en-US" sz="2800" dirty="0" err="1">
                <a:latin typeface="Aptos"/>
              </a:rPr>
              <a:t>немају</a:t>
            </a:r>
            <a:r>
              <a:rPr lang="en-US" sz="2800" dirty="0">
                <a:latin typeface="Aptos"/>
              </a:rPr>
              <a:t> </a:t>
            </a:r>
            <a:r>
              <a:rPr lang="en-US" sz="2800" dirty="0" err="1">
                <a:latin typeface="Aptos"/>
              </a:rPr>
              <a:t>практичну</a:t>
            </a:r>
            <a:r>
              <a:rPr lang="en-US" sz="2800" dirty="0">
                <a:latin typeface="Aptos"/>
              </a:rPr>
              <a:t> </a:t>
            </a:r>
            <a:r>
              <a:rPr lang="en-US" sz="2800" dirty="0" err="1">
                <a:latin typeface="Aptos"/>
              </a:rPr>
              <a:t>предност</a:t>
            </a:r>
            <a:r>
              <a:rPr lang="en-US" sz="2800" dirty="0">
                <a:latin typeface="Aptos"/>
              </a:rPr>
              <a:t> </a:t>
            </a:r>
            <a:r>
              <a:rPr lang="en-US" sz="2800" dirty="0" err="1">
                <a:latin typeface="Aptos"/>
              </a:rPr>
              <a:t>над</a:t>
            </a:r>
            <a:r>
              <a:rPr lang="en-US" sz="2800" dirty="0">
                <a:latin typeface="Aptos"/>
              </a:rPr>
              <a:t> </a:t>
            </a:r>
            <a:r>
              <a:rPr lang="en-US" sz="2800" dirty="0" err="1">
                <a:latin typeface="Aptos"/>
              </a:rPr>
              <a:t>класичним</a:t>
            </a:r>
            <a:r>
              <a:rPr lang="en-US" sz="2800" dirty="0">
                <a:latin typeface="Aptos"/>
              </a:rPr>
              <a:t> </a:t>
            </a:r>
            <a:r>
              <a:rPr lang="en-US" sz="2800" dirty="0" err="1">
                <a:latin typeface="Aptos"/>
              </a:rPr>
              <a:t>рачунарима</a:t>
            </a:r>
          </a:p>
          <a:p>
            <a:pPr marL="228600" indent="-228600">
              <a:spcBef>
                <a:spcPts val="1001"/>
              </a:spcBef>
              <a:buClr>
                <a:srgbClr val="000000"/>
              </a:buClr>
              <a:buFont typeface="Arial"/>
              <a:buChar char="•"/>
            </a:pPr>
            <a:endParaRPr lang="en-US" sz="2800" dirty="0">
              <a:latin typeface="Aptos"/>
            </a:endParaRPr>
          </a:p>
        </p:txBody>
      </p:sp>
      <p:sp>
        <p:nvSpPr>
          <p:cNvPr id="78" name="Rectangle 77">
            <a:extLst>
              <a:ext uri="{FF2B5EF4-FFF2-40B4-BE49-F238E27FC236}">
                <a16:creationId xmlns:a16="http://schemas.microsoft.com/office/drawing/2014/main" id="{817D4D8D-4A77-2C57-90D7-B4A41C373BC5}"/>
              </a:ext>
            </a:extLst>
          </p:cNvPr>
          <p:cNvSpPr/>
          <p:nvPr/>
        </p:nvSpPr>
        <p:spPr>
          <a:xfrm>
            <a:off x="10152000" y="6053040"/>
            <a:ext cx="728382" cy="460211"/>
          </a:xfrm>
          <a:prstGeom prst="rect">
            <a:avLst/>
          </a:prstGeom>
          <a:noFill/>
          <a:ln w="0">
            <a:noFill/>
          </a:ln>
        </p:spPr>
        <p:style>
          <a:lnRef idx="0">
            <a:scrgbClr r="0" g="0" b="0"/>
          </a:lnRef>
          <a:fillRef idx="0">
            <a:scrgbClr r="0" g="0" b="0"/>
          </a:fillRef>
          <a:effectRef idx="0">
            <a:scrgbClr r="0" g="0" b="0"/>
          </a:effectRef>
          <a:fontRef idx="minor"/>
        </p:style>
        <p:txBody>
          <a:bodyPr wrap="none" lIns="89999" tIns="45000" rIns="89999" bIns="45000" anchor="t">
            <a:spAutoFit/>
          </a:bodyPr>
          <a:lstStyle/>
          <a:p>
            <a:pPr>
              <a:lnSpc>
                <a:spcPct val="100000"/>
              </a:lnSpc>
            </a:pPr>
            <a:fld id="{CFF8C77F-7CFF-4F70-A434-56D2B3B8465F}" type="slidenum">
              <a:rPr lang="sr-Latn-RS" sz="2400" b="0" u="none" strike="noStrike">
                <a:solidFill>
                  <a:srgbClr val="000000"/>
                </a:solidFill>
                <a:effectLst/>
                <a:uFillTx/>
                <a:latin typeface="Times New Roman"/>
              </a:rPr>
              <a:t>7</a:t>
            </a:fld>
            <a:r>
              <a:rPr lang="sr-Latn-RS" sz="2400">
                <a:solidFill>
                  <a:srgbClr val="000000"/>
                </a:solidFill>
                <a:latin typeface="Times New Roman"/>
              </a:rPr>
              <a:t>/12</a:t>
            </a:r>
            <a:endParaRPr lang="en-US"/>
          </a:p>
        </p:txBody>
      </p:sp>
    </p:spTree>
    <p:extLst>
      <p:ext uri="{BB962C8B-B14F-4D97-AF65-F5344CB8AC3E}">
        <p14:creationId xmlns:p14="http://schemas.microsoft.com/office/powerpoint/2010/main" val="2905105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04" name="Rectangle 13">
            <a:extLst>
              <a:ext uri="{C183D7F6-B498-43B3-948B-1728B52AA6E4}">
                <adec:decorative xmlns:adec="http://schemas.microsoft.com/office/drawing/2017/decorative" val="1"/>
              </a:ext>
            </a:extLst>
          </p:cNvPr>
          <p:cNvSpPr/>
          <p:nvPr/>
        </p:nvSpPr>
        <p:spPr>
          <a:xfrm>
            <a:off x="0" y="0"/>
            <a:ext cx="1218816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pic>
        <p:nvPicPr>
          <p:cNvPr id="105" name="Picture 8" descr="A person in a suit&#10;&#10;AI-generated content may be incorrect."/>
          <p:cNvPicPr/>
          <p:nvPr/>
        </p:nvPicPr>
        <p:blipFill>
          <a:blip r:embed="rId2"/>
          <a:srcRect t="13418" b="13418"/>
          <a:stretch/>
        </p:blipFill>
        <p:spPr>
          <a:xfrm>
            <a:off x="2522520" y="0"/>
            <a:ext cx="9668880" cy="6857280"/>
          </a:xfrm>
          <a:prstGeom prst="rect">
            <a:avLst/>
          </a:prstGeom>
          <a:noFill/>
          <a:ln w="0">
            <a:noFill/>
          </a:ln>
        </p:spPr>
      </p:pic>
      <p:sp>
        <p:nvSpPr>
          <p:cNvPr id="106" name="Rectangle 15">
            <a:extLst>
              <a:ext uri="{C183D7F6-B498-43B3-948B-1728B52AA6E4}">
                <adec:decorative xmlns:adec="http://schemas.microsoft.com/office/drawing/2017/decorative" val="1"/>
              </a:ext>
            </a:extLst>
          </p:cNvPr>
          <p:cNvSpPr/>
          <p:nvPr/>
        </p:nvSpPr>
        <p:spPr>
          <a:xfrm>
            <a:off x="0" y="0"/>
            <a:ext cx="7066080" cy="6857280"/>
          </a:xfrm>
          <a:prstGeom prst="rect">
            <a:avLst/>
          </a:prstGeom>
          <a:gradFill rotWithShape="0">
            <a:gsLst>
              <a:gs pos="0">
                <a:srgbClr val="FFFFFF">
                  <a:alpha val="0"/>
                </a:srgbClr>
              </a:gs>
              <a:gs pos="19000">
                <a:srgbClr val="FFFFFF">
                  <a:alpha val="38000"/>
                </a:srgbClr>
              </a:gs>
              <a:gs pos="35000">
                <a:srgbClr val="FFFFFF">
                  <a:alpha val="77000"/>
                </a:srgbClr>
              </a:gs>
              <a:gs pos="48000">
                <a:srgbClr val="FFFFFF"/>
              </a:gs>
              <a:gs pos="100000">
                <a:srgbClr val="FFFFFF"/>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107" name="PlaceHolder 1"/>
          <p:cNvSpPr>
            <a:spLocks noGrp="1"/>
          </p:cNvSpPr>
          <p:nvPr>
            <p:ph type="title"/>
          </p:nvPr>
        </p:nvSpPr>
        <p:spPr>
          <a:xfrm>
            <a:off x="772200" y="506605"/>
            <a:ext cx="4137477" cy="4353035"/>
          </a:xfrm>
          <a:prstGeom prst="rect">
            <a:avLst/>
          </a:prstGeom>
          <a:noFill/>
          <a:ln w="0">
            <a:noFill/>
          </a:ln>
        </p:spPr>
        <p:txBody>
          <a:bodyPr lIns="91440" tIns="45720" rIns="91440" bIns="45720" anchor="b">
            <a:normAutofit fontScale="90000"/>
          </a:bodyPr>
          <a:lstStyle/>
          <a:p>
            <a:pPr algn="l"/>
            <a:r>
              <a:rPr lang="en-US" sz="2800" i="1"/>
              <a:t>"Quantum computing is not only faster than conventional computing, but it enables the simulation of nature. Today we have an urgent need to solve problems that would tie up classical computers for centuries, but that could be solved by a quantum computer in a few minutes or hours."</a:t>
            </a:r>
            <a:br>
              <a:rPr lang="en-US" sz="2800" i="1" dirty="0"/>
            </a:br>
            <a:br>
              <a:rPr lang="en-US" sz="2800" i="1" dirty="0"/>
            </a:br>
            <a:r>
              <a:rPr lang="en-US" sz="2800"/>
              <a:t>Satya Nadella, Microsoft CEO</a:t>
            </a:r>
            <a:endParaRPr lang="en-US" dirty="0"/>
          </a:p>
        </p:txBody>
      </p:sp>
      <p:sp>
        <p:nvSpPr>
          <p:cNvPr id="108" name="TextBox 6"/>
          <p:cNvSpPr/>
          <p:nvPr/>
        </p:nvSpPr>
        <p:spPr>
          <a:xfrm>
            <a:off x="3047040" y="3246840"/>
            <a:ext cx="6093720" cy="36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sr-Latn-RS" sz="1800" b="0" u="none" strike="noStrike">
              <a:solidFill>
                <a:schemeClr val="dk1"/>
              </a:solidFill>
              <a:effectLst/>
              <a:uFillTx/>
              <a:latin typeface="Aptos"/>
            </a:endParaRPr>
          </a:p>
        </p:txBody>
      </p:sp>
      <p:sp>
        <p:nvSpPr>
          <p:cNvPr id="109" name="Rectangle 108"/>
          <p:cNvSpPr/>
          <p:nvPr/>
        </p:nvSpPr>
        <p:spPr>
          <a:xfrm>
            <a:off x="10152000" y="6053040"/>
            <a:ext cx="88227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fld id="{1CAEAE6D-6BF6-4E26-BB35-449EF0216C91}" type="slidenum">
              <a:rPr lang="sr-Latn-RS" sz="2400" b="0" u="none" strike="noStrike">
                <a:solidFill>
                  <a:srgbClr val="000000"/>
                </a:solidFill>
                <a:effectLst/>
                <a:uFillTx/>
                <a:latin typeface="Times New Roman"/>
              </a:rPr>
              <a:t>8</a:t>
            </a:fld>
            <a:r>
              <a:rPr lang="sr-Latn-RS" sz="2400">
                <a:solidFill>
                  <a:srgbClr val="000000"/>
                </a:solidFill>
                <a:latin typeface="Times New Roman"/>
              </a:rPr>
              <a:t>/12</a:t>
            </a:r>
            <a:endParaRPr lang="sr-Latn-RS" sz="2400" b="0" u="none" strike="noStrike">
              <a:solidFill>
                <a:srgbClr val="000000"/>
              </a:solidFill>
              <a:effectLst/>
              <a:uFillTx/>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523880" y="719640"/>
            <a:ext cx="9143280" cy="2387520"/>
          </a:xfrm>
          <a:prstGeom prst="rect">
            <a:avLst/>
          </a:prstGeom>
          <a:noFill/>
          <a:ln w="0">
            <a:noFill/>
          </a:ln>
        </p:spPr>
        <p:txBody>
          <a:bodyPr lIns="0" tIns="0" rIns="0" bIns="0" anchor="ctr">
            <a:spAutoFit/>
          </a:bodyPr>
          <a:lstStyle/>
          <a:p>
            <a:pPr indent="0" algn="ctr" defTabSz="914400">
              <a:lnSpc>
                <a:spcPct val="90000"/>
              </a:lnSpc>
              <a:buNone/>
              <a:tabLst>
                <a:tab pos="0" algn="l"/>
              </a:tabLst>
            </a:pPr>
            <a:r>
              <a:rPr lang="sr-Latn-RS" sz="6000" b="0" u="none" strike="noStrike">
                <a:solidFill>
                  <a:schemeClr val="dk1"/>
                </a:solidFill>
                <a:effectLst/>
                <a:uFillTx/>
                <a:latin typeface="Aptos Display"/>
              </a:rPr>
              <a:t>Хвала на пажњи!</a:t>
            </a:r>
            <a:endParaRPr lang="en-US" sz="6000" b="0" u="none" strike="noStrike">
              <a:solidFill>
                <a:schemeClr val="dk1"/>
              </a:solidFill>
              <a:effectLst/>
              <a:uFillTx/>
              <a:latin typeface="Aptos Display"/>
            </a:endParaRPr>
          </a:p>
        </p:txBody>
      </p:sp>
      <p:sp>
        <p:nvSpPr>
          <p:cNvPr id="111" name="PlaceHolder 2"/>
          <p:cNvSpPr>
            <a:spLocks noGrp="1"/>
          </p:cNvSpPr>
          <p:nvPr>
            <p:ph type="subTitle"/>
          </p:nvPr>
        </p:nvSpPr>
        <p:spPr>
          <a:xfrm>
            <a:off x="1523880" y="3156480"/>
            <a:ext cx="9143280" cy="2546640"/>
          </a:xfrm>
          <a:prstGeom prst="rect">
            <a:avLst/>
          </a:prstGeom>
          <a:noFill/>
          <a:ln w="0">
            <a:noFill/>
          </a:ln>
        </p:spPr>
        <p:txBody>
          <a:bodyPr lIns="0" tIns="0" rIns="0" bIns="0" anchor="ctr" anchorCtr="1">
            <a:spAutoFit/>
          </a:bodyPr>
          <a:lstStyle/>
          <a:p>
            <a:pPr marL="457200" indent="0" algn="ctr" defTabSz="914400">
              <a:lnSpc>
                <a:spcPct val="90000"/>
              </a:lnSpc>
              <a:spcBef>
                <a:spcPts val="499"/>
              </a:spcBef>
              <a:buNone/>
              <a:tabLst>
                <a:tab pos="0" algn="l"/>
              </a:tabLst>
            </a:pPr>
            <a:r>
              <a:rPr lang="en-US" sz="2800" b="0" u="none" strike="noStrike">
                <a:solidFill>
                  <a:schemeClr val="dk1"/>
                </a:solidFill>
                <a:effectLst/>
                <a:uFillTx/>
                <a:latin typeface="Aptos"/>
                <a:ea typeface="Microsoft YaHei"/>
              </a:rPr>
              <a:t>Припремили:</a:t>
            </a: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r>
              <a:rPr lang="en-US" sz="2800" b="0" u="none" strike="noStrike">
                <a:solidFill>
                  <a:schemeClr val="dk1"/>
                </a:solidFill>
                <a:effectLst/>
                <a:uFillTx/>
                <a:latin typeface="Aptos"/>
                <a:ea typeface="Microsoft YaHei"/>
              </a:rPr>
              <a:t>Павле Шаренац</a:t>
            </a:r>
            <a:r>
              <a:rPr lang="sr-Latn-RS" sz="2800" b="0" u="none" strike="noStrike">
                <a:solidFill>
                  <a:schemeClr val="dk1"/>
                </a:solidFill>
                <a:effectLst/>
                <a:uFillTx/>
                <a:latin typeface="Aptos"/>
                <a:ea typeface="Microsoft YaHei"/>
              </a:rPr>
              <a:t> 2025/3068</a:t>
            </a: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r>
              <a:rPr lang="sr-Latn-RS" sz="2800" b="0" u="none" strike="noStrike">
                <a:solidFill>
                  <a:schemeClr val="dk1"/>
                </a:solidFill>
                <a:effectLst/>
                <a:uFillTx/>
                <a:latin typeface="Aptos"/>
                <a:ea typeface="Microsoft YaHei"/>
                <a:hlinkClick r:id="rId2"/>
              </a:rPr>
              <a:t>sp253068m@student.etf.bg.ac.rs</a:t>
            </a: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r>
              <a:rPr lang="sr-Latn-RS" sz="2800" b="0" u="none" strike="noStrike">
                <a:solidFill>
                  <a:schemeClr val="dk1"/>
                </a:solidFill>
                <a:effectLst/>
                <a:uFillTx/>
                <a:latin typeface="Aptos"/>
                <a:ea typeface="Microsoft YaHei"/>
              </a:rPr>
              <a:t>Никола Николић 2025/3109</a:t>
            </a:r>
            <a:endParaRPr lang="sr-Latn-RS" sz="2800" b="0" u="none" strike="noStrike">
              <a:solidFill>
                <a:srgbClr val="000000"/>
              </a:solidFill>
              <a:effectLst/>
              <a:uFillTx/>
              <a:latin typeface="Arial"/>
            </a:endParaRPr>
          </a:p>
          <a:p>
            <a:pPr marL="457200" indent="0" algn="ctr" defTabSz="914400">
              <a:lnSpc>
                <a:spcPct val="90000"/>
              </a:lnSpc>
              <a:spcBef>
                <a:spcPts val="499"/>
              </a:spcBef>
              <a:buNone/>
              <a:tabLst>
                <a:tab pos="0" algn="l"/>
              </a:tabLst>
            </a:pPr>
            <a:r>
              <a:rPr lang="sr-Latn-RS" sz="2800" b="0" u="none" strike="noStrike">
                <a:solidFill>
                  <a:schemeClr val="dk1"/>
                </a:solidFill>
                <a:effectLst/>
                <a:uFillTx/>
                <a:latin typeface="Aptos"/>
                <a:ea typeface="Microsoft YaHei"/>
                <a:hlinkClick r:id="rId3"/>
              </a:rPr>
              <a:t>nn253109m@student.etf.bg.ac.rs</a:t>
            </a:r>
            <a:endParaRPr lang="sr-Latn-RS" sz="2800" b="0" u="none" strike="noStrike">
              <a:solidFill>
                <a:srgbClr val="000000"/>
              </a:solidFill>
              <a:effectLst/>
              <a:uFillTx/>
              <a:latin typeface="Arial"/>
            </a:endParaRPr>
          </a:p>
        </p:txBody>
      </p:sp>
      <p:sp>
        <p:nvSpPr>
          <p:cNvPr id="112" name="Rectangle 111"/>
          <p:cNvSpPr/>
          <p:nvPr/>
        </p:nvSpPr>
        <p:spPr>
          <a:xfrm>
            <a:off x="10152000" y="6053040"/>
            <a:ext cx="88227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fld id="{6550E89D-A6E0-4760-80C5-ABD54FACAA27}" type="slidenum">
              <a:rPr lang="sr-Latn-RS" sz="2400" b="0" u="none" strike="noStrike">
                <a:solidFill>
                  <a:srgbClr val="000000"/>
                </a:solidFill>
                <a:effectLst/>
                <a:uFillTx/>
                <a:latin typeface="Times New Roman"/>
              </a:rPr>
              <a:t>9</a:t>
            </a:fld>
            <a:r>
              <a:rPr lang="sr-Latn-RS" sz="2400">
                <a:solidFill>
                  <a:srgbClr val="000000"/>
                </a:solidFill>
                <a:latin typeface="Times New Roman"/>
              </a:rPr>
              <a:t>/12</a:t>
            </a:r>
            <a:endParaRPr lang="sr-Latn-RS" sz="2400" b="0" u="none" strike="noStrike">
              <a:solidFill>
                <a:srgbClr val="000000"/>
              </a:solidFill>
              <a:effectLst/>
              <a:uFillTx/>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249</TotalTime>
  <Words>398</Words>
  <Application>Microsoft Office PowerPoint</Application>
  <PresentationFormat>Widescreen</PresentationFormat>
  <Paragraphs>79</Paragraphs>
  <Slides>9</Slides>
  <Notes>6</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Множење матрица на квантним рачунарима</vt:lpstr>
      <vt:lpstr>Квантни рачунар</vt:lpstr>
      <vt:lpstr>Квантно рачунарство</vt:lpstr>
      <vt:lpstr>Квантни битови и простор стања</vt:lpstr>
      <vt:lpstr>Квантна динамика и манипулација подацима</vt:lpstr>
      <vt:lpstr>Како се MatMul мапира на квантни модел</vt:lpstr>
      <vt:lpstr>Ограничења и реална слика</vt:lpstr>
      <vt:lpstr>"Quantum computing is not only faster than conventional computing, but it enables the simulation of nature. Today we have an urgent need to solve problems that would tie up classical computers for centuries, but that could be solved by a quantum computer in a few minutes or hours."  Satya Nadella, Microsoft CEO</vt:lpstr>
      <vt:lpstr>Хвала на пажњи!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Никола Николић</dc:creator>
  <dc:description/>
  <cp:lastModifiedBy/>
  <cp:revision>888</cp:revision>
  <dcterms:created xsi:type="dcterms:W3CDTF">2026-05-06T19:08:00Z</dcterms:created>
  <dcterms:modified xsi:type="dcterms:W3CDTF">2026-06-19T13:36:40Z</dcterms:modified>
  <dc:language>sr-Latn-RS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vt:i4>
  </property>
</Properties>
</file>